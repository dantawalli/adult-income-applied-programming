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74" r:id="rId6"/>
    <p:sldId id="260" r:id="rId7"/>
    <p:sldId id="275" r:id="rId8"/>
    <p:sldId id="283" r:id="rId9"/>
    <p:sldId id="309" r:id="rId10"/>
    <p:sldId id="310" r:id="rId11"/>
    <p:sldId id="311" r:id="rId12"/>
    <p:sldId id="312" r:id="rId13"/>
    <p:sldId id="313" r:id="rId14"/>
    <p:sldId id="314" r:id="rId15"/>
    <p:sldId id="284" r:id="rId16"/>
    <p:sldId id="277" r:id="rId17"/>
    <p:sldId id="282" r:id="rId18"/>
    <p:sldId id="278" r:id="rId19"/>
    <p:sldId id="279" r:id="rId20"/>
    <p:sldId id="280" r:id="rId21"/>
    <p:sldId id="262" r:id="rId22"/>
    <p:sldId id="315" r:id="rId23"/>
    <p:sldId id="316" r:id="rId24"/>
    <p:sldId id="288" r:id="rId25"/>
    <p:sldId id="317" r:id="rId26"/>
    <p:sldId id="289" r:id="rId27"/>
    <p:sldId id="318" r:id="rId28"/>
    <p:sldId id="290" r:id="rId29"/>
    <p:sldId id="319" r:id="rId30"/>
    <p:sldId id="291" r:id="rId31"/>
    <p:sldId id="268" r:id="rId32"/>
    <p:sldId id="320" r:id="rId33"/>
    <p:sldId id="321" r:id="rId34"/>
    <p:sldId id="296" r:id="rId35"/>
    <p:sldId id="299" r:id="rId36"/>
    <p:sldId id="271" r:id="rId37"/>
    <p:sldId id="300" r:id="rId38"/>
    <p:sldId id="302" r:id="rId39"/>
    <p:sldId id="303" r:id="rId40"/>
    <p:sldId id="308" r:id="rId41"/>
    <p:sldId id="304" r:id="rId42"/>
    <p:sldId id="305" r:id="rId43"/>
    <p:sldId id="306" r:id="rId44"/>
    <p:sldId id="273" r:id="rId4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78"/>
    <p:restoredTop sz="64286"/>
  </p:normalViewPr>
  <p:slideViewPr>
    <p:cSldViewPr snapToGrid="0" snapToObjects="1">
      <p:cViewPr>
        <p:scale>
          <a:sx n="88" d="100"/>
          <a:sy n="88" d="100"/>
        </p:scale>
        <p:origin x="198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5669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G" dirty="0"/>
              <a:t>Good morning. </a:t>
            </a:r>
          </a:p>
          <a:p>
            <a:r>
              <a:rPr lang="en-NG" dirty="0"/>
              <a:t>Today I will present my Applied Programming project, which focuses on income classification using machine learning.</a:t>
            </a:r>
          </a:p>
          <a:p>
            <a:r>
              <a:rPr lang="en-NG" dirty="0"/>
              <a:t>The goal of this project was not only to build an accurate machine learning model, but also to apply the programming concepts covered throughout the Applied Programming course. These include modular software design, object-oriented programming, data preprocessing, machine learning pipelines, exception handling, documentation, and reproducibility.</a:t>
            </a:r>
          </a:p>
          <a:p>
            <a:r>
              <a:rPr lang="en-NG" dirty="0"/>
              <a:t>During this presentation, I will walk through the complete development process, from data loading and feature engineering to model training, evaluation, interpretability, and responsible AI considerations.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G" dirty="0"/>
              <a:t>This presentation is organized into the following main sections.</a:t>
            </a:r>
          </a:p>
          <a:p>
            <a:r>
              <a:rPr lang="en-NG" dirty="0"/>
              <a:t>First, I will introduce the project and the dataset. </a:t>
            </a:r>
          </a:p>
          <a:p>
            <a:r>
              <a:rPr lang="en-NG" dirty="0"/>
              <a:t>Then I will discuss the software architecture and the Python programming concepts used throughout the implementation.</a:t>
            </a:r>
          </a:p>
          <a:p>
            <a:r>
              <a:rPr lang="en-NG" dirty="0"/>
              <a:t>Next, I will explain the data preprocessing and feature engineering process. </a:t>
            </a:r>
          </a:p>
          <a:p>
            <a:r>
              <a:rPr lang="en-NG" dirty="0"/>
              <a:t>After that, I will present the machine learning pipeline, model training, and hyperparameter tuning.</a:t>
            </a:r>
          </a:p>
          <a:p>
            <a:r>
              <a:rPr lang="en-NG" dirty="0"/>
              <a:t>Finally, I will discuss the results, reproducibility aspects, challenges encountered during development, lessons learned, and the overall conclusions of the project.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G" dirty="0"/>
              <a:t>I will begin with an overview of the project and the dataset that was used for the  classification task.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G" dirty="0"/>
              <a:t>This project focuses on the Adult Income Classification problem. The objective is to predict whether a person earns more than fifty thousand dollars per year based on demographic and socioeconomic information such as age, education, occupation, work class, and working hours. </a:t>
            </a:r>
          </a:p>
          <a:p>
            <a:r>
              <a:rPr lang="en-NG" dirty="0"/>
              <a:t>From a machine learning perspective, this is a binary classification problem. However, for this course, my focus was not only on predictive performance but also on building a complete Python application following software engineering principles.</a:t>
            </a:r>
          </a:p>
          <a:p>
            <a:r>
              <a:rPr lang="en-NG" dirty="0"/>
              <a:t>The project was implemented entirely in Python and includes data loading, preprocessing, feature engineering, model training, evaluation, interpretability analysis, and fairness assessment. Throughout the presentation I will focus on how these components were implemented using clean, modular, and reusable code.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640F5-8D43-CE81-940A-DADB2A8BF2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A2213-ACC3-8F4D-4264-A611052F4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857F05-114A-B21B-B4A1-2B307EA76529}"/>
              </a:ext>
            </a:extLst>
          </p:cNvPr>
          <p:cNvSpPr>
            <a:spLocks noGrp="1"/>
          </p:cNvSpPr>
          <p:nvPr>
            <p:ph type="body" idx="1"/>
          </p:nvPr>
        </p:nvSpPr>
        <p:spPr/>
        <p:txBody>
          <a:bodyPr/>
          <a:lstStyle/>
          <a:p>
            <a:r>
              <a:rPr lang="en-NG" dirty="0"/>
              <a:t>The dataset used in this project is the Adult Census Income Dataset. It contains demographic and socioeconomic information collected from the U.S. Census database. </a:t>
            </a:r>
          </a:p>
          <a:p>
            <a:r>
              <a:rPr lang="en-NG" dirty="0"/>
              <a:t>The dataset contains approximately forty-nine thousand observations and nineteen features, including both numerical and categorical variables. Examples include age, education, occupation, marital status, capital gain, capital loss, and hours worked per week.</a:t>
            </a:r>
          </a:p>
          <a:p>
            <a:r>
              <a:rPr lang="en-NG" dirty="0"/>
              <a:t>Before building any machine learning models, it was important to understand the structure of the dataset and identify potential data quality issues that would need to be addressed during preprocessing.</a:t>
            </a:r>
          </a:p>
        </p:txBody>
      </p:sp>
      <p:sp>
        <p:nvSpPr>
          <p:cNvPr id="4" name="Slide Number Placeholder 3">
            <a:extLst>
              <a:ext uri="{FF2B5EF4-FFF2-40B4-BE49-F238E27FC236}">
                <a16:creationId xmlns:a16="http://schemas.microsoft.com/office/drawing/2014/main" id="{F57C71BD-19E3-B21F-7F98-8D03E05718D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073346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G" dirty="0"/>
              <a:t>After introducing the project and the dataset, the next step was designing the software architecture.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B563D-BB07-9188-F5AF-F75F8D97A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C648D-A7B2-8940-0A7B-69C71710F5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E535FE-409D-09C0-2641-C01BE5916480}"/>
              </a:ext>
            </a:extLst>
          </p:cNvPr>
          <p:cNvSpPr>
            <a:spLocks noGrp="1"/>
          </p:cNvSpPr>
          <p:nvPr>
            <p:ph type="body" idx="1"/>
          </p:nvPr>
        </p:nvSpPr>
        <p:spPr/>
        <p:txBody>
          <a:bodyPr/>
          <a:lstStyle/>
          <a:p>
            <a:r>
              <a:rPr lang="en-NG" dirty="0"/>
              <a:t>One of the main objectives of this project was to create a maintainable and reusable software structure. Instead of implementing everything inside a single notebook, I organized the project into separate modules, each with a specific responsibility. </a:t>
            </a:r>
          </a:p>
          <a:p>
            <a:endParaRPr lang="en-NG" dirty="0"/>
          </a:p>
          <a:p>
            <a:r>
              <a:rPr lang="en-NG" dirty="0"/>
              <a:t>For example, data loading, preprocessing, modelling, evaluation, and prediction logic were separated into different files. This follows the principle of separation of concerns and makes the project easier to maintain, debug, and extend.</a:t>
            </a:r>
          </a:p>
          <a:p>
            <a:r>
              <a:rPr lang="en-NG" dirty="0"/>
              <a:t>If a new model or preprocessing step needs to be added in the future, it can be implemented without affecting the rest of the system.</a:t>
            </a:r>
          </a:p>
        </p:txBody>
      </p:sp>
      <p:sp>
        <p:nvSpPr>
          <p:cNvPr id="4" name="Slide Number Placeholder 3">
            <a:extLst>
              <a:ext uri="{FF2B5EF4-FFF2-40B4-BE49-F238E27FC236}">
                <a16:creationId xmlns:a16="http://schemas.microsoft.com/office/drawing/2014/main" id="{EB4444AA-25D4-5321-BE7A-725AE2B7A3C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7242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5C056-5537-679B-6B45-688CF2F5A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2F62F-0B67-F37F-1399-96421ED69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6BBB9-9C0E-CC5B-BC4A-5576A7AC0614}"/>
              </a:ext>
            </a:extLst>
          </p:cNvPr>
          <p:cNvSpPr>
            <a:spLocks noGrp="1"/>
          </p:cNvSpPr>
          <p:nvPr>
            <p:ph type="body" idx="1"/>
          </p:nvPr>
        </p:nvSpPr>
        <p:spPr/>
        <p:txBody>
          <a:bodyPr/>
          <a:lstStyle/>
          <a:p>
            <a:r>
              <a:rPr lang="en-NG" dirty="0"/>
              <a:t>The Applied Programming course focused heavily on writing clean and maintainable Python code. Several concepts covered during the semester were applied throughout this project, including:</a:t>
            </a:r>
          </a:p>
          <a:p>
            <a:pPr marL="228600" indent="-228600">
              <a:buAutoNum type="arabicPeriod"/>
            </a:pPr>
            <a:r>
              <a:rPr lang="en-GB" dirty="0"/>
              <a:t>F</a:t>
            </a:r>
            <a:r>
              <a:rPr lang="en-NG" dirty="0"/>
              <a:t>unctions</a:t>
            </a:r>
          </a:p>
          <a:p>
            <a:pPr marL="228600" indent="-228600">
              <a:buAutoNum type="arabicPeriod"/>
            </a:pPr>
            <a:r>
              <a:rPr lang="en-NG" dirty="0"/>
              <a:t>type hints </a:t>
            </a:r>
          </a:p>
          <a:p>
            <a:pPr marL="228600" indent="-228600">
              <a:buAutoNum type="arabicPeriod"/>
            </a:pPr>
            <a:r>
              <a:rPr lang="en-NG" dirty="0"/>
              <a:t>dataclasses </a:t>
            </a:r>
          </a:p>
          <a:p>
            <a:pPr marL="228600" indent="-228600">
              <a:buAutoNum type="arabicPeriod"/>
            </a:pPr>
            <a:r>
              <a:rPr lang="en-NG" dirty="0"/>
              <a:t>documentation </a:t>
            </a:r>
          </a:p>
          <a:p>
            <a:pPr marL="228600" indent="-228600">
              <a:buAutoNum type="arabicPeriod"/>
            </a:pPr>
            <a:r>
              <a:rPr lang="en-NG" dirty="0"/>
              <a:t>pipelines </a:t>
            </a:r>
          </a:p>
          <a:p>
            <a:pPr marL="228600" indent="-228600">
              <a:buAutoNum type="arabicPeriod"/>
            </a:pPr>
            <a:r>
              <a:rPr lang="en-NG" dirty="0"/>
              <a:t>and exception handling. </a:t>
            </a:r>
          </a:p>
          <a:p>
            <a:r>
              <a:rPr lang="en-NG" dirty="0"/>
              <a:t>In the next few slides, I will explain how each of these concepts contributed to the overall implementation.</a:t>
            </a:r>
          </a:p>
        </p:txBody>
      </p:sp>
      <p:sp>
        <p:nvSpPr>
          <p:cNvPr id="4" name="Slide Number Placeholder 3">
            <a:extLst>
              <a:ext uri="{FF2B5EF4-FFF2-40B4-BE49-F238E27FC236}">
                <a16:creationId xmlns:a16="http://schemas.microsoft.com/office/drawing/2014/main" id="{61A3E85A-DED4-C41B-D50A-F05DB3D9419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16311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49BCB-ABCC-547F-632E-02320B2AA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68E7D-4A69-BBF9-C737-1E0940457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AC1A3A-52A6-B269-6512-CA963D6BE909}"/>
              </a:ext>
            </a:extLst>
          </p:cNvPr>
          <p:cNvSpPr>
            <a:spLocks noGrp="1"/>
          </p:cNvSpPr>
          <p:nvPr>
            <p:ph type="body" idx="1"/>
          </p:nvPr>
        </p:nvSpPr>
        <p:spPr/>
        <p:txBody>
          <a:bodyPr/>
          <a:lstStyle/>
          <a:p>
            <a:r>
              <a:rPr lang="en-NG" dirty="0"/>
              <a:t>Functions were used extensively throughout the project to improve modularity and reduce code duplication. Examples include loading the dataset, cleaning the data, engineering features, training models, and evaluating performance. </a:t>
            </a:r>
          </a:p>
          <a:p>
            <a:endParaRPr lang="en-NG" dirty="0"/>
          </a:p>
          <a:p>
            <a:r>
              <a:rPr lang="en-NG" dirty="0"/>
              <a:t>Each function was designed to perform a single task, which improves readability and maintainability. This approach also makes testing easier because each function can be verified independently.</a:t>
            </a:r>
          </a:p>
          <a:p>
            <a:endParaRPr lang="en-NG" dirty="0"/>
          </a:p>
          <a:p>
            <a:r>
              <a:rPr lang="en-NG" dirty="0"/>
              <a:t>By organizing logic into reusable functions, the project follows the DRY principle(Don’t Repeat Yourself), meaning we avoid repeating the same code multiple times.</a:t>
            </a:r>
          </a:p>
        </p:txBody>
      </p:sp>
      <p:sp>
        <p:nvSpPr>
          <p:cNvPr id="4" name="Slide Number Placeholder 3">
            <a:extLst>
              <a:ext uri="{FF2B5EF4-FFF2-40B4-BE49-F238E27FC236}">
                <a16:creationId xmlns:a16="http://schemas.microsoft.com/office/drawing/2014/main" id="{30E60311-B53C-E295-E4BA-C5558F14FDA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6265504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59A30-828B-CBEF-017B-66C5F48B0C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EF49B-AFB5-B694-CD08-21E5FC335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2D6DDB-E56A-CD42-5829-5E4A78575F5C}"/>
              </a:ext>
            </a:extLst>
          </p:cNvPr>
          <p:cNvSpPr>
            <a:spLocks noGrp="1"/>
          </p:cNvSpPr>
          <p:nvPr>
            <p:ph type="body" idx="1"/>
          </p:nvPr>
        </p:nvSpPr>
        <p:spPr/>
        <p:txBody>
          <a:bodyPr/>
          <a:lstStyle/>
          <a:p>
            <a:r>
              <a:rPr lang="en-NG" dirty="0"/>
              <a:t>Type hints were added to functions throughout the project. </a:t>
            </a:r>
          </a:p>
          <a:p>
            <a:endParaRPr lang="en-NG" dirty="0"/>
          </a:p>
          <a:p>
            <a:r>
              <a:rPr lang="en-NG" dirty="0"/>
              <a:t>They describe the expected input and output types for each function.</a:t>
            </a:r>
          </a:p>
          <a:p>
            <a:endParaRPr lang="en-NG" dirty="0"/>
          </a:p>
          <a:p>
            <a:r>
              <a:rPr lang="en-NG" dirty="0"/>
              <a:t>Although Python is dynamically typed, type annotations improve code readability and make development easier because IDEs such as PyCharm can provide better autocompletion and error detection.</a:t>
            </a:r>
          </a:p>
          <a:p>
            <a:endParaRPr lang="en-NG" dirty="0"/>
          </a:p>
          <a:p>
            <a:r>
              <a:rPr lang="en-NG" dirty="0"/>
              <a:t>Type hints also serve as a form of documentation because other developers can quickly understand how a function should be used.</a:t>
            </a:r>
          </a:p>
        </p:txBody>
      </p:sp>
      <p:sp>
        <p:nvSpPr>
          <p:cNvPr id="4" name="Slide Number Placeholder 3">
            <a:extLst>
              <a:ext uri="{FF2B5EF4-FFF2-40B4-BE49-F238E27FC236}">
                <a16:creationId xmlns:a16="http://schemas.microsoft.com/office/drawing/2014/main" id="{2B37031D-F21F-5B93-B9C6-560804890D5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56111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6DFCD-6BA6-69C5-89FE-51A332FBCF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7B12A3-D03A-02F4-7725-5C10A0426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270636-5984-2AE9-ABEC-9EA42DF445AC}"/>
              </a:ext>
            </a:extLst>
          </p:cNvPr>
          <p:cNvSpPr>
            <a:spLocks noGrp="1"/>
          </p:cNvSpPr>
          <p:nvPr>
            <p:ph type="body" idx="1"/>
          </p:nvPr>
        </p:nvSpPr>
        <p:spPr/>
        <p:txBody>
          <a:bodyPr/>
          <a:lstStyle/>
          <a:p>
            <a:r>
              <a:rPr lang="en-NG" dirty="0"/>
              <a:t>Object-oriented programming concepts were applied through the use of dataclasses. </a:t>
            </a:r>
          </a:p>
          <a:p>
            <a:endParaRPr lang="en-NG" dirty="0"/>
          </a:p>
          <a:p>
            <a:r>
              <a:rPr lang="en-NG" dirty="0"/>
              <a:t>A dataclass called ModelResult was created to store evaluation metrics for each model. </a:t>
            </a:r>
          </a:p>
          <a:p>
            <a:endParaRPr lang="en-NG" dirty="0"/>
          </a:p>
          <a:p>
            <a:r>
              <a:rPr lang="en-NG" dirty="0"/>
              <a:t>Instead of storing results in multiple variables or dictionaries, all metrics are grouped into a single object. This improves organization and makes the code easier to maintain.</a:t>
            </a:r>
          </a:p>
          <a:p>
            <a:endParaRPr lang="en-NG" dirty="0"/>
          </a:p>
          <a:p>
            <a:r>
              <a:rPr lang="en-NG" dirty="0"/>
              <a:t>Dataclasses were particularly useful because they automatically generate constructors and reduce boilerplate code while still supporting object-oriented design principles. </a:t>
            </a:r>
          </a:p>
        </p:txBody>
      </p:sp>
      <p:sp>
        <p:nvSpPr>
          <p:cNvPr id="4" name="Slide Number Placeholder 3">
            <a:extLst>
              <a:ext uri="{FF2B5EF4-FFF2-40B4-BE49-F238E27FC236}">
                <a16:creationId xmlns:a16="http://schemas.microsoft.com/office/drawing/2014/main" id="{51FC37A9-8C64-51B7-336D-998C582C9DD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977866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A292C-6A53-77A9-BBE2-2CD283CC9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93FDD-987B-8034-2C3E-0A0C487F20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73265F-63DC-3E00-0C6D-D45035864581}"/>
              </a:ext>
            </a:extLst>
          </p:cNvPr>
          <p:cNvSpPr>
            <a:spLocks noGrp="1"/>
          </p:cNvSpPr>
          <p:nvPr>
            <p:ph type="body" idx="1"/>
          </p:nvPr>
        </p:nvSpPr>
        <p:spPr/>
        <p:txBody>
          <a:bodyPr/>
          <a:lstStyle/>
          <a:p>
            <a:r>
              <a:rPr lang="en-NG" dirty="0"/>
              <a:t>Documentation is essential for reproducibility and collaboration. </a:t>
            </a:r>
          </a:p>
          <a:p>
            <a:r>
              <a:rPr lang="en-NG" dirty="0"/>
              <a:t>Every major function in the project contains descriptive docstrings explaining its purpose, inputs, outputs, and expected behavior. </a:t>
            </a:r>
          </a:p>
          <a:p>
            <a:endParaRPr lang="en-NG" dirty="0"/>
          </a:p>
          <a:p>
            <a:r>
              <a:rPr lang="en-NG" dirty="0"/>
              <a:t>Proper documentation allows another developer to understand the code without reading the entire implementation.</a:t>
            </a:r>
          </a:p>
          <a:p>
            <a:endParaRPr lang="en-NG" dirty="0"/>
          </a:p>
          <a:p>
            <a:r>
              <a:rPr lang="en-NG" dirty="0"/>
              <a:t>This is especially important in data science projects where workflows can become complex and difficult to follow.</a:t>
            </a:r>
          </a:p>
        </p:txBody>
      </p:sp>
      <p:sp>
        <p:nvSpPr>
          <p:cNvPr id="4" name="Slide Number Placeholder 3">
            <a:extLst>
              <a:ext uri="{FF2B5EF4-FFF2-40B4-BE49-F238E27FC236}">
                <a16:creationId xmlns:a16="http://schemas.microsoft.com/office/drawing/2014/main" id="{3C0D006A-F235-337D-3143-A57B4CD393F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2623299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38BDF-07EA-D1D1-2B5C-F496E3396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305A9B-5914-FEF6-2123-BE8EA1352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129A9-640A-5D62-90FA-ACC73829985B}"/>
              </a:ext>
            </a:extLst>
          </p:cNvPr>
          <p:cNvSpPr>
            <a:spLocks noGrp="1"/>
          </p:cNvSpPr>
          <p:nvPr>
            <p:ph type="body" idx="1"/>
          </p:nvPr>
        </p:nvSpPr>
        <p:spPr/>
        <p:txBody>
          <a:bodyPr/>
          <a:lstStyle/>
          <a:p>
            <a:r>
              <a:rPr lang="en-NG" dirty="0"/>
              <a:t>Machine learning pipelines were used to combine preprocessing and model training into a single reusable workflow. </a:t>
            </a:r>
          </a:p>
          <a:p>
            <a:endParaRPr lang="en-NG" dirty="0"/>
          </a:p>
          <a:p>
            <a:r>
              <a:rPr lang="en-NG" dirty="0"/>
              <a:t>The pipeline automatically applies preprocessing steps before training the classifier. This ensures consistency between training and testing data.</a:t>
            </a:r>
          </a:p>
          <a:p>
            <a:endParaRPr lang="en-NG" dirty="0"/>
          </a:p>
          <a:p>
            <a:r>
              <a:rPr lang="en-NG" dirty="0"/>
              <a:t>Pipelines also help prevent data leakage because preprocessing parameters are learned only from the training data and then applied to the test data.</a:t>
            </a:r>
          </a:p>
          <a:p>
            <a:endParaRPr lang="en-NG" dirty="0"/>
          </a:p>
          <a:p>
            <a:r>
              <a:rPr lang="en-NG" dirty="0"/>
              <a:t>This improves reproducibility and ensures that evaluation results are realistic.</a:t>
            </a:r>
          </a:p>
        </p:txBody>
      </p:sp>
      <p:sp>
        <p:nvSpPr>
          <p:cNvPr id="4" name="Slide Number Placeholder 3">
            <a:extLst>
              <a:ext uri="{FF2B5EF4-FFF2-40B4-BE49-F238E27FC236}">
                <a16:creationId xmlns:a16="http://schemas.microsoft.com/office/drawing/2014/main" id="{80F1182A-98B1-C2AF-5EB4-753376851C8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211950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6D412-C945-51A3-72F9-93B147DC00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FF3FA0-E77A-722B-D50F-6014902AD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1FC498-AACD-E96A-ACCF-00F26277B04A}"/>
              </a:ext>
            </a:extLst>
          </p:cNvPr>
          <p:cNvSpPr>
            <a:spLocks noGrp="1"/>
          </p:cNvSpPr>
          <p:nvPr>
            <p:ph type="body" idx="1"/>
          </p:nvPr>
        </p:nvSpPr>
        <p:spPr/>
        <p:txBody>
          <a:bodyPr/>
          <a:lstStyle/>
          <a:p>
            <a:r>
              <a:rPr lang="en-NG" dirty="0"/>
              <a:t>Robust software should handle unexpected situations gracefully. </a:t>
            </a:r>
          </a:p>
          <a:p>
            <a:endParaRPr lang="en-NG" dirty="0"/>
          </a:p>
          <a:p>
            <a:r>
              <a:rPr lang="en-NG" dirty="0"/>
              <a:t>Exception handling was implemented to detect problems such as missing datasets or invalid data. </a:t>
            </a:r>
          </a:p>
          <a:p>
            <a:endParaRPr lang="en-NG" dirty="0"/>
          </a:p>
          <a:p>
            <a:r>
              <a:rPr lang="en-NG" dirty="0"/>
              <a:t>Instead of allowing the application to fail silently, meaningful error messages are provided to help identify the cause of the problem.</a:t>
            </a:r>
          </a:p>
          <a:p>
            <a:endParaRPr lang="en-NG" dirty="0"/>
          </a:p>
          <a:p>
            <a:r>
              <a:rPr lang="en-NG" dirty="0"/>
              <a:t>This improves reliability and makes debugging much easier.</a:t>
            </a:r>
          </a:p>
        </p:txBody>
      </p:sp>
      <p:sp>
        <p:nvSpPr>
          <p:cNvPr id="4" name="Slide Number Placeholder 3">
            <a:extLst>
              <a:ext uri="{FF2B5EF4-FFF2-40B4-BE49-F238E27FC236}">
                <a16:creationId xmlns:a16="http://schemas.microsoft.com/office/drawing/2014/main" id="{CE230FD3-046C-9D18-56F8-DE07103A660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486331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ED7DE-1D1D-8CB4-2D6A-E6DEB69D6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692377-914D-872C-C128-B5F7389286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2EEDA-9C42-0665-4CE1-76895E744731}"/>
              </a:ext>
            </a:extLst>
          </p:cNvPr>
          <p:cNvSpPr>
            <a:spLocks noGrp="1"/>
          </p:cNvSpPr>
          <p:nvPr>
            <p:ph type="body" idx="1"/>
          </p:nvPr>
        </p:nvSpPr>
        <p:spPr/>
        <p:txBody>
          <a:bodyPr/>
          <a:lstStyle/>
          <a:p>
            <a:r>
              <a:rPr lang="en-NG" dirty="0"/>
              <a:t>Before any analysis can begin, </a:t>
            </a:r>
          </a:p>
          <a:p>
            <a:r>
              <a:rPr lang="en-NG" dirty="0"/>
              <a:t>the dataset must be loaded and validated. </a:t>
            </a:r>
          </a:p>
          <a:p>
            <a:endParaRPr lang="en-NG" dirty="0"/>
          </a:p>
          <a:p>
            <a:r>
              <a:rPr lang="en-NG" dirty="0"/>
              <a:t>The loading function checks whether the file exists and verifies that the dataset is not empty before continuing. </a:t>
            </a:r>
          </a:p>
          <a:p>
            <a:endParaRPr lang="en-NG" dirty="0"/>
          </a:p>
          <a:p>
            <a:r>
              <a:rPr lang="en-NG" dirty="0"/>
              <a:t>This validation step ensures that the rest of the pipeline operates on valid input data and prevents errors later in the workflow.</a:t>
            </a:r>
          </a:p>
          <a:p>
            <a:endParaRPr lang="en-NG" dirty="0"/>
          </a:p>
          <a:p>
            <a:r>
              <a:rPr lang="en-NG" dirty="0"/>
              <a:t>It also contributes to reproducibility because the same loading procedure is applied every time the project is executed.</a:t>
            </a:r>
          </a:p>
        </p:txBody>
      </p:sp>
      <p:sp>
        <p:nvSpPr>
          <p:cNvPr id="4" name="Slide Number Placeholder 3">
            <a:extLst>
              <a:ext uri="{FF2B5EF4-FFF2-40B4-BE49-F238E27FC236}">
                <a16:creationId xmlns:a16="http://schemas.microsoft.com/office/drawing/2014/main" id="{3D6D5D84-7110-473B-4266-03FB113F9F7D}"/>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28081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FE413-2093-560C-F84F-C3011AB55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3A8E4A-F270-F671-34DA-8ACF137B09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5CAB27-8A99-F0E5-4E18-13DE586AD7C7}"/>
              </a:ext>
            </a:extLst>
          </p:cNvPr>
          <p:cNvSpPr>
            <a:spLocks noGrp="1"/>
          </p:cNvSpPr>
          <p:nvPr>
            <p:ph type="body" idx="1"/>
          </p:nvPr>
        </p:nvSpPr>
        <p:spPr/>
        <p:txBody>
          <a:bodyPr/>
          <a:lstStyle/>
          <a:p>
            <a:r>
              <a:rPr lang="en-NG" dirty="0"/>
              <a:t>Before preprocessing the dataset, </a:t>
            </a:r>
          </a:p>
          <a:p>
            <a:r>
              <a:rPr lang="en-NG" dirty="0"/>
              <a:t>I performed exploratory data analysis to better understand the numerical variables.</a:t>
            </a:r>
          </a:p>
          <a:p>
            <a:endParaRPr lang="en-NG" dirty="0"/>
          </a:p>
          <a:p>
            <a:r>
              <a:rPr lang="en-NG" dirty="0"/>
              <a:t>I selected the numerical features and covert them to list and use Matplotlib to plot the historygrams which allow me to understand the data distribution and what to do in the next step of data preprocessing</a:t>
            </a:r>
          </a:p>
        </p:txBody>
      </p:sp>
      <p:sp>
        <p:nvSpPr>
          <p:cNvPr id="4" name="Slide Number Placeholder 3">
            <a:extLst>
              <a:ext uri="{FF2B5EF4-FFF2-40B4-BE49-F238E27FC236}">
                <a16:creationId xmlns:a16="http://schemas.microsoft.com/office/drawing/2014/main" id="{D970A51D-7C91-FFF5-AB42-AF48B301EBEC}"/>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298818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215F7-1F54-7C91-FF97-C32D56763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0A442-17EE-B442-0A91-8B249DB885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7186D-7EBB-4F4A-E81E-4623FD6D85B4}"/>
              </a:ext>
            </a:extLst>
          </p:cNvPr>
          <p:cNvSpPr>
            <a:spLocks noGrp="1"/>
          </p:cNvSpPr>
          <p:nvPr>
            <p:ph type="body" idx="1"/>
          </p:nvPr>
        </p:nvSpPr>
        <p:spPr/>
        <p:txBody>
          <a:bodyPr/>
          <a:lstStyle/>
          <a:p>
            <a:r>
              <a:rPr lang="en-NG" dirty="0"/>
              <a:t>Next, I analyzed potential outliers using boxplots.</a:t>
            </a:r>
          </a:p>
          <a:p>
            <a:r>
              <a:rPr lang="en-NG" dirty="0"/>
              <a:t>Several numerical features contained extreme values, particularly capital gain and capital loss.</a:t>
            </a:r>
          </a:p>
          <a:p>
            <a:r>
              <a:rPr lang="en-NG" dirty="0"/>
              <a:t>Rather than removing these observations, I investigated whether they represented legitimate values. Since they correspond to actual financial information, they were retained.</a:t>
            </a:r>
          </a:p>
          <a:p>
            <a:r>
              <a:rPr lang="en-NG" dirty="0"/>
              <a:t>However, their strong skewness motivated the use of log transformations later in the preprocessing stage.</a:t>
            </a:r>
          </a:p>
          <a:p>
            <a:r>
              <a:rPr lang="en-NG" dirty="0"/>
              <a:t>This demonstrates how exploratory analysis directly informed subsequent feature engineering decisions.</a:t>
            </a:r>
          </a:p>
        </p:txBody>
      </p:sp>
      <p:sp>
        <p:nvSpPr>
          <p:cNvPr id="4" name="Slide Number Placeholder 3">
            <a:extLst>
              <a:ext uri="{FF2B5EF4-FFF2-40B4-BE49-F238E27FC236}">
                <a16:creationId xmlns:a16="http://schemas.microsoft.com/office/drawing/2014/main" id="{45EF8D71-CAA8-7902-6161-2FBD21ABC52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502342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35D1F-8954-F59B-9E45-979CA2E9E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F8910-6026-5CC6-B0D9-6D687C489C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9240C-B5F0-6C93-C8B9-155AF00262F2}"/>
              </a:ext>
            </a:extLst>
          </p:cNvPr>
          <p:cNvSpPr>
            <a:spLocks noGrp="1"/>
          </p:cNvSpPr>
          <p:nvPr>
            <p:ph type="body" idx="1"/>
          </p:nvPr>
        </p:nvSpPr>
        <p:spPr/>
        <p:txBody>
          <a:bodyPr/>
          <a:lstStyle/>
          <a:p>
            <a:r>
              <a:rPr lang="en-NG" dirty="0"/>
              <a:t>I also examined the distribution of categorical variables such as occupation, education, marital status, gender, and race.</a:t>
            </a:r>
          </a:p>
          <a:p>
            <a:r>
              <a:rPr lang="en-NG" dirty="0"/>
              <a:t>The analysis showed that some categories contained many observations while others had relatively few.</a:t>
            </a:r>
          </a:p>
          <a:p>
            <a:r>
              <a:rPr lang="en-NG" dirty="0"/>
              <a:t>This imbalance suggested that certain categorical variables could benefit from grouping similar categories together.</a:t>
            </a:r>
          </a:p>
          <a:p>
            <a:r>
              <a:rPr lang="en-NG" dirty="0"/>
              <a:t>Understanding category distributions is important because high-cardinality categorical features can increase model complexity and lead to sparse feature representations after encoding.</a:t>
            </a:r>
          </a:p>
        </p:txBody>
      </p:sp>
      <p:sp>
        <p:nvSpPr>
          <p:cNvPr id="4" name="Slide Number Placeholder 3">
            <a:extLst>
              <a:ext uri="{FF2B5EF4-FFF2-40B4-BE49-F238E27FC236}">
                <a16:creationId xmlns:a16="http://schemas.microsoft.com/office/drawing/2014/main" id="{2AAF4246-53E2-CEC3-D35D-B4FFBA22D91B}"/>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9495592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E628-BB1A-AB60-7EDE-726EDAF06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7795C3-BB49-010F-F069-4EE83A7EB4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F8CC2D-20E5-2361-1552-CA1322B87821}"/>
              </a:ext>
            </a:extLst>
          </p:cNvPr>
          <p:cNvSpPr>
            <a:spLocks noGrp="1"/>
          </p:cNvSpPr>
          <p:nvPr>
            <p:ph type="body" idx="1"/>
          </p:nvPr>
        </p:nvSpPr>
        <p:spPr/>
        <p:txBody>
          <a:bodyPr/>
          <a:lstStyle/>
          <a:p>
            <a:r>
              <a:rPr lang="en-NG" dirty="0"/>
              <a:t>To understand the relationship between categorical features and income, I created normalized stacked bar charts.</a:t>
            </a:r>
          </a:p>
          <a:p>
            <a:r>
              <a:rPr lang="en-NG" dirty="0"/>
              <a:t>These visualizations showed how income levels varied across education groups, occupations, marital status categories, and demographic groups.</a:t>
            </a:r>
          </a:p>
          <a:p>
            <a:r>
              <a:rPr lang="en-NG" dirty="0"/>
              <a:t>Several strong patterns emerged. For example, higher education levels generally showed a larger proportion of individuals earning above fifty thousand dollars.</a:t>
            </a:r>
          </a:p>
          <a:p>
            <a:r>
              <a:rPr lang="en-NG" dirty="0"/>
              <a:t>These relationships indicated that categorical features would likely provide important predictive information for the classification models.</a:t>
            </a:r>
          </a:p>
        </p:txBody>
      </p:sp>
      <p:sp>
        <p:nvSpPr>
          <p:cNvPr id="4" name="Slide Number Placeholder 3">
            <a:extLst>
              <a:ext uri="{FF2B5EF4-FFF2-40B4-BE49-F238E27FC236}">
                <a16:creationId xmlns:a16="http://schemas.microsoft.com/office/drawing/2014/main" id="{5EB661EA-86C6-EF8E-301E-2BA700565203}"/>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7427144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7DFDA-99AC-0DD9-EF20-06D4A7ADE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F61EC-65BA-C40C-447B-1CE406C23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3A5FD7-D660-996B-021F-BC8F91F36806}"/>
              </a:ext>
            </a:extLst>
          </p:cNvPr>
          <p:cNvSpPr>
            <a:spLocks noGrp="1"/>
          </p:cNvSpPr>
          <p:nvPr>
            <p:ph type="body" idx="1"/>
          </p:nvPr>
        </p:nvSpPr>
        <p:spPr/>
        <p:txBody>
          <a:bodyPr/>
          <a:lstStyle/>
          <a:p>
            <a:r>
              <a:rPr lang="en-NG" dirty="0"/>
              <a:t>Finally, I analyzed correlations among numerical variables using a correlation heatmap.</a:t>
            </a:r>
          </a:p>
          <a:p>
            <a:r>
              <a:rPr lang="en-NG" dirty="0"/>
              <a:t>The objective was to identify relationships between features and the target variable as well as detect potential redundancy between predictors.</a:t>
            </a:r>
          </a:p>
          <a:p>
            <a:r>
              <a:rPr lang="en-NG" dirty="0"/>
              <a:t>Although no extremely strong correlations were observed among most variables, features such as education level, capital gain, and hours worked per week showed meaningful associations with income.</a:t>
            </a:r>
          </a:p>
          <a:p>
            <a:r>
              <a:rPr lang="en-NG" dirty="0"/>
              <a:t>This analysis helped confirm that the selected features contained useful predictive information for the modelling stage.</a:t>
            </a:r>
          </a:p>
        </p:txBody>
      </p:sp>
      <p:sp>
        <p:nvSpPr>
          <p:cNvPr id="4" name="Slide Number Placeholder 3">
            <a:extLst>
              <a:ext uri="{FF2B5EF4-FFF2-40B4-BE49-F238E27FC236}">
                <a16:creationId xmlns:a16="http://schemas.microsoft.com/office/drawing/2014/main" id="{C7539EC3-A210-5DBC-A705-E88BF2DF1ECB}"/>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9589988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G" dirty="0"/>
              <a:t>After understanding the structure and characteristics of the dataset through exploratory analysis, the next step was preparing the data for machine learning.</a:t>
            </a:r>
          </a:p>
          <a:p>
            <a:r>
              <a:rPr lang="en-NG" dirty="0"/>
              <a:t>This involved cleaning the dataset, handling missing values, engineering new features, reducing sparsity, and transforming skewed variables.</a:t>
            </a:r>
          </a:p>
          <a:p>
            <a:r>
              <a:rPr lang="en-NG" dirty="0"/>
              <a:t>The goal was to create a higher-quality dataset that would improve model performance while maintaining interpretability.</a:t>
            </a:r>
          </a:p>
          <a:p>
            <a:r>
              <a:rPr lang="en-NG" dirty="0"/>
              <a:t>In the next slides, I will explain the preprocessing and feature engineering techniques that were implemented.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69FB3-BA06-79C4-C016-6E230096BF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F328E-A55C-A9EE-C216-4C4EFC634A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F53F4-18AF-A1C7-BC9A-E44D19CDD1BA}"/>
              </a:ext>
            </a:extLst>
          </p:cNvPr>
          <p:cNvSpPr>
            <a:spLocks noGrp="1"/>
          </p:cNvSpPr>
          <p:nvPr>
            <p:ph type="body" idx="1"/>
          </p:nvPr>
        </p:nvSpPr>
        <p:spPr/>
        <p:txBody>
          <a:bodyPr/>
          <a:lstStyle/>
          <a:p>
            <a:r>
              <a:rPr lang="en-NG" dirty="0"/>
              <a:t>After loading the dataset, the next stage was data cleaning. The dataset contained missing values represented by question marks and also contained duplicate records. </a:t>
            </a:r>
          </a:p>
          <a:p>
            <a:r>
              <a:rPr lang="en-NG" dirty="0"/>
              <a:t>These issues were addressed through a dedicated cleaning function. Missing values were converted into proper null values and duplicates were removed.</a:t>
            </a:r>
          </a:p>
          <a:p>
            <a:r>
              <a:rPr lang="en-NG" dirty="0"/>
              <a:t>By centralizing all cleaning logic in one place, the preprocessing workflow becomes easier to understand and maintain.</a:t>
            </a:r>
          </a:p>
        </p:txBody>
      </p:sp>
      <p:sp>
        <p:nvSpPr>
          <p:cNvPr id="4" name="Slide Number Placeholder 3">
            <a:extLst>
              <a:ext uri="{FF2B5EF4-FFF2-40B4-BE49-F238E27FC236}">
                <a16:creationId xmlns:a16="http://schemas.microsoft.com/office/drawing/2014/main" id="{E9C42946-9394-0CE2-5E4B-B627CB6AAD37}"/>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7803564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824D5-E7D1-3270-E45F-C9DCA1D0A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1CB8F7-622B-2534-504B-54C5910D0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FCCE6-2AE6-37F5-724C-897781BB1254}"/>
              </a:ext>
            </a:extLst>
          </p:cNvPr>
          <p:cNvSpPr>
            <a:spLocks noGrp="1"/>
          </p:cNvSpPr>
          <p:nvPr>
            <p:ph type="body" idx="1"/>
          </p:nvPr>
        </p:nvSpPr>
        <p:spPr/>
        <p:txBody>
          <a:bodyPr/>
          <a:lstStyle/>
          <a:p>
            <a:r>
              <a:rPr lang="en-NG" dirty="0"/>
              <a:t>Education originally contained many detailed categories with relatively small numbers of observations. Examples included different school levels, associate degrees, bachelor's degrees, and postgraduate qualifications. </a:t>
            </a:r>
          </a:p>
          <a:p>
            <a:r>
              <a:rPr lang="en-NG" dirty="0"/>
              <a:t>To reduce sparsity, similar education categories were grouped into broader categories such as High School, Bachelor, and Postgraduate.</a:t>
            </a:r>
          </a:p>
          <a:p>
            <a:r>
              <a:rPr lang="en-NG" dirty="0"/>
              <a:t>This transformation reduced dimensionality while preserving the semantic meaning of the feature, helping models generalize more effectively.</a:t>
            </a:r>
          </a:p>
        </p:txBody>
      </p:sp>
      <p:sp>
        <p:nvSpPr>
          <p:cNvPr id="4" name="Slide Number Placeholder 3">
            <a:extLst>
              <a:ext uri="{FF2B5EF4-FFF2-40B4-BE49-F238E27FC236}">
                <a16:creationId xmlns:a16="http://schemas.microsoft.com/office/drawing/2014/main" id="{66D4AB97-31D4-1B66-9891-B05AAF3DB53A}"/>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2067118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346D9-73F5-A74F-B744-596E8C39B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D61045-1571-29C7-1043-D68DE803C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10EA13-C18D-3E7F-69C2-165D664401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G" dirty="0"/>
              <a:t>Before and after</a:t>
            </a:r>
            <a:endParaRPr lang="en-US" dirty="0"/>
          </a:p>
          <a:p>
            <a:endParaRPr lang="en-US" dirty="0"/>
          </a:p>
        </p:txBody>
      </p:sp>
      <p:sp>
        <p:nvSpPr>
          <p:cNvPr id="4" name="Slide Number Placeholder 3">
            <a:extLst>
              <a:ext uri="{FF2B5EF4-FFF2-40B4-BE49-F238E27FC236}">
                <a16:creationId xmlns:a16="http://schemas.microsoft.com/office/drawing/2014/main" id="{EA85E6CF-75F4-E72D-662D-C45236988741}"/>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8513011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34CFC-2DE8-0B8A-FE1D-04F6D8333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427003-9A65-02E7-51A4-499AE2A33E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72C84-469E-AC66-F314-F16B31BD2794}"/>
              </a:ext>
            </a:extLst>
          </p:cNvPr>
          <p:cNvSpPr>
            <a:spLocks noGrp="1"/>
          </p:cNvSpPr>
          <p:nvPr>
            <p:ph type="body" idx="1"/>
          </p:nvPr>
        </p:nvSpPr>
        <p:spPr/>
        <p:txBody>
          <a:bodyPr/>
          <a:lstStyle/>
          <a:p>
            <a:r>
              <a:rPr lang="en-NG" dirty="0"/>
              <a:t>The native-country feature contained many country categories, but most observations belonged to the United States. </a:t>
            </a:r>
          </a:p>
          <a:p>
            <a:r>
              <a:rPr lang="en-NG" dirty="0"/>
              <a:t>To reduce complexity, countries were grouped into two categories: United States and Other.</a:t>
            </a:r>
          </a:p>
          <a:p>
            <a:r>
              <a:rPr lang="en-NG" dirty="0"/>
              <a:t>This simplified the feature while retaining useful information and reducing the number of sparse categories that the model needed to handle.</a:t>
            </a:r>
          </a:p>
          <a:p>
            <a:endParaRPr lang="en-NG" dirty="0"/>
          </a:p>
        </p:txBody>
      </p:sp>
      <p:sp>
        <p:nvSpPr>
          <p:cNvPr id="4" name="Slide Number Placeholder 3">
            <a:extLst>
              <a:ext uri="{FF2B5EF4-FFF2-40B4-BE49-F238E27FC236}">
                <a16:creationId xmlns:a16="http://schemas.microsoft.com/office/drawing/2014/main" id="{84821AA2-8669-95A9-436C-4106A9F3C752}"/>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5770685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4C06E-D851-CB08-61E6-980D83F8D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70F151-265A-F8B7-BBC9-F53C22268A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328D7F-0F02-B644-7427-9E3E1A9CF2F3}"/>
              </a:ext>
            </a:extLst>
          </p:cNvPr>
          <p:cNvSpPr>
            <a:spLocks noGrp="1"/>
          </p:cNvSpPr>
          <p:nvPr>
            <p:ph type="body" idx="1"/>
          </p:nvPr>
        </p:nvSpPr>
        <p:spPr/>
        <p:txBody>
          <a:bodyPr/>
          <a:lstStyle/>
          <a:p>
            <a:r>
              <a:rPr lang="en-NG" dirty="0"/>
              <a:t>Before and after</a:t>
            </a:r>
            <a:endParaRPr lang="en-US" dirty="0"/>
          </a:p>
        </p:txBody>
      </p:sp>
      <p:sp>
        <p:nvSpPr>
          <p:cNvPr id="4" name="Slide Number Placeholder 3">
            <a:extLst>
              <a:ext uri="{FF2B5EF4-FFF2-40B4-BE49-F238E27FC236}">
                <a16:creationId xmlns:a16="http://schemas.microsoft.com/office/drawing/2014/main" id="{A7B4719D-5654-FCD2-CF46-C009A0C9FF4F}"/>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7764481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BBBD8-B0CD-CC94-6C2B-B60E35BD89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0DED0-1F20-E706-FDBD-4066173FEA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16098C-EFA4-16AD-868C-B7BF104F9BE1}"/>
              </a:ext>
            </a:extLst>
          </p:cNvPr>
          <p:cNvSpPr>
            <a:spLocks noGrp="1"/>
          </p:cNvSpPr>
          <p:nvPr>
            <p:ph type="body" idx="1"/>
          </p:nvPr>
        </p:nvSpPr>
        <p:spPr/>
        <p:txBody>
          <a:bodyPr/>
          <a:lstStyle/>
          <a:p>
            <a:r>
              <a:rPr lang="en-NG" dirty="0"/>
              <a:t>Capital gain and capital loss were highly skewed variables. Most individuals had zero values, while a small number of observations contained very large values. </a:t>
            </a:r>
          </a:p>
          <a:p>
            <a:r>
              <a:rPr lang="en-NG" dirty="0"/>
              <a:t>To improve interpretability, binary indicator features were created to capture whether an individual had any capital gain or loss.</a:t>
            </a:r>
          </a:p>
          <a:p>
            <a:r>
              <a:rPr lang="en-NG" dirty="0"/>
              <a:t>These features separate the existence of investment-related income from its actual amount, providing additional information to the models.</a:t>
            </a:r>
          </a:p>
        </p:txBody>
      </p:sp>
      <p:sp>
        <p:nvSpPr>
          <p:cNvPr id="4" name="Slide Number Placeholder 3">
            <a:extLst>
              <a:ext uri="{FF2B5EF4-FFF2-40B4-BE49-F238E27FC236}">
                <a16:creationId xmlns:a16="http://schemas.microsoft.com/office/drawing/2014/main" id="{78FBF4C0-67BF-10AA-7956-05A699AC3CED}"/>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4159545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40D62-7065-00A3-E812-8B1034F27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95100E-4C22-99BE-C80F-3B59E921CF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B3C74-EACB-8C96-A3C9-50A6BE251B91}"/>
              </a:ext>
            </a:extLst>
          </p:cNvPr>
          <p:cNvSpPr>
            <a:spLocks noGrp="1"/>
          </p:cNvSpPr>
          <p:nvPr>
            <p:ph type="body" idx="1"/>
          </p:nvPr>
        </p:nvSpPr>
        <p:spPr/>
        <p:txBody>
          <a:bodyPr/>
          <a:lstStyle/>
          <a:p>
            <a:r>
              <a:rPr lang="en-US" dirty="0"/>
              <a:t>The new features variable</a:t>
            </a:r>
          </a:p>
        </p:txBody>
      </p:sp>
      <p:sp>
        <p:nvSpPr>
          <p:cNvPr id="4" name="Slide Number Placeholder 3">
            <a:extLst>
              <a:ext uri="{FF2B5EF4-FFF2-40B4-BE49-F238E27FC236}">
                <a16:creationId xmlns:a16="http://schemas.microsoft.com/office/drawing/2014/main" id="{BB5215CA-B445-5184-B2AE-CADADE768A15}"/>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6997209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8D10F-7419-C854-997B-ABAF7E90D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88187-318C-EE6F-212D-1B10053DB8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651386-C5E7-37B1-FC5E-7CEB086E104D}"/>
              </a:ext>
            </a:extLst>
          </p:cNvPr>
          <p:cNvSpPr>
            <a:spLocks noGrp="1"/>
          </p:cNvSpPr>
          <p:nvPr>
            <p:ph type="body" idx="1"/>
          </p:nvPr>
        </p:nvSpPr>
        <p:spPr/>
        <p:txBody>
          <a:bodyPr/>
          <a:lstStyle/>
          <a:p>
            <a:r>
              <a:rPr lang="en-NG" dirty="0"/>
              <a:t>Because capital gain and capital loss contained extreme outliers, log transformations were applied. </a:t>
            </a:r>
          </a:p>
          <a:p>
            <a:r>
              <a:rPr lang="en-NG" dirty="0"/>
              <a:t>The log transformation compresses large values and reduces skewness, producing a more balanced distribution.</a:t>
            </a:r>
          </a:p>
          <a:p>
            <a:r>
              <a:rPr lang="en-NG" dirty="0"/>
              <a:t>This often improves model learning because algorithms can focus on meaningful patterns instead of being dominated by a few extreme observations.</a:t>
            </a:r>
          </a:p>
          <a:p>
            <a:endParaRPr lang="en-NG" dirty="0"/>
          </a:p>
        </p:txBody>
      </p:sp>
      <p:sp>
        <p:nvSpPr>
          <p:cNvPr id="4" name="Slide Number Placeholder 3">
            <a:extLst>
              <a:ext uri="{FF2B5EF4-FFF2-40B4-BE49-F238E27FC236}">
                <a16:creationId xmlns:a16="http://schemas.microsoft.com/office/drawing/2014/main" id="{1D875F33-7BB9-8222-3519-B926CE8E0F9A}"/>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41857700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4A1D7-2898-6206-4504-A87C25B23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CB6D-728E-A069-BD3F-3D92C3192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74C9C-1225-67F9-506C-086B54E3E54D}"/>
              </a:ext>
            </a:extLst>
          </p:cNvPr>
          <p:cNvSpPr>
            <a:spLocks noGrp="1"/>
          </p:cNvSpPr>
          <p:nvPr>
            <p:ph type="body" idx="1"/>
          </p:nvPr>
        </p:nvSpPr>
        <p:spPr/>
        <p:txBody>
          <a:bodyPr/>
          <a:lstStyle/>
          <a:p>
            <a:r>
              <a:rPr lang="en-NG" dirty="0"/>
              <a:t>To compare different machine learning approaches, I implemented a reusable model registry function that returns all candidate classifiers. </a:t>
            </a:r>
          </a:p>
          <a:p>
            <a:r>
              <a:rPr lang="en-NG" dirty="0"/>
              <a:t>Four models were selected: Logistic Regression, Decision Tree, Random Forest, and Gradient Boosting.</a:t>
            </a:r>
          </a:p>
          <a:p>
            <a:r>
              <a:rPr lang="en-NG" dirty="0"/>
              <a:t>These algorithms represent different levels of complexity and interpretability, allowing a fair comparison of modelling approaches.</a:t>
            </a:r>
          </a:p>
        </p:txBody>
      </p:sp>
      <p:sp>
        <p:nvSpPr>
          <p:cNvPr id="4" name="Slide Number Placeholder 3">
            <a:extLst>
              <a:ext uri="{FF2B5EF4-FFF2-40B4-BE49-F238E27FC236}">
                <a16:creationId xmlns:a16="http://schemas.microsoft.com/office/drawing/2014/main" id="{05A7744C-8EFF-54DF-3E15-FEE6708FED0F}"/>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7306302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C2F57-814C-4757-A1ED-2800DE6273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5EB45-C8DC-02E4-F771-396BD706D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529B0-6E71-FAFE-7E1E-2EC4FB12003F}"/>
              </a:ext>
            </a:extLst>
          </p:cNvPr>
          <p:cNvSpPr>
            <a:spLocks noGrp="1"/>
          </p:cNvSpPr>
          <p:nvPr>
            <p:ph type="body" idx="1"/>
          </p:nvPr>
        </p:nvSpPr>
        <p:spPr/>
        <p:txBody>
          <a:bodyPr/>
          <a:lstStyle/>
          <a:p>
            <a:r>
              <a:rPr lang="en-NG" dirty="0"/>
              <a:t>Instead of manually creating and training each model throughout the notebook, I implemented a reusable function called </a:t>
            </a:r>
            <a:r>
              <a:rPr lang="en-NG" sz="1200" kern="1200" dirty="0">
                <a:solidFill>
                  <a:schemeClr val="tx1"/>
                </a:solidFill>
                <a:latin typeface="+mn-lt"/>
                <a:ea typeface="+mn-ea"/>
                <a:cs typeface="+mn-cs"/>
              </a:rPr>
              <a:t>get_candidate_models()</a:t>
            </a:r>
            <a:r>
              <a:rPr lang="en-NG" dirty="0"/>
              <a:t>. This function acts as a model registry and returns all candidate classifiers in a single dictionary.</a:t>
            </a:r>
          </a:p>
          <a:p>
            <a:r>
              <a:rPr lang="en-NG" dirty="0"/>
              <a:t>This approach improves maintainability because new models can be added in one location without modifying the training pipeline. It also ensures that all models are evaluated using the same preprocessing steps, train-test split, and evaluation metrics, making comparisons fair and reproducible.</a:t>
            </a:r>
          </a:p>
          <a:p>
            <a:r>
              <a:rPr lang="en-NG" dirty="0"/>
              <a:t>The selected models represent different machine learning approaches. Logistic Regression serves as a simple linear baseline, Decision Tree provides interpretable rule-based predictions, Random Forest introduces ensemble learning, and Gradient Boosting offers a more advanced boosting-based approach. The objective was to compare models with different levels of complexity and interpretability before selecting the best-performing solution.</a:t>
            </a:r>
          </a:p>
        </p:txBody>
      </p:sp>
      <p:sp>
        <p:nvSpPr>
          <p:cNvPr id="4" name="Slide Number Placeholder 3">
            <a:extLst>
              <a:ext uri="{FF2B5EF4-FFF2-40B4-BE49-F238E27FC236}">
                <a16:creationId xmlns:a16="http://schemas.microsoft.com/office/drawing/2014/main" id="{E67316C5-D6FD-0674-F55D-412F06FC7035}"/>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328522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30BEE-1EC0-20D1-9CFC-16A46145A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AFCC15-8F51-B57B-E128-2CD38EBFEE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8C594-9399-F2F4-3C59-21C33021540B}"/>
              </a:ext>
            </a:extLst>
          </p:cNvPr>
          <p:cNvSpPr>
            <a:spLocks noGrp="1"/>
          </p:cNvSpPr>
          <p:nvPr>
            <p:ph type="body" idx="1"/>
          </p:nvPr>
        </p:nvSpPr>
        <p:spPr/>
        <p:txBody>
          <a:bodyPr/>
          <a:lstStyle/>
          <a:p>
            <a:r>
              <a:rPr lang="en-NG" dirty="0"/>
              <a:t>This function is the core of the training framework. Instead of writing separate code for every model, a loop automatically trains and evaluates each classifier. </a:t>
            </a:r>
          </a:p>
          <a:p>
            <a:r>
              <a:rPr lang="en-NG" dirty="0"/>
              <a:t>For every model, a pipeline is created, trained on the training data, and used to generate predictions on the test data.</a:t>
            </a:r>
          </a:p>
          <a:p>
            <a:r>
              <a:rPr lang="en-NG" dirty="0"/>
              <a:t>Evaluation metrics are calculated through a reusable evaluation function and stored in ModelResult objects.</a:t>
            </a:r>
          </a:p>
          <a:p>
            <a:r>
              <a:rPr lang="en-NG" dirty="0"/>
              <a:t>This design reduces code duplication and makes it easy to add new models in the future.</a:t>
            </a:r>
          </a:p>
        </p:txBody>
      </p:sp>
      <p:sp>
        <p:nvSpPr>
          <p:cNvPr id="4" name="Slide Number Placeholder 3">
            <a:extLst>
              <a:ext uri="{FF2B5EF4-FFF2-40B4-BE49-F238E27FC236}">
                <a16:creationId xmlns:a16="http://schemas.microsoft.com/office/drawing/2014/main" id="{ED85A4CB-287A-A96B-48AA-952F10C03C33}"/>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3911414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34F0F-862C-DED6-81F5-DCCC35BD8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FD1DA6-1CCB-C59F-59F2-1E67CB73FE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DD8DCD-9154-1C4A-5639-CBD9D7859B3F}"/>
              </a:ext>
            </a:extLst>
          </p:cNvPr>
          <p:cNvSpPr>
            <a:spLocks noGrp="1"/>
          </p:cNvSpPr>
          <p:nvPr>
            <p:ph type="body" idx="1"/>
          </p:nvPr>
        </p:nvSpPr>
        <p:spPr/>
        <p:txBody>
          <a:bodyPr/>
          <a:lstStyle/>
          <a:p>
            <a:r>
              <a:rPr lang="en-NG" dirty="0"/>
              <a:t>After training the models, hyperparameter tuning was performed to improve performance. The tuned models were then compared using multiple evaluation metrics including Accuracy, Precision, Recall, F1 Score, MCC, and ROC-AUC. </a:t>
            </a:r>
          </a:p>
          <a:p>
            <a:r>
              <a:rPr lang="en-NG" dirty="0"/>
              <a:t>Comparing multiple metrics is important because no single metric provides a complete picture of model performance.</a:t>
            </a:r>
          </a:p>
        </p:txBody>
      </p:sp>
      <p:sp>
        <p:nvSpPr>
          <p:cNvPr id="4" name="Slide Number Placeholder 3">
            <a:extLst>
              <a:ext uri="{FF2B5EF4-FFF2-40B4-BE49-F238E27FC236}">
                <a16:creationId xmlns:a16="http://schemas.microsoft.com/office/drawing/2014/main" id="{36E69267-58A7-4DF6-9657-D5665482263F}"/>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916718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49C97-5187-B7FA-5ED7-1F989FDBC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15CB1-BE4C-D2F8-D229-EA5752219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5295CD-952C-2596-FA69-0B91EC524B8B}"/>
              </a:ext>
            </a:extLst>
          </p:cNvPr>
          <p:cNvSpPr>
            <a:spLocks noGrp="1"/>
          </p:cNvSpPr>
          <p:nvPr>
            <p:ph type="body" idx="1"/>
          </p:nvPr>
        </p:nvSpPr>
        <p:spPr/>
        <p:txBody>
          <a:bodyPr/>
          <a:lstStyle/>
          <a:p>
            <a:r>
              <a:rPr lang="en-NG" dirty="0"/>
              <a:t>The confusion matrix provides a detailed breakdown of model predictions. It shows how many observations were correctly classified and where errors occurred.</a:t>
            </a:r>
          </a:p>
          <a:p>
            <a:r>
              <a:rPr lang="en-NG" dirty="0"/>
              <a:t>This allows us to understand whether the model is making more false positives or false negatives, which is often more informative than accuracy alone.</a:t>
            </a:r>
          </a:p>
        </p:txBody>
      </p:sp>
      <p:sp>
        <p:nvSpPr>
          <p:cNvPr id="4" name="Slide Number Placeholder 3">
            <a:extLst>
              <a:ext uri="{FF2B5EF4-FFF2-40B4-BE49-F238E27FC236}">
                <a16:creationId xmlns:a16="http://schemas.microsoft.com/office/drawing/2014/main" id="{7A99B7A1-691B-F506-4D1F-63FFBF0597C7}"/>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40518038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FF874-D348-3BD8-4A73-822DE8EFD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1C1D9-7919-ACF1-3E6E-9621D678E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36989-B844-8DC2-43E3-FDB2F54F7D45}"/>
              </a:ext>
            </a:extLst>
          </p:cNvPr>
          <p:cNvSpPr>
            <a:spLocks noGrp="1"/>
          </p:cNvSpPr>
          <p:nvPr>
            <p:ph type="body" idx="1"/>
          </p:nvPr>
        </p:nvSpPr>
        <p:spPr/>
        <p:txBody>
          <a:bodyPr/>
          <a:lstStyle/>
          <a:p>
            <a:r>
              <a:rPr lang="en-NG" dirty="0"/>
              <a:t>To better understand the behavior of the final Gradient Boosting model, I used SHAP, which stands for SHapley Additive exPlanations.</a:t>
            </a:r>
          </a:p>
          <a:p>
            <a:r>
              <a:rPr lang="en-NG" dirty="0"/>
              <a:t>SHAP is a model-agnostic interpretability technique that explains how each feature contributes to predictions. Unlike traditional feature importance methods, SHAP not only shows which features are important but also whether they increase or decrease the likelihood of predicting the high-income class.</a:t>
            </a:r>
          </a:p>
          <a:p>
            <a:r>
              <a:rPr lang="en-NG" dirty="0"/>
              <a:t>The results show that marital status, age, education level, capital gain, and hours worked per week were among the most influential factors affecting income predictions.</a:t>
            </a:r>
          </a:p>
          <a:p>
            <a:r>
              <a:rPr lang="en-NG" dirty="0"/>
              <a:t>For example, being married, having higher educational attainment, higher capital gains, and working more hours generally increased the probability of belonging to the high-income class.</a:t>
            </a:r>
          </a:p>
          <a:p>
            <a:r>
              <a:rPr lang="en-NG" dirty="0"/>
              <a:t>The SHAP analysis provides transparency into the model's decision-making process and confirms that the model learned meaningful socioeconomic patterns rather than relying on arbitrary relationships.</a:t>
            </a:r>
          </a:p>
        </p:txBody>
      </p:sp>
      <p:sp>
        <p:nvSpPr>
          <p:cNvPr id="4" name="Slide Number Placeholder 3">
            <a:extLst>
              <a:ext uri="{FF2B5EF4-FFF2-40B4-BE49-F238E27FC236}">
                <a16:creationId xmlns:a16="http://schemas.microsoft.com/office/drawing/2014/main" id="{A75B5EFD-6605-7A10-DD6E-FE33DFB3E8B4}"/>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80583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91409-6CF3-5977-9800-E028B9A6C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94BC3-4840-FF56-C7A4-CBE289AB84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5ABA7-5A20-81D1-4248-F11839F8E8F7}"/>
              </a:ext>
            </a:extLst>
          </p:cNvPr>
          <p:cNvSpPr>
            <a:spLocks noGrp="1"/>
          </p:cNvSpPr>
          <p:nvPr>
            <p:ph type="body" idx="1"/>
          </p:nvPr>
        </p:nvSpPr>
        <p:spPr/>
        <p:txBody>
          <a:bodyPr/>
          <a:lstStyle/>
          <a:p>
            <a:r>
              <a:rPr lang="en-NG" dirty="0"/>
              <a:t>Beyond predictive performance, I also evaluated fairness across demographic groups. </a:t>
            </a:r>
          </a:p>
          <a:p>
            <a:r>
              <a:rPr lang="en-NG" dirty="0"/>
              <a:t>The objective was to determine whether the model performs differently for different genders and racial groups.</a:t>
            </a:r>
          </a:p>
          <a:p>
            <a:r>
              <a:rPr lang="en-NG" dirty="0"/>
              <a:t>While the model achieved strong overall performance, the analysis revealed some disparities between groups, highlighting the importance of evaluating machine learning systems beyond traditional accuracy metrics.</a:t>
            </a:r>
          </a:p>
        </p:txBody>
      </p:sp>
      <p:sp>
        <p:nvSpPr>
          <p:cNvPr id="4" name="Slide Number Placeholder 3">
            <a:extLst>
              <a:ext uri="{FF2B5EF4-FFF2-40B4-BE49-F238E27FC236}">
                <a16:creationId xmlns:a16="http://schemas.microsoft.com/office/drawing/2014/main" id="{11810D59-B3C8-8BA2-6A79-E4BBA7DF5115}"/>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36091038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85EB6-200E-5657-4CE6-0B48F31ABE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92941-AC90-5109-CBB9-F07226D2A5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6D9130-6D67-48AF-FE73-598A4BE9413C}"/>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E2546C85-98D7-C87D-C49A-BAEA62F98C7A}"/>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9190774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3DD22-8FF5-4AAE-6707-C446ED1193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45DFB-1806-2798-A809-A0DE7F3927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A2EDBB-2BC7-9BBB-448B-A8DDF06319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504EBE-95B7-56F5-3824-20CD577A10C2}"/>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399929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87150-9FA0-1803-AFCD-18E980AD0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AA7192-88D7-76F5-6928-77F5CA0959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2389E7-0643-4E6A-3315-8D31CD4AFC9D}"/>
              </a:ext>
            </a:extLst>
          </p:cNvPr>
          <p:cNvSpPr>
            <a:spLocks noGrp="1"/>
          </p:cNvSpPr>
          <p:nvPr>
            <p:ph type="body" idx="1"/>
          </p:nvPr>
        </p:nvSpPr>
        <p:spPr/>
        <p:txBody>
          <a:bodyPr/>
          <a:lstStyle/>
          <a:p>
            <a:r>
              <a:rPr lang="en-NG" dirty="0"/>
              <a:t>Like any project, this work has several limitations. The dataset is based on the 1994 U.S. Census and may not fully reflect modern socioeconomic conditions. Some demographic groups also contain relatively few observations, making fairness estimates less reliable. </a:t>
            </a:r>
          </a:p>
          <a:p>
            <a:r>
              <a:rPr lang="en-NG" dirty="0"/>
              <a:t>Future work could include evaluating more recent datasets, exploring additional feature engineering techniques, testing more advanced algorithms such as XGBoost, and incorporating fairness-aware learning methods. </a:t>
            </a:r>
          </a:p>
        </p:txBody>
      </p:sp>
      <p:sp>
        <p:nvSpPr>
          <p:cNvPr id="4" name="Slide Number Placeholder 3">
            <a:extLst>
              <a:ext uri="{FF2B5EF4-FFF2-40B4-BE49-F238E27FC236}">
                <a16:creationId xmlns:a16="http://schemas.microsoft.com/office/drawing/2014/main" id="{C3F751E3-A53E-5877-A4E9-401B06B1E31F}"/>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42844395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E2F63-FF7C-A6DF-A4CC-DF2FB1EEA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0CBFA-F0EB-83E9-80E5-EC1835FCD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B4CCE-B7E4-4276-C025-63B0E9D228DE}"/>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02E8D109-4D0F-089A-4475-F9D4A418DE02}"/>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26337749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D58B8-F815-684A-1BEE-486495A74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263C5-6CE1-60AC-DFFD-A09C7B2A51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40A33-2D30-8FF9-4BB3-9C7C767D51E4}"/>
              </a:ext>
            </a:extLst>
          </p:cNvPr>
          <p:cNvSpPr>
            <a:spLocks noGrp="1"/>
          </p:cNvSpPr>
          <p:nvPr>
            <p:ph type="body" idx="1"/>
          </p:nvPr>
        </p:nvSpPr>
        <p:spPr/>
        <p:txBody>
          <a:bodyPr/>
          <a:lstStyle/>
          <a:p>
            <a:r>
              <a:rPr lang="en-NG" dirty="0"/>
              <a:t>In conclusion, this project successfully implemented a complete end-to-end machine learning application in Python. The work covered data loading, cleaning, feature engineering, model training, evaluation, interpretability analysis, and fairness assessment. </a:t>
            </a:r>
          </a:p>
          <a:p>
            <a:r>
              <a:rPr lang="en-NG" dirty="0"/>
              <a:t>From an Applied Programming perspective, the project demonstrates modular design, reusable components, object-oriented programming, documentation, exception handling, and reproducible workflows.</a:t>
            </a:r>
          </a:p>
          <a:p>
            <a:r>
              <a:rPr lang="en-NG" dirty="0"/>
              <a:t>The final results showed that Gradient Boosting achieved the strongest overall predictive performance, while SHAP and fairness analysis provided additional insights into how the model behaves and how its predictions affect different demographic groups.</a:t>
            </a:r>
          </a:p>
          <a:p>
            <a:r>
              <a:rPr lang="en-NG" dirty="0"/>
              <a:t>Overall, the project demonstrates how software engineering and machine learning can be combined to create robust, maintainable, and interpretable data science applications.</a:t>
            </a:r>
          </a:p>
          <a:p>
            <a:endParaRPr lang="en-NG" dirty="0"/>
          </a:p>
        </p:txBody>
      </p:sp>
      <p:sp>
        <p:nvSpPr>
          <p:cNvPr id="4" name="Slide Number Placeholder 3">
            <a:extLst>
              <a:ext uri="{FF2B5EF4-FFF2-40B4-BE49-F238E27FC236}">
                <a16:creationId xmlns:a16="http://schemas.microsoft.com/office/drawing/2014/main" id="{B849B179-12E3-7171-7AC3-CB59B2C2702B}"/>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2328897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a:spLocks noGrp="1" noRot="1" noMove="1" noResize="1" noEditPoints="1" noAdjustHandles="1" noChangeArrowheads="1" noChangeShapeType="1"/>
          </p:cNvSpPr>
          <p:nvPr/>
        </p:nvSpPr>
        <p:spPr>
          <a:xfrm>
            <a:off x="-18288" y="3954"/>
            <a:ext cx="5029200" cy="5143500"/>
          </a:xfrm>
          <a:prstGeom prst="rect">
            <a:avLst/>
          </a:prstGeom>
          <a:solidFill>
            <a:srgbClr val="EBF4FB"/>
          </a:solidFill>
          <a:ln w="12700">
            <a:solidFill>
              <a:srgbClr val="EBF4FB"/>
            </a:solidFill>
            <a:prstDash val="solid"/>
          </a:ln>
        </p:spPr>
        <p:txBody>
          <a:bodyPr/>
          <a:lstStyle/>
          <a:p>
            <a:endParaRPr lang="en-NG"/>
          </a:p>
        </p:txBody>
      </p:sp>
      <p:sp>
        <p:nvSpPr>
          <p:cNvPr id="4" name="Text 2"/>
          <p:cNvSpPr/>
          <p:nvPr/>
        </p:nvSpPr>
        <p:spPr>
          <a:xfrm>
            <a:off x="283464" y="1770381"/>
            <a:ext cx="4553712" cy="1188720"/>
          </a:xfrm>
          <a:prstGeom prst="rect">
            <a:avLst/>
          </a:prstGeom>
          <a:noFill/>
          <a:ln/>
        </p:spPr>
        <p:txBody>
          <a:bodyPr wrap="square"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Adult Income Classification Using Machine Learning</a:t>
            </a:r>
            <a:endParaRPr lang="en-US" sz="3000" dirty="0"/>
          </a:p>
        </p:txBody>
      </p:sp>
      <p:sp>
        <p:nvSpPr>
          <p:cNvPr id="6" name="Shape 4"/>
          <p:cNvSpPr/>
          <p:nvPr/>
        </p:nvSpPr>
        <p:spPr>
          <a:xfrm>
            <a:off x="365760" y="3108960"/>
            <a:ext cx="4114800" cy="0"/>
          </a:xfrm>
          <a:prstGeom prst="line">
            <a:avLst/>
          </a:prstGeom>
          <a:noFill/>
          <a:ln w="25400">
            <a:solidFill>
              <a:srgbClr val="E8922A"/>
            </a:solidFill>
            <a:prstDash val="solid"/>
          </a:ln>
        </p:spPr>
        <p:txBody>
          <a:bodyPr/>
          <a:lstStyle/>
          <a:p>
            <a:endParaRPr lang="en-NG"/>
          </a:p>
        </p:txBody>
      </p:sp>
      <p:sp>
        <p:nvSpPr>
          <p:cNvPr id="7" name="Text 5"/>
          <p:cNvSpPr/>
          <p:nvPr/>
        </p:nvSpPr>
        <p:spPr>
          <a:xfrm>
            <a:off x="365760" y="3291840"/>
            <a:ext cx="4389120" cy="365760"/>
          </a:xfrm>
          <a:prstGeom prst="rect">
            <a:avLst/>
          </a:prstGeom>
          <a:noFill/>
          <a:ln/>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Buhari Nasir Ahmad</a:t>
            </a:r>
            <a:endParaRPr lang="en-US" sz="1500" dirty="0"/>
          </a:p>
        </p:txBody>
      </p:sp>
      <p:sp>
        <p:nvSpPr>
          <p:cNvPr id="8" name="Text 6"/>
          <p:cNvSpPr/>
          <p:nvPr/>
        </p:nvSpPr>
        <p:spPr>
          <a:xfrm>
            <a:off x="365760" y="3607307"/>
            <a:ext cx="4389120" cy="320041"/>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Applied Programming for Data Science</a:t>
            </a:r>
          </a:p>
        </p:txBody>
      </p:sp>
      <p:sp>
        <p:nvSpPr>
          <p:cNvPr id="10" name="Shape 8"/>
          <p:cNvSpPr/>
          <p:nvPr/>
        </p:nvSpPr>
        <p:spPr>
          <a:xfrm>
            <a:off x="5029200" y="0"/>
            <a:ext cx="4114800" cy="5143500"/>
          </a:xfrm>
          <a:prstGeom prst="rect">
            <a:avLst/>
          </a:prstGeom>
          <a:solidFill>
            <a:srgbClr val="D8EAF5"/>
          </a:solidFill>
          <a:ln w="12700">
            <a:solidFill>
              <a:srgbClr val="D8EAF5"/>
            </a:solidFill>
            <a:prstDash val="solid"/>
          </a:ln>
        </p:spPr>
        <p:txBody>
          <a:bodyPr/>
          <a:lstStyle/>
          <a:p>
            <a:endParaRPr lang="en-NG"/>
          </a:p>
        </p:txBody>
      </p:sp>
      <p:sp>
        <p:nvSpPr>
          <p:cNvPr id="11" name="Shape 9"/>
          <p:cNvSpPr/>
          <p:nvPr/>
        </p:nvSpPr>
        <p:spPr>
          <a:xfrm>
            <a:off x="6108192" y="621792"/>
            <a:ext cx="219456" cy="219456"/>
          </a:xfrm>
          <a:prstGeom prst="ellipse">
            <a:avLst/>
          </a:prstGeom>
          <a:solidFill>
            <a:srgbClr val="4A90C4"/>
          </a:solidFill>
          <a:ln w="12700">
            <a:solidFill>
              <a:srgbClr val="4A90C4"/>
            </a:solidFill>
            <a:prstDash val="solid"/>
          </a:ln>
        </p:spPr>
        <p:txBody>
          <a:bodyPr/>
          <a:lstStyle/>
          <a:p>
            <a:endParaRPr lang="en-NG"/>
          </a:p>
        </p:txBody>
      </p:sp>
      <p:sp>
        <p:nvSpPr>
          <p:cNvPr id="12" name="Shape 10"/>
          <p:cNvSpPr/>
          <p:nvPr/>
        </p:nvSpPr>
        <p:spPr>
          <a:xfrm>
            <a:off x="7388352" y="987552"/>
            <a:ext cx="219456" cy="219456"/>
          </a:xfrm>
          <a:prstGeom prst="ellipse">
            <a:avLst/>
          </a:prstGeom>
          <a:solidFill>
            <a:srgbClr val="4A90C4"/>
          </a:solidFill>
          <a:ln w="12700">
            <a:solidFill>
              <a:srgbClr val="4A90C4"/>
            </a:solidFill>
            <a:prstDash val="solid"/>
          </a:ln>
        </p:spPr>
        <p:txBody>
          <a:bodyPr/>
          <a:lstStyle/>
          <a:p>
            <a:endParaRPr lang="en-NG"/>
          </a:p>
        </p:txBody>
      </p:sp>
      <p:sp>
        <p:nvSpPr>
          <p:cNvPr id="13" name="Shape 11"/>
          <p:cNvSpPr/>
          <p:nvPr/>
        </p:nvSpPr>
        <p:spPr>
          <a:xfrm>
            <a:off x="6748272" y="1810512"/>
            <a:ext cx="219456" cy="219456"/>
          </a:xfrm>
          <a:prstGeom prst="ellipse">
            <a:avLst/>
          </a:prstGeom>
          <a:solidFill>
            <a:srgbClr val="4A90C4"/>
          </a:solidFill>
          <a:ln w="12700">
            <a:solidFill>
              <a:srgbClr val="4A90C4"/>
            </a:solidFill>
            <a:prstDash val="solid"/>
          </a:ln>
        </p:spPr>
        <p:txBody>
          <a:bodyPr/>
          <a:lstStyle/>
          <a:p>
            <a:endParaRPr lang="en-NG"/>
          </a:p>
        </p:txBody>
      </p:sp>
      <p:sp>
        <p:nvSpPr>
          <p:cNvPr id="14" name="Shape 12"/>
          <p:cNvSpPr/>
          <p:nvPr/>
        </p:nvSpPr>
        <p:spPr>
          <a:xfrm>
            <a:off x="5559552" y="2450592"/>
            <a:ext cx="219456" cy="219456"/>
          </a:xfrm>
          <a:prstGeom prst="ellipse">
            <a:avLst/>
          </a:prstGeom>
          <a:solidFill>
            <a:srgbClr val="4A90C4"/>
          </a:solidFill>
          <a:ln w="12700">
            <a:solidFill>
              <a:srgbClr val="4A90C4"/>
            </a:solidFill>
            <a:prstDash val="solid"/>
          </a:ln>
        </p:spPr>
        <p:txBody>
          <a:bodyPr/>
          <a:lstStyle/>
          <a:p>
            <a:endParaRPr lang="en-NG"/>
          </a:p>
        </p:txBody>
      </p:sp>
      <p:sp>
        <p:nvSpPr>
          <p:cNvPr id="15" name="Shape 13"/>
          <p:cNvSpPr/>
          <p:nvPr/>
        </p:nvSpPr>
        <p:spPr>
          <a:xfrm>
            <a:off x="7936992" y="2176272"/>
            <a:ext cx="219456" cy="219456"/>
          </a:xfrm>
          <a:prstGeom prst="ellipse">
            <a:avLst/>
          </a:prstGeom>
          <a:solidFill>
            <a:srgbClr val="4A90C4"/>
          </a:solidFill>
          <a:ln w="12700">
            <a:solidFill>
              <a:srgbClr val="4A90C4"/>
            </a:solidFill>
            <a:prstDash val="solid"/>
          </a:ln>
        </p:spPr>
        <p:txBody>
          <a:bodyPr/>
          <a:lstStyle/>
          <a:p>
            <a:endParaRPr lang="en-NG"/>
          </a:p>
        </p:txBody>
      </p:sp>
      <p:sp>
        <p:nvSpPr>
          <p:cNvPr id="16" name="Shape 14"/>
          <p:cNvSpPr/>
          <p:nvPr/>
        </p:nvSpPr>
        <p:spPr>
          <a:xfrm>
            <a:off x="6291072" y="3182112"/>
            <a:ext cx="219456" cy="219456"/>
          </a:xfrm>
          <a:prstGeom prst="ellipse">
            <a:avLst/>
          </a:prstGeom>
          <a:solidFill>
            <a:srgbClr val="4A90C4"/>
          </a:solidFill>
          <a:ln w="12700">
            <a:solidFill>
              <a:srgbClr val="4A90C4"/>
            </a:solidFill>
            <a:prstDash val="solid"/>
          </a:ln>
        </p:spPr>
        <p:txBody>
          <a:bodyPr/>
          <a:lstStyle/>
          <a:p>
            <a:endParaRPr lang="en-NG"/>
          </a:p>
        </p:txBody>
      </p:sp>
      <p:sp>
        <p:nvSpPr>
          <p:cNvPr id="17" name="Shape 15"/>
          <p:cNvSpPr/>
          <p:nvPr/>
        </p:nvSpPr>
        <p:spPr>
          <a:xfrm>
            <a:off x="7571232" y="3547872"/>
            <a:ext cx="219456" cy="219456"/>
          </a:xfrm>
          <a:prstGeom prst="ellipse">
            <a:avLst/>
          </a:prstGeom>
          <a:solidFill>
            <a:srgbClr val="4A90C4"/>
          </a:solidFill>
          <a:ln w="12700">
            <a:solidFill>
              <a:srgbClr val="4A90C4"/>
            </a:solidFill>
            <a:prstDash val="solid"/>
          </a:ln>
        </p:spPr>
        <p:txBody>
          <a:bodyPr/>
          <a:lstStyle/>
          <a:p>
            <a:endParaRPr lang="en-NG"/>
          </a:p>
        </p:txBody>
      </p:sp>
      <p:sp>
        <p:nvSpPr>
          <p:cNvPr id="18" name="Shape 16"/>
          <p:cNvSpPr/>
          <p:nvPr/>
        </p:nvSpPr>
        <p:spPr>
          <a:xfrm>
            <a:off x="5833872" y="4005072"/>
            <a:ext cx="219456" cy="219456"/>
          </a:xfrm>
          <a:prstGeom prst="ellipse">
            <a:avLst/>
          </a:prstGeom>
          <a:solidFill>
            <a:srgbClr val="4A90C4"/>
          </a:solidFill>
          <a:ln w="12700">
            <a:solidFill>
              <a:srgbClr val="4A90C4"/>
            </a:solidFill>
            <a:prstDash val="solid"/>
          </a:ln>
        </p:spPr>
        <p:txBody>
          <a:bodyPr/>
          <a:lstStyle/>
          <a:p>
            <a:endParaRPr lang="en-NG"/>
          </a:p>
        </p:txBody>
      </p:sp>
      <p:sp>
        <p:nvSpPr>
          <p:cNvPr id="19" name="Shape 17"/>
          <p:cNvSpPr/>
          <p:nvPr/>
        </p:nvSpPr>
        <p:spPr>
          <a:xfrm>
            <a:off x="6217920" y="731520"/>
            <a:ext cx="640080" cy="1188720"/>
          </a:xfrm>
          <a:prstGeom prst="line">
            <a:avLst/>
          </a:prstGeom>
          <a:noFill/>
          <a:ln w="19050">
            <a:solidFill>
              <a:srgbClr val="4A90C4">
                <a:alpha val="60000"/>
              </a:srgbClr>
            </a:solidFill>
            <a:prstDash val="solid"/>
          </a:ln>
        </p:spPr>
        <p:txBody>
          <a:bodyPr/>
          <a:lstStyle/>
          <a:p>
            <a:endParaRPr lang="en-NG"/>
          </a:p>
        </p:txBody>
      </p:sp>
      <p:sp>
        <p:nvSpPr>
          <p:cNvPr id="20" name="Shape 18"/>
          <p:cNvSpPr/>
          <p:nvPr/>
        </p:nvSpPr>
        <p:spPr>
          <a:xfrm>
            <a:off x="7498080" y="1097280"/>
            <a:ext cx="0" cy="822960"/>
          </a:xfrm>
          <a:prstGeom prst="line">
            <a:avLst/>
          </a:prstGeom>
          <a:noFill/>
          <a:ln w="19050">
            <a:solidFill>
              <a:srgbClr val="4A90C4">
                <a:alpha val="60000"/>
              </a:srgbClr>
            </a:solidFill>
            <a:prstDash val="solid"/>
          </a:ln>
        </p:spPr>
        <p:txBody>
          <a:bodyPr/>
          <a:lstStyle/>
          <a:p>
            <a:endParaRPr lang="en-NG"/>
          </a:p>
        </p:txBody>
      </p:sp>
      <p:sp>
        <p:nvSpPr>
          <p:cNvPr id="21" name="Shape 19"/>
          <p:cNvSpPr/>
          <p:nvPr/>
        </p:nvSpPr>
        <p:spPr>
          <a:xfrm>
            <a:off x="6858000" y="1920240"/>
            <a:ext cx="0" cy="640080"/>
          </a:xfrm>
          <a:prstGeom prst="line">
            <a:avLst/>
          </a:prstGeom>
          <a:noFill/>
          <a:ln w="19050">
            <a:solidFill>
              <a:srgbClr val="4A90C4">
                <a:alpha val="60000"/>
              </a:srgbClr>
            </a:solidFill>
            <a:prstDash val="solid"/>
          </a:ln>
        </p:spPr>
        <p:txBody>
          <a:bodyPr/>
          <a:lstStyle/>
          <a:p>
            <a:endParaRPr lang="en-NG"/>
          </a:p>
        </p:txBody>
      </p:sp>
      <p:sp>
        <p:nvSpPr>
          <p:cNvPr id="22" name="Shape 20"/>
          <p:cNvSpPr/>
          <p:nvPr/>
        </p:nvSpPr>
        <p:spPr>
          <a:xfrm>
            <a:off x="6858000" y="1920240"/>
            <a:ext cx="1188720" cy="365760"/>
          </a:xfrm>
          <a:prstGeom prst="line">
            <a:avLst/>
          </a:prstGeom>
          <a:noFill/>
          <a:ln w="19050">
            <a:solidFill>
              <a:srgbClr val="4A90C4">
                <a:alpha val="60000"/>
              </a:srgbClr>
            </a:solidFill>
            <a:prstDash val="solid"/>
          </a:ln>
        </p:spPr>
        <p:txBody>
          <a:bodyPr/>
          <a:lstStyle/>
          <a:p>
            <a:endParaRPr lang="en-NG"/>
          </a:p>
        </p:txBody>
      </p:sp>
      <p:sp>
        <p:nvSpPr>
          <p:cNvPr id="23" name="Shape 21"/>
          <p:cNvSpPr/>
          <p:nvPr/>
        </p:nvSpPr>
        <p:spPr>
          <a:xfrm>
            <a:off x="6858000" y="1920240"/>
            <a:ext cx="0" cy="1371600"/>
          </a:xfrm>
          <a:prstGeom prst="line">
            <a:avLst/>
          </a:prstGeom>
          <a:noFill/>
          <a:ln w="19050">
            <a:solidFill>
              <a:srgbClr val="4A90C4">
                <a:alpha val="60000"/>
              </a:srgbClr>
            </a:solidFill>
            <a:prstDash val="solid"/>
          </a:ln>
        </p:spPr>
        <p:txBody>
          <a:bodyPr/>
          <a:lstStyle/>
          <a:p>
            <a:endParaRPr lang="en-NG"/>
          </a:p>
        </p:txBody>
      </p:sp>
      <p:sp>
        <p:nvSpPr>
          <p:cNvPr id="24" name="Shape 22"/>
          <p:cNvSpPr/>
          <p:nvPr/>
        </p:nvSpPr>
        <p:spPr>
          <a:xfrm>
            <a:off x="6400800" y="3291840"/>
            <a:ext cx="1280160" cy="365760"/>
          </a:xfrm>
          <a:prstGeom prst="line">
            <a:avLst/>
          </a:prstGeom>
          <a:noFill/>
          <a:ln w="19050">
            <a:solidFill>
              <a:srgbClr val="4A90C4">
                <a:alpha val="60000"/>
              </a:srgbClr>
            </a:solidFill>
            <a:prstDash val="solid"/>
          </a:ln>
        </p:spPr>
        <p:txBody>
          <a:bodyPr/>
          <a:lstStyle/>
          <a:p>
            <a:endParaRPr lang="en-NG"/>
          </a:p>
        </p:txBody>
      </p:sp>
      <p:sp>
        <p:nvSpPr>
          <p:cNvPr id="25" name="Shape 23"/>
          <p:cNvSpPr/>
          <p:nvPr/>
        </p:nvSpPr>
        <p:spPr>
          <a:xfrm>
            <a:off x="6400800" y="3291840"/>
            <a:ext cx="0" cy="822960"/>
          </a:xfrm>
          <a:prstGeom prst="line">
            <a:avLst/>
          </a:prstGeom>
          <a:noFill/>
          <a:ln w="19050">
            <a:solidFill>
              <a:srgbClr val="4A90C4">
                <a:alpha val="60000"/>
              </a:srgbClr>
            </a:solidFill>
            <a:prstDash val="solid"/>
          </a:ln>
        </p:spPr>
        <p:txBody>
          <a:bodyPr/>
          <a:lstStyle/>
          <a:p>
            <a:endParaRPr lang="en-NG"/>
          </a:p>
        </p:txBody>
      </p:sp>
      <p:sp>
        <p:nvSpPr>
          <p:cNvPr id="26" name="Text 24"/>
          <p:cNvSpPr/>
          <p:nvPr/>
        </p:nvSpPr>
        <p:spPr>
          <a:xfrm>
            <a:off x="5212080" y="4297680"/>
            <a:ext cx="3749040" cy="685800"/>
          </a:xfrm>
          <a:prstGeom prst="rect">
            <a:avLst/>
          </a:prstGeom>
          <a:noFill/>
          <a:ln/>
        </p:spPr>
        <p:txBody>
          <a:bodyPr wrap="square" rtlCol="0" anchor="ctr"/>
          <a:lstStyle/>
          <a:p>
            <a:pPr marL="0" indent="0" algn="ctr">
              <a:buNone/>
            </a:pPr>
            <a:r>
              <a:rPr lang="en-US" sz="1300" i="1" dirty="0">
                <a:solidFill>
                  <a:srgbClr val="4A90C4"/>
                </a:solidFill>
                <a:latin typeface="Calibri" pitchFamily="34" charset="0"/>
                <a:ea typeface="Calibri" pitchFamily="34" charset="-122"/>
                <a:cs typeface="Calibri" pitchFamily="34" charset="-120"/>
              </a:rPr>
              <a:t>Adult Census</a:t>
            </a:r>
            <a:endParaRPr lang="en-US" sz="1300" dirty="0"/>
          </a:p>
          <a:p>
            <a:pPr marL="0" indent="0" algn="ctr">
              <a:buNone/>
            </a:pPr>
            <a:r>
              <a:rPr lang="en-US" sz="1300" i="1" dirty="0">
                <a:solidFill>
                  <a:srgbClr val="4A90C4"/>
                </a:solidFill>
                <a:latin typeface="Calibri" pitchFamily="34" charset="0"/>
                <a:ea typeface="Calibri" pitchFamily="34" charset="-122"/>
                <a:cs typeface="Calibri" pitchFamily="34" charset="-120"/>
              </a:rPr>
              <a:t>Income Dataset</a:t>
            </a:r>
            <a:endParaRPr lang="en-US" sz="1300" dirty="0"/>
          </a:p>
        </p:txBody>
      </p:sp>
      <p:sp>
        <p:nvSpPr>
          <p:cNvPr id="27" name="Shape 25"/>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8" name="Text 26"/>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Shape 1"/>
          <p:cNvSpPr/>
          <p:nvPr/>
        </p:nvSpPr>
        <p:spPr>
          <a:xfrm>
            <a:off x="320040" y="1005840"/>
            <a:ext cx="3931920" cy="530352"/>
          </a:xfrm>
          <a:prstGeom prst="rect">
            <a:avLst/>
          </a:prstGeom>
          <a:solidFill>
            <a:srgbClr val="FFFFFF"/>
          </a:solidFill>
          <a:ln w="15240">
            <a:solidFill>
              <a:srgbClr val="4A90C4"/>
            </a:solidFill>
            <a:prstDash val="solid"/>
          </a:ln>
        </p:spPr>
        <p:txBody>
          <a:bodyPr/>
          <a:lstStyle/>
          <a:p>
            <a:endParaRPr lang="en-NG"/>
          </a:p>
        </p:txBody>
      </p:sp>
      <p:sp>
        <p:nvSpPr>
          <p:cNvPr id="4" name="Shape 2"/>
          <p:cNvSpPr/>
          <p:nvPr/>
        </p:nvSpPr>
        <p:spPr>
          <a:xfrm>
            <a:off x="320040" y="1005840"/>
            <a:ext cx="64008" cy="530352"/>
          </a:xfrm>
          <a:prstGeom prst="rect">
            <a:avLst/>
          </a:prstGeom>
          <a:solidFill>
            <a:srgbClr val="4A90C4"/>
          </a:solidFill>
          <a:ln w="12700">
            <a:solidFill>
              <a:srgbClr val="4A90C4"/>
            </a:solidFill>
            <a:prstDash val="solid"/>
          </a:ln>
        </p:spPr>
        <p:txBody>
          <a:bodyPr/>
          <a:lstStyle/>
          <a:p>
            <a:endParaRPr lang="en-NG"/>
          </a:p>
        </p:txBody>
      </p:sp>
      <p:sp>
        <p:nvSpPr>
          <p:cNvPr id="5" name="Text 3"/>
          <p:cNvSpPr/>
          <p:nvPr/>
        </p:nvSpPr>
        <p:spPr>
          <a:xfrm>
            <a:off x="457200" y="1005840"/>
            <a:ext cx="3749040" cy="53035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1. </a:t>
            </a:r>
            <a:r>
              <a:rPr lang="en-NG" sz="1400" dirty="0"/>
              <a:t>Project Overview</a:t>
            </a:r>
            <a:endParaRPr lang="en-US" sz="1400" dirty="0"/>
          </a:p>
        </p:txBody>
      </p:sp>
      <p:sp>
        <p:nvSpPr>
          <p:cNvPr id="6" name="Shape 4"/>
          <p:cNvSpPr/>
          <p:nvPr/>
        </p:nvSpPr>
        <p:spPr>
          <a:xfrm>
            <a:off x="320040" y="1627632"/>
            <a:ext cx="3931920" cy="530352"/>
          </a:xfrm>
          <a:prstGeom prst="rect">
            <a:avLst/>
          </a:prstGeom>
          <a:solidFill>
            <a:srgbClr val="FFFFFF"/>
          </a:solidFill>
          <a:ln w="15240">
            <a:solidFill>
              <a:srgbClr val="4A90C4"/>
            </a:solidFill>
            <a:prstDash val="solid"/>
          </a:ln>
        </p:spPr>
        <p:txBody>
          <a:bodyPr/>
          <a:lstStyle/>
          <a:p>
            <a:endParaRPr lang="en-NG"/>
          </a:p>
        </p:txBody>
      </p:sp>
      <p:sp>
        <p:nvSpPr>
          <p:cNvPr id="7" name="Shape 5"/>
          <p:cNvSpPr/>
          <p:nvPr/>
        </p:nvSpPr>
        <p:spPr>
          <a:xfrm>
            <a:off x="320040" y="1627632"/>
            <a:ext cx="64008" cy="530352"/>
          </a:xfrm>
          <a:prstGeom prst="rect">
            <a:avLst/>
          </a:prstGeom>
          <a:solidFill>
            <a:srgbClr val="4A90C4"/>
          </a:solidFill>
          <a:ln w="12700">
            <a:solidFill>
              <a:srgbClr val="4A90C4"/>
            </a:solidFill>
            <a:prstDash val="solid"/>
          </a:ln>
        </p:spPr>
        <p:txBody>
          <a:bodyPr/>
          <a:lstStyle/>
          <a:p>
            <a:endParaRPr lang="en-NG"/>
          </a:p>
        </p:txBody>
      </p:sp>
      <p:sp>
        <p:nvSpPr>
          <p:cNvPr id="8" name="Text 6"/>
          <p:cNvSpPr/>
          <p:nvPr/>
        </p:nvSpPr>
        <p:spPr>
          <a:xfrm>
            <a:off x="457200" y="1627632"/>
            <a:ext cx="3749040" cy="53035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2. </a:t>
            </a:r>
            <a:r>
              <a:rPr lang="en-NG" sz="1400" dirty="0"/>
              <a:t>Software Architecture</a:t>
            </a:r>
            <a:endParaRPr lang="en-US" sz="1400" dirty="0"/>
          </a:p>
        </p:txBody>
      </p:sp>
      <p:sp>
        <p:nvSpPr>
          <p:cNvPr id="9" name="Shape 7"/>
          <p:cNvSpPr/>
          <p:nvPr/>
        </p:nvSpPr>
        <p:spPr>
          <a:xfrm>
            <a:off x="320040" y="2249424"/>
            <a:ext cx="3931920" cy="530352"/>
          </a:xfrm>
          <a:prstGeom prst="rect">
            <a:avLst/>
          </a:prstGeom>
          <a:solidFill>
            <a:srgbClr val="FFFFFF"/>
          </a:solidFill>
          <a:ln w="15240">
            <a:solidFill>
              <a:srgbClr val="4A90C4"/>
            </a:solidFill>
            <a:prstDash val="solid"/>
          </a:ln>
        </p:spPr>
        <p:txBody>
          <a:bodyPr/>
          <a:lstStyle/>
          <a:p>
            <a:endParaRPr lang="en-NG"/>
          </a:p>
        </p:txBody>
      </p:sp>
      <p:sp>
        <p:nvSpPr>
          <p:cNvPr id="10" name="Shape 8"/>
          <p:cNvSpPr/>
          <p:nvPr/>
        </p:nvSpPr>
        <p:spPr>
          <a:xfrm>
            <a:off x="320040" y="2249424"/>
            <a:ext cx="64008" cy="530352"/>
          </a:xfrm>
          <a:prstGeom prst="rect">
            <a:avLst/>
          </a:prstGeom>
          <a:solidFill>
            <a:srgbClr val="4A90C4"/>
          </a:solidFill>
          <a:ln w="12700">
            <a:solidFill>
              <a:srgbClr val="4A90C4"/>
            </a:solidFill>
            <a:prstDash val="solid"/>
          </a:ln>
        </p:spPr>
        <p:txBody>
          <a:bodyPr/>
          <a:lstStyle/>
          <a:p>
            <a:endParaRPr lang="en-NG"/>
          </a:p>
        </p:txBody>
      </p:sp>
      <p:sp>
        <p:nvSpPr>
          <p:cNvPr id="11" name="Text 9"/>
          <p:cNvSpPr/>
          <p:nvPr/>
        </p:nvSpPr>
        <p:spPr>
          <a:xfrm>
            <a:off x="457200" y="2249424"/>
            <a:ext cx="3749040" cy="53035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3. </a:t>
            </a:r>
            <a:r>
              <a:rPr lang="en-NG" sz="1400" dirty="0"/>
              <a:t>Python Concepts Used</a:t>
            </a:r>
            <a:endParaRPr lang="en-US" sz="1400" dirty="0"/>
          </a:p>
        </p:txBody>
      </p:sp>
      <p:sp>
        <p:nvSpPr>
          <p:cNvPr id="12" name="Shape 10"/>
          <p:cNvSpPr/>
          <p:nvPr/>
        </p:nvSpPr>
        <p:spPr>
          <a:xfrm>
            <a:off x="320040" y="2871216"/>
            <a:ext cx="3931920" cy="530352"/>
          </a:xfrm>
          <a:prstGeom prst="rect">
            <a:avLst/>
          </a:prstGeom>
          <a:solidFill>
            <a:srgbClr val="FFFFFF"/>
          </a:solidFill>
          <a:ln w="15240">
            <a:solidFill>
              <a:srgbClr val="4A90C4"/>
            </a:solidFill>
            <a:prstDash val="solid"/>
          </a:ln>
        </p:spPr>
        <p:txBody>
          <a:bodyPr/>
          <a:lstStyle/>
          <a:p>
            <a:endParaRPr lang="en-NG"/>
          </a:p>
        </p:txBody>
      </p:sp>
      <p:sp>
        <p:nvSpPr>
          <p:cNvPr id="13" name="Shape 11"/>
          <p:cNvSpPr/>
          <p:nvPr/>
        </p:nvSpPr>
        <p:spPr>
          <a:xfrm>
            <a:off x="320040" y="2871216"/>
            <a:ext cx="64008" cy="530352"/>
          </a:xfrm>
          <a:prstGeom prst="rect">
            <a:avLst/>
          </a:prstGeom>
          <a:solidFill>
            <a:srgbClr val="4A90C4"/>
          </a:solidFill>
          <a:ln w="12700">
            <a:solidFill>
              <a:srgbClr val="4A90C4"/>
            </a:solidFill>
            <a:prstDash val="solid"/>
          </a:ln>
        </p:spPr>
        <p:txBody>
          <a:bodyPr/>
          <a:lstStyle/>
          <a:p>
            <a:endParaRPr lang="en-NG"/>
          </a:p>
        </p:txBody>
      </p:sp>
      <p:sp>
        <p:nvSpPr>
          <p:cNvPr id="14" name="Text 12"/>
          <p:cNvSpPr/>
          <p:nvPr/>
        </p:nvSpPr>
        <p:spPr>
          <a:xfrm>
            <a:off x="457200" y="2871216"/>
            <a:ext cx="3749040" cy="53035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4. </a:t>
            </a:r>
            <a:r>
              <a:rPr lang="en-NG" sz="1400" dirty="0"/>
              <a:t>Data Loading &amp; File Management</a:t>
            </a:r>
            <a:endParaRPr lang="en-US" sz="1400" dirty="0"/>
          </a:p>
        </p:txBody>
      </p:sp>
      <p:sp>
        <p:nvSpPr>
          <p:cNvPr id="15" name="Shape 13"/>
          <p:cNvSpPr/>
          <p:nvPr/>
        </p:nvSpPr>
        <p:spPr>
          <a:xfrm>
            <a:off x="320040" y="3549904"/>
            <a:ext cx="3931920" cy="530352"/>
          </a:xfrm>
          <a:prstGeom prst="rect">
            <a:avLst/>
          </a:prstGeom>
          <a:solidFill>
            <a:srgbClr val="FFFFFF"/>
          </a:solidFill>
          <a:ln w="15240">
            <a:solidFill>
              <a:srgbClr val="4A90C4"/>
            </a:solidFill>
            <a:prstDash val="solid"/>
          </a:ln>
        </p:spPr>
        <p:txBody>
          <a:bodyPr/>
          <a:lstStyle/>
          <a:p>
            <a:endParaRPr lang="en-NG"/>
          </a:p>
        </p:txBody>
      </p:sp>
      <p:sp>
        <p:nvSpPr>
          <p:cNvPr id="16" name="Shape 14"/>
          <p:cNvSpPr/>
          <p:nvPr/>
        </p:nvSpPr>
        <p:spPr>
          <a:xfrm>
            <a:off x="320040" y="3549904"/>
            <a:ext cx="64008" cy="530352"/>
          </a:xfrm>
          <a:prstGeom prst="rect">
            <a:avLst/>
          </a:prstGeom>
          <a:solidFill>
            <a:srgbClr val="4A90C4"/>
          </a:solidFill>
          <a:ln w="12700">
            <a:solidFill>
              <a:srgbClr val="4A90C4"/>
            </a:solidFill>
            <a:prstDash val="solid"/>
          </a:ln>
        </p:spPr>
        <p:txBody>
          <a:bodyPr/>
          <a:lstStyle/>
          <a:p>
            <a:endParaRPr lang="en-NG"/>
          </a:p>
        </p:txBody>
      </p:sp>
      <p:sp>
        <p:nvSpPr>
          <p:cNvPr id="17" name="Text 15"/>
          <p:cNvSpPr/>
          <p:nvPr/>
        </p:nvSpPr>
        <p:spPr>
          <a:xfrm>
            <a:off x="457200" y="3549904"/>
            <a:ext cx="3749040" cy="53035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5. </a:t>
            </a:r>
            <a:r>
              <a:rPr lang="en-NG" sz="1400" dirty="0"/>
              <a:t>Data Cleaning Pipeline</a:t>
            </a:r>
            <a:endParaRPr lang="en-US" sz="1400" dirty="0"/>
          </a:p>
        </p:txBody>
      </p:sp>
      <p:sp>
        <p:nvSpPr>
          <p:cNvPr id="18" name="Shape 16"/>
          <p:cNvSpPr/>
          <p:nvPr/>
        </p:nvSpPr>
        <p:spPr>
          <a:xfrm>
            <a:off x="4480560" y="1005840"/>
            <a:ext cx="3931920" cy="530352"/>
          </a:xfrm>
          <a:prstGeom prst="rect">
            <a:avLst/>
          </a:prstGeom>
          <a:solidFill>
            <a:srgbClr val="FFFFFF"/>
          </a:solidFill>
          <a:ln w="15240">
            <a:solidFill>
              <a:srgbClr val="4A90C4"/>
            </a:solidFill>
            <a:prstDash val="solid"/>
          </a:ln>
        </p:spPr>
        <p:txBody>
          <a:bodyPr/>
          <a:lstStyle/>
          <a:p>
            <a:endParaRPr lang="en-NG"/>
          </a:p>
        </p:txBody>
      </p:sp>
      <p:sp>
        <p:nvSpPr>
          <p:cNvPr id="19" name="Shape 17"/>
          <p:cNvSpPr/>
          <p:nvPr/>
        </p:nvSpPr>
        <p:spPr>
          <a:xfrm>
            <a:off x="4480560" y="1005840"/>
            <a:ext cx="64008" cy="530352"/>
          </a:xfrm>
          <a:prstGeom prst="rect">
            <a:avLst/>
          </a:prstGeom>
          <a:solidFill>
            <a:srgbClr val="4A90C4"/>
          </a:solidFill>
          <a:ln w="12700">
            <a:solidFill>
              <a:srgbClr val="4A90C4"/>
            </a:solidFill>
            <a:prstDash val="solid"/>
          </a:ln>
        </p:spPr>
        <p:txBody>
          <a:bodyPr/>
          <a:lstStyle/>
          <a:p>
            <a:endParaRPr lang="en-NG"/>
          </a:p>
        </p:txBody>
      </p:sp>
      <p:sp>
        <p:nvSpPr>
          <p:cNvPr id="20" name="Text 18"/>
          <p:cNvSpPr/>
          <p:nvPr/>
        </p:nvSpPr>
        <p:spPr>
          <a:xfrm>
            <a:off x="4617720" y="1005840"/>
            <a:ext cx="3749040" cy="53035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7. </a:t>
            </a:r>
            <a:r>
              <a:rPr lang="en-NG" sz="1400" dirty="0"/>
              <a:t>Feature Engineering Implementation</a:t>
            </a:r>
            <a:endParaRPr lang="en-US" sz="1400" dirty="0"/>
          </a:p>
        </p:txBody>
      </p:sp>
      <p:sp>
        <p:nvSpPr>
          <p:cNvPr id="21" name="Shape 19"/>
          <p:cNvSpPr/>
          <p:nvPr/>
        </p:nvSpPr>
        <p:spPr>
          <a:xfrm>
            <a:off x="4480560" y="1627632"/>
            <a:ext cx="3931920" cy="530352"/>
          </a:xfrm>
          <a:prstGeom prst="rect">
            <a:avLst/>
          </a:prstGeom>
          <a:solidFill>
            <a:srgbClr val="FFFFFF"/>
          </a:solidFill>
          <a:ln w="15240">
            <a:solidFill>
              <a:srgbClr val="4A90C4"/>
            </a:solidFill>
            <a:prstDash val="solid"/>
          </a:ln>
        </p:spPr>
        <p:txBody>
          <a:bodyPr/>
          <a:lstStyle/>
          <a:p>
            <a:endParaRPr lang="en-NG"/>
          </a:p>
        </p:txBody>
      </p:sp>
      <p:sp>
        <p:nvSpPr>
          <p:cNvPr id="22" name="Shape 20"/>
          <p:cNvSpPr/>
          <p:nvPr/>
        </p:nvSpPr>
        <p:spPr>
          <a:xfrm>
            <a:off x="4480560" y="1627632"/>
            <a:ext cx="64008" cy="530352"/>
          </a:xfrm>
          <a:prstGeom prst="rect">
            <a:avLst/>
          </a:prstGeom>
          <a:solidFill>
            <a:srgbClr val="4A90C4"/>
          </a:solidFill>
          <a:ln w="12700">
            <a:solidFill>
              <a:srgbClr val="4A90C4"/>
            </a:solidFill>
            <a:prstDash val="solid"/>
          </a:ln>
        </p:spPr>
        <p:txBody>
          <a:bodyPr/>
          <a:lstStyle/>
          <a:p>
            <a:endParaRPr lang="en-NG"/>
          </a:p>
        </p:txBody>
      </p:sp>
      <p:sp>
        <p:nvSpPr>
          <p:cNvPr id="23" name="Text 21"/>
          <p:cNvSpPr/>
          <p:nvPr/>
        </p:nvSpPr>
        <p:spPr>
          <a:xfrm>
            <a:off x="4617720" y="1627632"/>
            <a:ext cx="3749040" cy="53035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8. </a:t>
            </a:r>
            <a:r>
              <a:rPr lang="en-NG" sz="1400" dirty="0"/>
              <a:t>Model Training Pipeline</a:t>
            </a:r>
            <a:endParaRPr lang="en-US" sz="1400" dirty="0"/>
          </a:p>
        </p:txBody>
      </p:sp>
      <p:sp>
        <p:nvSpPr>
          <p:cNvPr id="24" name="Shape 22"/>
          <p:cNvSpPr/>
          <p:nvPr/>
        </p:nvSpPr>
        <p:spPr>
          <a:xfrm>
            <a:off x="4480560" y="2249424"/>
            <a:ext cx="3931920" cy="530352"/>
          </a:xfrm>
          <a:prstGeom prst="rect">
            <a:avLst/>
          </a:prstGeom>
          <a:solidFill>
            <a:srgbClr val="FFFFFF"/>
          </a:solidFill>
          <a:ln w="15240">
            <a:solidFill>
              <a:srgbClr val="4A90C4"/>
            </a:solidFill>
            <a:prstDash val="solid"/>
          </a:ln>
        </p:spPr>
        <p:txBody>
          <a:bodyPr/>
          <a:lstStyle/>
          <a:p>
            <a:endParaRPr lang="en-NG"/>
          </a:p>
        </p:txBody>
      </p:sp>
      <p:sp>
        <p:nvSpPr>
          <p:cNvPr id="25" name="Shape 23"/>
          <p:cNvSpPr/>
          <p:nvPr/>
        </p:nvSpPr>
        <p:spPr>
          <a:xfrm>
            <a:off x="4480560" y="2249424"/>
            <a:ext cx="64008" cy="530352"/>
          </a:xfrm>
          <a:prstGeom prst="rect">
            <a:avLst/>
          </a:prstGeom>
          <a:solidFill>
            <a:srgbClr val="4A90C4"/>
          </a:solidFill>
          <a:ln w="12700">
            <a:solidFill>
              <a:srgbClr val="4A90C4"/>
            </a:solidFill>
            <a:prstDash val="solid"/>
          </a:ln>
        </p:spPr>
        <p:txBody>
          <a:bodyPr/>
          <a:lstStyle/>
          <a:p>
            <a:endParaRPr lang="en-NG"/>
          </a:p>
        </p:txBody>
      </p:sp>
      <p:sp>
        <p:nvSpPr>
          <p:cNvPr id="26" name="Text 24"/>
          <p:cNvSpPr/>
          <p:nvPr/>
        </p:nvSpPr>
        <p:spPr>
          <a:xfrm>
            <a:off x="4617720" y="2249424"/>
            <a:ext cx="3749040" cy="53035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9. </a:t>
            </a:r>
            <a:r>
              <a:rPr lang="en-NG" sz="1400" dirty="0"/>
              <a:t>Hyperparameter Tuning </a:t>
            </a:r>
            <a:endParaRPr lang="en-US" sz="1400" dirty="0"/>
          </a:p>
        </p:txBody>
      </p:sp>
      <p:sp>
        <p:nvSpPr>
          <p:cNvPr id="27" name="Shape 25"/>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8" name="Text 26"/>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2" name="Shape 22">
            <a:extLst>
              <a:ext uri="{FF2B5EF4-FFF2-40B4-BE49-F238E27FC236}">
                <a16:creationId xmlns:a16="http://schemas.microsoft.com/office/drawing/2014/main" id="{17659F65-19B3-6EF2-8421-A81087530B00}"/>
              </a:ext>
            </a:extLst>
          </p:cNvPr>
          <p:cNvSpPr/>
          <p:nvPr/>
        </p:nvSpPr>
        <p:spPr>
          <a:xfrm>
            <a:off x="4480560" y="2871216"/>
            <a:ext cx="3931920" cy="530352"/>
          </a:xfrm>
          <a:prstGeom prst="rect">
            <a:avLst/>
          </a:prstGeom>
          <a:solidFill>
            <a:srgbClr val="FFFFFF"/>
          </a:solidFill>
          <a:ln w="15240">
            <a:solidFill>
              <a:srgbClr val="4A90C4"/>
            </a:solidFill>
            <a:prstDash val="solid"/>
          </a:ln>
        </p:spPr>
        <p:txBody>
          <a:bodyPr/>
          <a:lstStyle/>
          <a:p>
            <a:endParaRPr lang="en-NG" dirty="0"/>
          </a:p>
        </p:txBody>
      </p:sp>
      <p:sp>
        <p:nvSpPr>
          <p:cNvPr id="33" name="Shape 23">
            <a:extLst>
              <a:ext uri="{FF2B5EF4-FFF2-40B4-BE49-F238E27FC236}">
                <a16:creationId xmlns:a16="http://schemas.microsoft.com/office/drawing/2014/main" id="{4F6F30BE-B3E7-FC22-3150-21E04D5FBD70}"/>
              </a:ext>
            </a:extLst>
          </p:cNvPr>
          <p:cNvSpPr/>
          <p:nvPr/>
        </p:nvSpPr>
        <p:spPr>
          <a:xfrm>
            <a:off x="4480560" y="2871216"/>
            <a:ext cx="64008" cy="530352"/>
          </a:xfrm>
          <a:prstGeom prst="rect">
            <a:avLst/>
          </a:prstGeom>
          <a:solidFill>
            <a:srgbClr val="4A90C4"/>
          </a:solidFill>
          <a:ln w="12700">
            <a:solidFill>
              <a:srgbClr val="4A90C4"/>
            </a:solidFill>
            <a:prstDash val="solid"/>
          </a:ln>
        </p:spPr>
        <p:txBody>
          <a:bodyPr/>
          <a:lstStyle/>
          <a:p>
            <a:endParaRPr lang="en-NG"/>
          </a:p>
        </p:txBody>
      </p:sp>
      <p:sp>
        <p:nvSpPr>
          <p:cNvPr id="34" name="Text 24">
            <a:extLst>
              <a:ext uri="{FF2B5EF4-FFF2-40B4-BE49-F238E27FC236}">
                <a16:creationId xmlns:a16="http://schemas.microsoft.com/office/drawing/2014/main" id="{DAAD320B-81F4-9244-222D-1549EC28E47A}"/>
              </a:ext>
            </a:extLst>
          </p:cNvPr>
          <p:cNvSpPr/>
          <p:nvPr/>
        </p:nvSpPr>
        <p:spPr>
          <a:xfrm>
            <a:off x="4617720" y="2871216"/>
            <a:ext cx="3749040" cy="53035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10.Model  </a:t>
            </a:r>
            <a:r>
              <a:rPr lang="en-NG" sz="1400" dirty="0"/>
              <a:t>Evaluation</a:t>
            </a:r>
            <a:endParaRPr lang="en-US" sz="1400" dirty="0"/>
          </a:p>
        </p:txBody>
      </p:sp>
      <p:sp>
        <p:nvSpPr>
          <p:cNvPr id="35" name="Shape 22">
            <a:extLst>
              <a:ext uri="{FF2B5EF4-FFF2-40B4-BE49-F238E27FC236}">
                <a16:creationId xmlns:a16="http://schemas.microsoft.com/office/drawing/2014/main" id="{325EB29F-5EFF-A1BF-DF67-04DBD34E9E45}"/>
              </a:ext>
            </a:extLst>
          </p:cNvPr>
          <p:cNvSpPr/>
          <p:nvPr/>
        </p:nvSpPr>
        <p:spPr>
          <a:xfrm>
            <a:off x="4478020" y="3525012"/>
            <a:ext cx="3931920" cy="530352"/>
          </a:xfrm>
          <a:prstGeom prst="rect">
            <a:avLst/>
          </a:prstGeom>
          <a:solidFill>
            <a:srgbClr val="FFFFFF"/>
          </a:solidFill>
          <a:ln w="15240">
            <a:solidFill>
              <a:srgbClr val="4A90C4"/>
            </a:solidFill>
            <a:prstDash val="solid"/>
          </a:ln>
        </p:spPr>
        <p:txBody>
          <a:bodyPr/>
          <a:lstStyle/>
          <a:p>
            <a:endParaRPr lang="en-NG" dirty="0"/>
          </a:p>
        </p:txBody>
      </p:sp>
      <p:sp>
        <p:nvSpPr>
          <p:cNvPr id="36" name="Shape 23">
            <a:extLst>
              <a:ext uri="{FF2B5EF4-FFF2-40B4-BE49-F238E27FC236}">
                <a16:creationId xmlns:a16="http://schemas.microsoft.com/office/drawing/2014/main" id="{7C1C4F64-3DCF-A7AD-FFB5-8029F6590611}"/>
              </a:ext>
            </a:extLst>
          </p:cNvPr>
          <p:cNvSpPr/>
          <p:nvPr/>
        </p:nvSpPr>
        <p:spPr>
          <a:xfrm>
            <a:off x="4478020" y="3525012"/>
            <a:ext cx="64008" cy="530352"/>
          </a:xfrm>
          <a:prstGeom prst="rect">
            <a:avLst/>
          </a:prstGeom>
          <a:solidFill>
            <a:srgbClr val="4A90C4"/>
          </a:solidFill>
          <a:ln w="12700">
            <a:solidFill>
              <a:srgbClr val="4A90C4"/>
            </a:solidFill>
            <a:prstDash val="solid"/>
          </a:ln>
        </p:spPr>
        <p:txBody>
          <a:bodyPr/>
          <a:lstStyle/>
          <a:p>
            <a:endParaRPr lang="en-NG"/>
          </a:p>
        </p:txBody>
      </p:sp>
      <p:sp>
        <p:nvSpPr>
          <p:cNvPr id="37" name="Text 24">
            <a:extLst>
              <a:ext uri="{FF2B5EF4-FFF2-40B4-BE49-F238E27FC236}">
                <a16:creationId xmlns:a16="http://schemas.microsoft.com/office/drawing/2014/main" id="{3CA00D94-66B7-9968-B3E6-7851EB1E0310}"/>
              </a:ext>
            </a:extLst>
          </p:cNvPr>
          <p:cNvSpPr/>
          <p:nvPr/>
        </p:nvSpPr>
        <p:spPr>
          <a:xfrm>
            <a:off x="4615180" y="3525012"/>
            <a:ext cx="3749040" cy="530352"/>
          </a:xfrm>
          <a:prstGeom prst="rect">
            <a:avLst/>
          </a:prstGeom>
          <a:noFill/>
          <a:ln/>
        </p:spPr>
        <p:txBody>
          <a:bodyPr wrap="square" lIns="0" tIns="0" rIns="0" bIns="0" rtlCol="0" anchor="ctr"/>
          <a:lstStyle/>
          <a:p>
            <a:r>
              <a:rPr lang="en-NG" sz="1400" dirty="0"/>
              <a:t>11. Results and Reproducibility</a:t>
            </a:r>
            <a:endParaRPr lang="en-US" sz="1400" dirty="0"/>
          </a:p>
        </p:txBody>
      </p:sp>
      <p:sp>
        <p:nvSpPr>
          <p:cNvPr id="42" name="Shape 13">
            <a:extLst>
              <a:ext uri="{FF2B5EF4-FFF2-40B4-BE49-F238E27FC236}">
                <a16:creationId xmlns:a16="http://schemas.microsoft.com/office/drawing/2014/main" id="{C9401FED-1A55-CDF3-CCAD-6014A3152EF5}"/>
              </a:ext>
            </a:extLst>
          </p:cNvPr>
          <p:cNvSpPr/>
          <p:nvPr/>
        </p:nvSpPr>
        <p:spPr>
          <a:xfrm>
            <a:off x="317500" y="4203700"/>
            <a:ext cx="3931920" cy="530352"/>
          </a:xfrm>
          <a:prstGeom prst="rect">
            <a:avLst/>
          </a:prstGeom>
          <a:solidFill>
            <a:srgbClr val="FFFFFF"/>
          </a:solidFill>
          <a:ln w="15240">
            <a:solidFill>
              <a:srgbClr val="4A90C4"/>
            </a:solidFill>
            <a:prstDash val="solid"/>
          </a:ln>
        </p:spPr>
        <p:txBody>
          <a:bodyPr/>
          <a:lstStyle/>
          <a:p>
            <a:endParaRPr lang="en-NG"/>
          </a:p>
        </p:txBody>
      </p:sp>
      <p:sp>
        <p:nvSpPr>
          <p:cNvPr id="43" name="Shape 14">
            <a:extLst>
              <a:ext uri="{FF2B5EF4-FFF2-40B4-BE49-F238E27FC236}">
                <a16:creationId xmlns:a16="http://schemas.microsoft.com/office/drawing/2014/main" id="{0E965AF9-073F-D7EC-FA62-D14B24C50C77}"/>
              </a:ext>
            </a:extLst>
          </p:cNvPr>
          <p:cNvSpPr/>
          <p:nvPr/>
        </p:nvSpPr>
        <p:spPr>
          <a:xfrm>
            <a:off x="317500" y="4203700"/>
            <a:ext cx="64008" cy="530352"/>
          </a:xfrm>
          <a:prstGeom prst="rect">
            <a:avLst/>
          </a:prstGeom>
          <a:solidFill>
            <a:srgbClr val="4A90C4"/>
          </a:solidFill>
          <a:ln w="12700">
            <a:solidFill>
              <a:srgbClr val="4A90C4"/>
            </a:solidFill>
            <a:prstDash val="solid"/>
          </a:ln>
        </p:spPr>
        <p:txBody>
          <a:bodyPr/>
          <a:lstStyle/>
          <a:p>
            <a:endParaRPr lang="en-NG"/>
          </a:p>
        </p:txBody>
      </p:sp>
      <p:sp>
        <p:nvSpPr>
          <p:cNvPr id="44" name="Text 15">
            <a:extLst>
              <a:ext uri="{FF2B5EF4-FFF2-40B4-BE49-F238E27FC236}">
                <a16:creationId xmlns:a16="http://schemas.microsoft.com/office/drawing/2014/main" id="{8C27A196-C015-BFD5-BFFC-8D33C8F58EEB}"/>
              </a:ext>
            </a:extLst>
          </p:cNvPr>
          <p:cNvSpPr/>
          <p:nvPr/>
        </p:nvSpPr>
        <p:spPr>
          <a:xfrm>
            <a:off x="454660" y="4203700"/>
            <a:ext cx="3749040" cy="53035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6. </a:t>
            </a:r>
            <a:r>
              <a:rPr lang="en-NG" sz="1400" dirty="0"/>
              <a:t>Object-Oriented Programming</a:t>
            </a:r>
            <a:endParaRPr lang="en-US" sz="1400" dirty="0"/>
          </a:p>
        </p:txBody>
      </p:sp>
      <p:sp>
        <p:nvSpPr>
          <p:cNvPr id="45" name="Shape 22">
            <a:extLst>
              <a:ext uri="{FF2B5EF4-FFF2-40B4-BE49-F238E27FC236}">
                <a16:creationId xmlns:a16="http://schemas.microsoft.com/office/drawing/2014/main" id="{E3A49285-A000-ED09-88CB-2526149B4ED8}"/>
              </a:ext>
            </a:extLst>
          </p:cNvPr>
          <p:cNvSpPr/>
          <p:nvPr/>
        </p:nvSpPr>
        <p:spPr>
          <a:xfrm>
            <a:off x="4478020" y="4203700"/>
            <a:ext cx="3931920" cy="530352"/>
          </a:xfrm>
          <a:prstGeom prst="rect">
            <a:avLst/>
          </a:prstGeom>
          <a:solidFill>
            <a:srgbClr val="FFFFFF"/>
          </a:solidFill>
          <a:ln w="15240">
            <a:solidFill>
              <a:srgbClr val="4A90C4"/>
            </a:solidFill>
            <a:prstDash val="solid"/>
          </a:ln>
        </p:spPr>
        <p:txBody>
          <a:bodyPr/>
          <a:lstStyle/>
          <a:p>
            <a:endParaRPr lang="en-NG" dirty="0"/>
          </a:p>
        </p:txBody>
      </p:sp>
      <p:sp>
        <p:nvSpPr>
          <p:cNvPr id="46" name="Shape 23">
            <a:extLst>
              <a:ext uri="{FF2B5EF4-FFF2-40B4-BE49-F238E27FC236}">
                <a16:creationId xmlns:a16="http://schemas.microsoft.com/office/drawing/2014/main" id="{ADF311F1-9968-CB1A-7AC9-1ABD930C0921}"/>
              </a:ext>
            </a:extLst>
          </p:cNvPr>
          <p:cNvSpPr/>
          <p:nvPr/>
        </p:nvSpPr>
        <p:spPr>
          <a:xfrm>
            <a:off x="4478020" y="4203700"/>
            <a:ext cx="64008" cy="530352"/>
          </a:xfrm>
          <a:prstGeom prst="rect">
            <a:avLst/>
          </a:prstGeom>
          <a:solidFill>
            <a:srgbClr val="4A90C4"/>
          </a:solidFill>
          <a:ln w="12700">
            <a:solidFill>
              <a:srgbClr val="4A90C4"/>
            </a:solidFill>
            <a:prstDash val="solid"/>
          </a:ln>
        </p:spPr>
        <p:txBody>
          <a:bodyPr/>
          <a:lstStyle/>
          <a:p>
            <a:endParaRPr lang="en-NG"/>
          </a:p>
        </p:txBody>
      </p:sp>
      <p:sp>
        <p:nvSpPr>
          <p:cNvPr id="47" name="Text 24">
            <a:extLst>
              <a:ext uri="{FF2B5EF4-FFF2-40B4-BE49-F238E27FC236}">
                <a16:creationId xmlns:a16="http://schemas.microsoft.com/office/drawing/2014/main" id="{30374909-9E5A-93EF-1F60-0A3CC386A634}"/>
              </a:ext>
            </a:extLst>
          </p:cNvPr>
          <p:cNvSpPr/>
          <p:nvPr/>
        </p:nvSpPr>
        <p:spPr>
          <a:xfrm>
            <a:off x="4615180" y="4203700"/>
            <a:ext cx="3749040" cy="530352"/>
          </a:xfrm>
          <a:prstGeom prst="rect">
            <a:avLst/>
          </a:prstGeom>
          <a:noFill/>
          <a:ln/>
        </p:spPr>
        <p:txBody>
          <a:bodyPr wrap="square" lIns="0" tIns="0" rIns="0" bIns="0" rtlCol="0" anchor="ctr"/>
          <a:lstStyle/>
          <a:p>
            <a:r>
              <a:rPr lang="en-NG" sz="1400" dirty="0"/>
              <a:t>12. Challenges, Lessons Learned &amp; Conclusion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p:cNvSpPr/>
          <p:nvPr/>
        </p:nvSpPr>
        <p:spPr>
          <a:xfrm>
            <a:off x="914400" y="1828800"/>
            <a:ext cx="7315200" cy="1097280"/>
          </a:xfrm>
          <a:prstGeom prst="rect">
            <a:avLst/>
          </a:prstGeom>
          <a:noFill/>
          <a:ln/>
        </p:spPr>
        <p:txBody>
          <a:bodyPr wrap="square" rtlCol="0" anchor="ctr"/>
          <a:lstStyle/>
          <a:p>
            <a:r>
              <a:rPr lang="en-US" sz="3600" b="1" dirty="0">
                <a:solidFill>
                  <a:srgbClr val="2D2D2D"/>
                </a:solidFill>
                <a:latin typeface="Calibri" pitchFamily="34" charset="0"/>
                <a:ea typeface="Calibri" pitchFamily="34" charset="-122"/>
                <a:cs typeface="Calibri" pitchFamily="34" charset="-120"/>
              </a:rPr>
              <a:t>1. </a:t>
            </a:r>
            <a:r>
              <a:rPr lang="en-NG" sz="3600" b="1" dirty="0"/>
              <a:t>Project Overview</a:t>
            </a:r>
            <a:endParaRPr lang="en-US" sz="3600" b="1" dirty="0"/>
          </a:p>
        </p:txBody>
      </p:sp>
      <p:sp>
        <p:nvSpPr>
          <p:cNvPr id="6" name="Shape 4"/>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r>
              <a:rPr lang="en-US" sz="2800" dirty="0">
                <a:solidFill>
                  <a:srgbClr val="555555"/>
                </a:solidFill>
                <a:latin typeface="Calibri" pitchFamily="34" charset="0"/>
                <a:ea typeface="Calibri" pitchFamily="34" charset="-122"/>
                <a:cs typeface="Calibri" pitchFamily="34" charset="-120"/>
              </a:rPr>
              <a:t>Applied Programming for Data Science</a:t>
            </a:r>
          </a:p>
        </p:txBody>
      </p:sp>
      <p:sp>
        <p:nvSpPr>
          <p:cNvPr id="3" name="Text 1"/>
          <p:cNvSpPr/>
          <p:nvPr/>
        </p:nvSpPr>
        <p:spPr>
          <a:xfrm>
            <a:off x="365760" y="621792"/>
            <a:ext cx="8412480" cy="292608"/>
          </a:xfrm>
          <a:prstGeom prst="rect">
            <a:avLst/>
          </a:prstGeom>
          <a:noFill/>
          <a:ln/>
        </p:spPr>
        <p:txBody>
          <a:bodyPr wrap="square" rtlCol="0" anchor="ctr"/>
          <a:lstStyle/>
          <a:p>
            <a:pPr marL="0" indent="0">
              <a:buNone/>
            </a:pPr>
            <a:r>
              <a:rPr lang="en-US" sz="1500" dirty="0">
                <a:solidFill>
                  <a:schemeClr val="accent1"/>
                </a:solidFill>
                <a:latin typeface="Calibri" pitchFamily="34" charset="0"/>
                <a:ea typeface="Calibri" pitchFamily="34" charset="-122"/>
                <a:cs typeface="Calibri" pitchFamily="34" charset="-120"/>
              </a:rPr>
              <a:t>Project Overview</a:t>
            </a:r>
            <a:endParaRPr lang="en-US" sz="1500" dirty="0">
              <a:solidFill>
                <a:schemeClr val="accent1"/>
              </a:solidFill>
            </a:endParaRPr>
          </a:p>
        </p:txBody>
      </p:sp>
      <p:sp>
        <p:nvSpPr>
          <p:cNvPr id="4" name="Shape 2"/>
          <p:cNvSpPr/>
          <p:nvPr/>
        </p:nvSpPr>
        <p:spPr>
          <a:xfrm>
            <a:off x="320040" y="1005840"/>
            <a:ext cx="4114800" cy="3749040"/>
          </a:xfrm>
          <a:prstGeom prst="rect">
            <a:avLst/>
          </a:prstGeom>
          <a:solidFill>
            <a:srgbClr val="F5F8FA"/>
          </a:solidFill>
          <a:ln w="8890">
            <a:solidFill>
              <a:srgbClr val="CCCCCC"/>
            </a:solidFill>
            <a:prstDash val="solid"/>
          </a:ln>
        </p:spPr>
        <p:txBody>
          <a:bodyPr/>
          <a:lstStyle/>
          <a:p>
            <a:endParaRPr lang="en-NG"/>
          </a:p>
        </p:txBody>
      </p:sp>
      <p:sp>
        <p:nvSpPr>
          <p:cNvPr id="5" name="Text 3"/>
          <p:cNvSpPr/>
          <p:nvPr/>
        </p:nvSpPr>
        <p:spPr>
          <a:xfrm>
            <a:off x="457200" y="1097280"/>
            <a:ext cx="3840480" cy="365760"/>
          </a:xfrm>
          <a:prstGeom prst="rect">
            <a:avLst/>
          </a:prstGeom>
          <a:noFill/>
          <a:ln/>
        </p:spPr>
        <p:txBody>
          <a:bodyPr wrap="square" rtlCol="0" anchor="ctr"/>
          <a:lstStyle/>
          <a:p>
            <a:r>
              <a:rPr lang="en-NG" sz="1600" dirty="0">
                <a:solidFill>
                  <a:schemeClr val="accent1"/>
                </a:solidFill>
              </a:rPr>
              <a:t>Adult Income Classification</a:t>
            </a:r>
            <a:endParaRPr lang="en-US" sz="1500" dirty="0">
              <a:solidFill>
                <a:schemeClr val="accent1"/>
              </a:solidFill>
            </a:endParaRPr>
          </a:p>
        </p:txBody>
      </p:sp>
      <p:sp>
        <p:nvSpPr>
          <p:cNvPr id="6" name="Text 4"/>
          <p:cNvSpPr/>
          <p:nvPr/>
        </p:nvSpPr>
        <p:spPr>
          <a:xfrm>
            <a:off x="457200" y="1508760"/>
            <a:ext cx="3840480" cy="3246120"/>
          </a:xfrm>
          <a:prstGeom prst="rect">
            <a:avLst/>
          </a:prstGeom>
          <a:noFill/>
          <a:ln/>
        </p:spPr>
        <p:txBody>
          <a:bodyPr wrap="square" rtlCol="0" anchor="t"/>
          <a:lstStyle/>
          <a:p>
            <a:r>
              <a:rPr lang="en-NG" sz="1400" b="1" dirty="0"/>
              <a:t>Problem Statement</a:t>
            </a:r>
          </a:p>
          <a:p>
            <a:r>
              <a:rPr lang="en-NG" sz="1400" dirty="0"/>
              <a:t>This is a binary classification problem. The objective is to predict whether a person's income exceeds $50,000 per year using demographic and socioeconomic information?</a:t>
            </a:r>
          </a:p>
          <a:p>
            <a:endParaRPr lang="en-NG" sz="1400" dirty="0"/>
          </a:p>
          <a:p>
            <a:endParaRPr lang="en-NG" sz="1400" dirty="0"/>
          </a:p>
          <a:p>
            <a:pPr marL="285750" indent="-285750">
              <a:buFont typeface="Arial" panose="020B0604020202020204" pitchFamily="34" charset="0"/>
              <a:buChar char="•"/>
            </a:pPr>
            <a:r>
              <a:rPr lang="en-NG" sz="1400" dirty="0"/>
              <a:t>Predict income category (&gt;50K or ≤50K) </a:t>
            </a:r>
          </a:p>
          <a:p>
            <a:pPr marL="285750" indent="-285750">
              <a:buFont typeface="Arial" panose="020B0604020202020204" pitchFamily="34" charset="0"/>
              <a:buChar char="•"/>
            </a:pPr>
            <a:r>
              <a:rPr lang="en-NG" sz="1400" dirty="0"/>
              <a:t>Built entirely in Python </a:t>
            </a:r>
          </a:p>
          <a:p>
            <a:pPr marL="285750" indent="-285750">
              <a:buFont typeface="Arial" panose="020B0604020202020204" pitchFamily="34" charset="0"/>
              <a:buChar char="•"/>
            </a:pPr>
            <a:r>
              <a:rPr lang="en-NG" sz="1400" dirty="0"/>
              <a:t>End-to-end data science pipeline </a:t>
            </a:r>
          </a:p>
          <a:p>
            <a:pPr marL="285750" indent="-285750">
              <a:buFont typeface="Arial" panose="020B0604020202020204" pitchFamily="34" charset="0"/>
              <a:buChar char="•"/>
            </a:pPr>
            <a:r>
              <a:rPr lang="en-NG" sz="1400" dirty="0"/>
              <a:t>Reproducible and modular implementation</a:t>
            </a:r>
          </a:p>
        </p:txBody>
      </p:sp>
      <p:sp>
        <p:nvSpPr>
          <p:cNvPr id="20" name="Shape 18"/>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1" name="Text 19"/>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pic>
        <p:nvPicPr>
          <p:cNvPr id="8" name="Picture 7">
            <a:extLst>
              <a:ext uri="{FF2B5EF4-FFF2-40B4-BE49-F238E27FC236}">
                <a16:creationId xmlns:a16="http://schemas.microsoft.com/office/drawing/2014/main" id="{77258109-46E4-D896-2163-D1260E80B19B}"/>
              </a:ext>
            </a:extLst>
          </p:cNvPr>
          <p:cNvPicPr>
            <a:picLocks noChangeAspect="1"/>
          </p:cNvPicPr>
          <p:nvPr/>
        </p:nvPicPr>
        <p:blipFill>
          <a:blip r:embed="rId3"/>
          <a:stretch>
            <a:fillRect/>
          </a:stretch>
        </p:blipFill>
        <p:spPr>
          <a:xfrm>
            <a:off x="4572000" y="1639881"/>
            <a:ext cx="4251960" cy="23320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D4A7A-2C52-02FF-CDC0-56EF006C52D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00893EF-AC25-F666-4A11-898963D91508}"/>
              </a:ext>
            </a:extLst>
          </p:cNvPr>
          <p:cNvSpPr/>
          <p:nvPr/>
        </p:nvSpPr>
        <p:spPr>
          <a:xfrm>
            <a:off x="365760" y="137160"/>
            <a:ext cx="8412480" cy="502920"/>
          </a:xfrm>
          <a:prstGeom prst="rect">
            <a:avLst/>
          </a:prstGeom>
          <a:noFill/>
          <a:ln/>
        </p:spPr>
        <p:txBody>
          <a:bodyPr wrap="square" rtlCol="0" anchor="ctr"/>
          <a:lstStyle/>
          <a:p>
            <a:r>
              <a:rPr lang="en-US" sz="2400" dirty="0">
                <a:solidFill>
                  <a:srgbClr val="555555"/>
                </a:solidFill>
                <a:latin typeface="Calibri" pitchFamily="34" charset="0"/>
                <a:ea typeface="Calibri" pitchFamily="34" charset="-122"/>
                <a:cs typeface="Calibri" pitchFamily="34" charset="-120"/>
              </a:rPr>
              <a:t>Applied Programming for Data Science</a:t>
            </a:r>
          </a:p>
        </p:txBody>
      </p:sp>
      <p:sp>
        <p:nvSpPr>
          <p:cNvPr id="3" name="Text 1">
            <a:extLst>
              <a:ext uri="{FF2B5EF4-FFF2-40B4-BE49-F238E27FC236}">
                <a16:creationId xmlns:a16="http://schemas.microsoft.com/office/drawing/2014/main" id="{1E5166B4-8FB9-CDDD-C4AD-E724957527A6}"/>
              </a:ext>
            </a:extLst>
          </p:cNvPr>
          <p:cNvSpPr/>
          <p:nvPr/>
        </p:nvSpPr>
        <p:spPr>
          <a:xfrm>
            <a:off x="365760" y="621792"/>
            <a:ext cx="8412480" cy="292608"/>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Dataset Overview</a:t>
            </a:r>
            <a:endParaRPr lang="en-US" sz="1500" dirty="0"/>
          </a:p>
        </p:txBody>
      </p:sp>
      <p:sp>
        <p:nvSpPr>
          <p:cNvPr id="6" name="Text 4">
            <a:extLst>
              <a:ext uri="{FF2B5EF4-FFF2-40B4-BE49-F238E27FC236}">
                <a16:creationId xmlns:a16="http://schemas.microsoft.com/office/drawing/2014/main" id="{13E854A3-F6F6-D93C-B6A5-EF891F2C677D}"/>
              </a:ext>
            </a:extLst>
          </p:cNvPr>
          <p:cNvSpPr/>
          <p:nvPr/>
        </p:nvSpPr>
        <p:spPr>
          <a:xfrm>
            <a:off x="365760" y="1049231"/>
            <a:ext cx="2898775" cy="3497580"/>
          </a:xfrm>
          <a:prstGeom prst="rect">
            <a:avLst/>
          </a:prstGeom>
          <a:noFill/>
          <a:ln/>
        </p:spPr>
        <p:txBody>
          <a:bodyPr wrap="square" rtlCol="0" anchor="t"/>
          <a:lstStyle/>
          <a:p>
            <a:r>
              <a:rPr lang="en-NG" sz="1400" b="1" dirty="0"/>
              <a:t>Adult Census Income Dataset</a:t>
            </a:r>
          </a:p>
          <a:p>
            <a:r>
              <a:rPr lang="en-NG" sz="1400" dirty="0"/>
              <a:t>Features include:</a:t>
            </a:r>
          </a:p>
          <a:p>
            <a:r>
              <a:rPr lang="en-NG" sz="1400" dirty="0"/>
              <a:t>Age </a:t>
            </a:r>
          </a:p>
          <a:p>
            <a:r>
              <a:rPr lang="en-NG" sz="1400" dirty="0"/>
              <a:t>Education </a:t>
            </a:r>
          </a:p>
          <a:p>
            <a:r>
              <a:rPr lang="en-NG" sz="1400" dirty="0"/>
              <a:t>Occupation </a:t>
            </a:r>
          </a:p>
          <a:p>
            <a:r>
              <a:rPr lang="en-NG" sz="1400" dirty="0"/>
              <a:t>Marital Status </a:t>
            </a:r>
          </a:p>
          <a:p>
            <a:r>
              <a:rPr lang="en-NG" sz="1400" dirty="0"/>
              <a:t>Workclass </a:t>
            </a:r>
          </a:p>
          <a:p>
            <a:r>
              <a:rPr lang="en-NG" sz="1400" dirty="0"/>
              <a:t>Hours per Week </a:t>
            </a:r>
          </a:p>
          <a:p>
            <a:r>
              <a:rPr lang="en-NG" sz="1400" dirty="0"/>
              <a:t>Capital Gain </a:t>
            </a:r>
          </a:p>
          <a:p>
            <a:r>
              <a:rPr lang="en-NG" sz="1400" dirty="0"/>
              <a:t>Capital Loss</a:t>
            </a:r>
          </a:p>
          <a:p>
            <a:endParaRPr lang="en-NG" sz="1400" dirty="0"/>
          </a:p>
          <a:p>
            <a:r>
              <a:rPr lang="en-NG" sz="1400" b="1" dirty="0"/>
              <a:t>Dataset Summary</a:t>
            </a:r>
          </a:p>
          <a:p>
            <a:r>
              <a:rPr lang="en-NG" sz="1400" dirty="0"/>
              <a:t>Number of observations : 48,790</a:t>
            </a:r>
          </a:p>
          <a:p>
            <a:r>
              <a:rPr lang="en-NG" sz="1400" dirty="0"/>
              <a:t>Number of features: : 19 </a:t>
            </a:r>
          </a:p>
          <a:p>
            <a:r>
              <a:rPr lang="en-NG" sz="1400" dirty="0"/>
              <a:t>Numerical features: 9</a:t>
            </a:r>
          </a:p>
          <a:p>
            <a:r>
              <a:rPr lang="en-NG" sz="1400" dirty="0"/>
              <a:t>Categorical features: 10</a:t>
            </a:r>
          </a:p>
          <a:p>
            <a:pPr>
              <a:buSzPct val="100000"/>
            </a:pPr>
            <a:endParaRPr lang="en-US" sz="1400" dirty="0"/>
          </a:p>
        </p:txBody>
      </p:sp>
      <p:sp>
        <p:nvSpPr>
          <p:cNvPr id="20" name="Shape 18">
            <a:extLst>
              <a:ext uri="{FF2B5EF4-FFF2-40B4-BE49-F238E27FC236}">
                <a16:creationId xmlns:a16="http://schemas.microsoft.com/office/drawing/2014/main" id="{AAD86562-E262-B3CC-3BDF-C14F2988934F}"/>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1" name="Text 19">
            <a:extLst>
              <a:ext uri="{FF2B5EF4-FFF2-40B4-BE49-F238E27FC236}">
                <a16:creationId xmlns:a16="http://schemas.microsoft.com/office/drawing/2014/main" id="{775FB8D9-8766-3BA3-B00B-4F63F06EEB57}"/>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pic>
        <p:nvPicPr>
          <p:cNvPr id="8" name="Picture 7">
            <a:extLst>
              <a:ext uri="{FF2B5EF4-FFF2-40B4-BE49-F238E27FC236}">
                <a16:creationId xmlns:a16="http://schemas.microsoft.com/office/drawing/2014/main" id="{BD74DD92-7883-BB78-C97D-ABBE4E2880AC}"/>
              </a:ext>
            </a:extLst>
          </p:cNvPr>
          <p:cNvPicPr>
            <a:picLocks noChangeAspect="1"/>
          </p:cNvPicPr>
          <p:nvPr/>
        </p:nvPicPr>
        <p:blipFill>
          <a:blip r:embed="rId3"/>
          <a:stretch>
            <a:fillRect/>
          </a:stretch>
        </p:blipFill>
        <p:spPr>
          <a:xfrm>
            <a:off x="3264535" y="960120"/>
            <a:ext cx="5513705" cy="3675803"/>
          </a:xfrm>
          <a:prstGeom prst="rect">
            <a:avLst/>
          </a:prstGeom>
        </p:spPr>
      </p:pic>
    </p:spTree>
    <p:extLst>
      <p:ext uri="{BB962C8B-B14F-4D97-AF65-F5344CB8AC3E}">
        <p14:creationId xmlns:p14="http://schemas.microsoft.com/office/powerpoint/2010/main" val="3517220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p:cNvSpPr/>
          <p:nvPr/>
        </p:nvSpPr>
        <p:spPr>
          <a:xfrm>
            <a:off x="914400" y="1828800"/>
            <a:ext cx="7315200" cy="1097280"/>
          </a:xfrm>
          <a:prstGeom prst="rect">
            <a:avLst/>
          </a:prstGeom>
          <a:noFill/>
          <a:ln/>
        </p:spPr>
        <p:txBody>
          <a:bodyPr wrap="square" rtlCol="0" anchor="ctr"/>
          <a:lstStyle/>
          <a:p>
            <a:r>
              <a:rPr lang="en-US" sz="3600" b="1" dirty="0">
                <a:solidFill>
                  <a:srgbClr val="2D2D2D"/>
                </a:solidFill>
                <a:latin typeface="Calibri" pitchFamily="34" charset="0"/>
                <a:ea typeface="Calibri" pitchFamily="34" charset="-122"/>
                <a:cs typeface="Calibri" pitchFamily="34" charset="-120"/>
              </a:rPr>
              <a:t>2. </a:t>
            </a:r>
            <a:r>
              <a:rPr lang="en-NG" sz="3600" b="1" dirty="0"/>
              <a:t>Software Architecture</a:t>
            </a:r>
            <a:endParaRPr lang="en-US" sz="3600" b="1" dirty="0"/>
          </a:p>
        </p:txBody>
      </p:sp>
      <p:sp>
        <p:nvSpPr>
          <p:cNvPr id="6" name="Shape 4"/>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4D3ED70-6C9C-39CB-FA73-D24C73656F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655FA2-0F1B-1C75-4D60-F8AB27B064D7}"/>
              </a:ext>
            </a:extLst>
          </p:cNvPr>
          <p:cNvSpPr/>
          <p:nvPr/>
        </p:nvSpPr>
        <p:spPr>
          <a:xfrm>
            <a:off x="365760" y="137160"/>
            <a:ext cx="8412480" cy="502920"/>
          </a:xfrm>
          <a:prstGeom prst="rect">
            <a:avLst/>
          </a:prstGeom>
          <a:noFill/>
          <a:ln/>
        </p:spPr>
        <p:txBody>
          <a:bodyPr wrap="square" rtlCol="0" anchor="ctr"/>
          <a:lstStyle/>
          <a:p>
            <a:r>
              <a:rPr lang="en-US" sz="2400" dirty="0">
                <a:solidFill>
                  <a:srgbClr val="555555"/>
                </a:solidFill>
                <a:latin typeface="Calibri" pitchFamily="34" charset="0"/>
                <a:ea typeface="Calibri" pitchFamily="34" charset="-122"/>
                <a:cs typeface="Calibri" pitchFamily="34" charset="-120"/>
              </a:rPr>
              <a:t>Applied Programming for Data Science</a:t>
            </a:r>
          </a:p>
        </p:txBody>
      </p:sp>
      <p:sp>
        <p:nvSpPr>
          <p:cNvPr id="3" name="Text 1">
            <a:extLst>
              <a:ext uri="{FF2B5EF4-FFF2-40B4-BE49-F238E27FC236}">
                <a16:creationId xmlns:a16="http://schemas.microsoft.com/office/drawing/2014/main" id="{8FB42CC6-1F87-194E-EE52-E8EE8CF1A076}"/>
              </a:ext>
            </a:extLst>
          </p:cNvPr>
          <p:cNvSpPr/>
          <p:nvPr/>
        </p:nvSpPr>
        <p:spPr>
          <a:xfrm>
            <a:off x="365760" y="621792"/>
            <a:ext cx="8412480" cy="292608"/>
          </a:xfrm>
          <a:prstGeom prst="rect">
            <a:avLst/>
          </a:prstGeom>
          <a:noFill/>
          <a:ln/>
        </p:spPr>
        <p:txBody>
          <a:bodyPr wrap="square" rtlCol="0" anchor="ctr"/>
          <a:lstStyle/>
          <a:p>
            <a:r>
              <a:rPr lang="en-US" sz="1500" dirty="0">
                <a:solidFill>
                  <a:srgbClr val="4A90C4"/>
                </a:solidFill>
                <a:latin typeface="Calibri" pitchFamily="34" charset="0"/>
                <a:ea typeface="Calibri" pitchFamily="34" charset="-122"/>
                <a:cs typeface="Calibri" pitchFamily="34" charset="-120"/>
              </a:rPr>
              <a:t>Software Architecture</a:t>
            </a:r>
            <a:endParaRPr lang="en-US" sz="1500" dirty="0"/>
          </a:p>
        </p:txBody>
      </p:sp>
      <p:sp>
        <p:nvSpPr>
          <p:cNvPr id="4" name="Text 2">
            <a:extLst>
              <a:ext uri="{FF2B5EF4-FFF2-40B4-BE49-F238E27FC236}">
                <a16:creationId xmlns:a16="http://schemas.microsoft.com/office/drawing/2014/main" id="{953D3CDC-AA11-514A-B8B2-BE2E4E22453C}"/>
              </a:ext>
            </a:extLst>
          </p:cNvPr>
          <p:cNvSpPr/>
          <p:nvPr/>
        </p:nvSpPr>
        <p:spPr>
          <a:xfrm>
            <a:off x="365760" y="1626431"/>
            <a:ext cx="4118856" cy="2270113"/>
          </a:xfrm>
          <a:prstGeom prst="rect">
            <a:avLst/>
          </a:prstGeom>
          <a:noFill/>
          <a:ln/>
        </p:spPr>
        <p:txBody>
          <a:bodyPr wrap="square" rtlCol="0" anchor="t"/>
          <a:lstStyle/>
          <a:p>
            <a:endParaRPr lang="en-NG" sz="1400" b="1" dirty="0"/>
          </a:p>
          <a:p>
            <a:pPr marL="285750" indent="-285750">
              <a:buFont typeface="Arial" panose="020B0604020202020204" pitchFamily="34" charset="0"/>
              <a:buChar char="•"/>
            </a:pPr>
            <a:r>
              <a:rPr lang="en-NG" sz="1400" dirty="0"/>
              <a:t>Modular project structure </a:t>
            </a:r>
          </a:p>
          <a:p>
            <a:endParaRPr lang="en-NG" sz="1400" dirty="0"/>
          </a:p>
          <a:p>
            <a:pPr marL="285750" indent="-285750">
              <a:buFont typeface="Arial" panose="020B0604020202020204" pitchFamily="34" charset="0"/>
              <a:buChar char="•"/>
            </a:pPr>
            <a:r>
              <a:rPr lang="en-NG" sz="1400" dirty="0"/>
              <a:t>Separation of responsibilities </a:t>
            </a:r>
          </a:p>
          <a:p>
            <a:endParaRPr lang="en-NG" sz="1400" dirty="0"/>
          </a:p>
          <a:p>
            <a:pPr marL="285750" indent="-285750">
              <a:buFont typeface="Arial" panose="020B0604020202020204" pitchFamily="34" charset="0"/>
              <a:buChar char="•"/>
            </a:pPr>
            <a:r>
              <a:rPr lang="en-NG" sz="1400" dirty="0"/>
              <a:t>Reusable components </a:t>
            </a:r>
          </a:p>
          <a:p>
            <a:endParaRPr lang="en-NG" sz="1400" dirty="0"/>
          </a:p>
          <a:p>
            <a:pPr marL="285750" indent="-285750">
              <a:buFont typeface="Arial" panose="020B0604020202020204" pitchFamily="34" charset="0"/>
              <a:buChar char="•"/>
            </a:pPr>
            <a:r>
              <a:rPr lang="en-NG" sz="1400" dirty="0"/>
              <a:t>Easy maintenance and extension</a:t>
            </a:r>
          </a:p>
        </p:txBody>
      </p:sp>
      <p:sp>
        <p:nvSpPr>
          <p:cNvPr id="26" name="Shape 24">
            <a:extLst>
              <a:ext uri="{FF2B5EF4-FFF2-40B4-BE49-F238E27FC236}">
                <a16:creationId xmlns:a16="http://schemas.microsoft.com/office/drawing/2014/main" id="{E6AB034D-AC29-3489-59D8-7877D286498A}"/>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5454806A-7046-F430-88B4-1DF1CFDEE5FF}"/>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7</a:t>
            </a:r>
            <a:endParaRPr lang="en-US" sz="1400" dirty="0"/>
          </a:p>
        </p:txBody>
      </p:sp>
      <p:pic>
        <p:nvPicPr>
          <p:cNvPr id="6" name="Picture 5">
            <a:extLst>
              <a:ext uri="{FF2B5EF4-FFF2-40B4-BE49-F238E27FC236}">
                <a16:creationId xmlns:a16="http://schemas.microsoft.com/office/drawing/2014/main" id="{59F696DA-064E-A678-E641-24C52C484BEF}"/>
              </a:ext>
            </a:extLst>
          </p:cNvPr>
          <p:cNvPicPr>
            <a:picLocks noChangeAspect="1"/>
          </p:cNvPicPr>
          <p:nvPr/>
        </p:nvPicPr>
        <p:blipFill>
          <a:blip r:embed="rId3"/>
          <a:stretch>
            <a:fillRect/>
          </a:stretch>
        </p:blipFill>
        <p:spPr>
          <a:xfrm>
            <a:off x="4572000" y="768096"/>
            <a:ext cx="3582327" cy="3986784"/>
          </a:xfrm>
          <a:prstGeom prst="rect">
            <a:avLst/>
          </a:prstGeom>
        </p:spPr>
      </p:pic>
    </p:spTree>
    <p:extLst>
      <p:ext uri="{BB962C8B-B14F-4D97-AF65-F5344CB8AC3E}">
        <p14:creationId xmlns:p14="http://schemas.microsoft.com/office/powerpoint/2010/main" val="4168220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9CD7D0-3002-A277-597A-012EDAAF729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99AF0C8-4CC0-779E-3B4C-4E6D5299A0D5}"/>
              </a:ext>
            </a:extLst>
          </p:cNvPr>
          <p:cNvSpPr/>
          <p:nvPr/>
        </p:nvSpPr>
        <p:spPr>
          <a:xfrm>
            <a:off x="365760" y="137160"/>
            <a:ext cx="8412480" cy="502920"/>
          </a:xfrm>
          <a:prstGeom prst="rect">
            <a:avLst/>
          </a:prstGeom>
          <a:noFill/>
          <a:ln/>
        </p:spPr>
        <p:txBody>
          <a:bodyPr wrap="square" rtlCol="0" anchor="ctr"/>
          <a:lstStyle/>
          <a:p>
            <a:r>
              <a:rPr lang="en-US" sz="2800" dirty="0">
                <a:solidFill>
                  <a:srgbClr val="555555"/>
                </a:solidFill>
                <a:latin typeface="Calibri" pitchFamily="34" charset="0"/>
                <a:ea typeface="Calibri" pitchFamily="34" charset="-122"/>
                <a:cs typeface="Calibri" pitchFamily="34" charset="-120"/>
              </a:rPr>
              <a:t>Applied Programming for Data Science</a:t>
            </a:r>
          </a:p>
        </p:txBody>
      </p:sp>
      <p:sp>
        <p:nvSpPr>
          <p:cNvPr id="3" name="Text 1">
            <a:extLst>
              <a:ext uri="{FF2B5EF4-FFF2-40B4-BE49-F238E27FC236}">
                <a16:creationId xmlns:a16="http://schemas.microsoft.com/office/drawing/2014/main" id="{C717FECC-0C57-E80D-643C-055A3F773C27}"/>
              </a:ext>
            </a:extLst>
          </p:cNvPr>
          <p:cNvSpPr/>
          <p:nvPr/>
        </p:nvSpPr>
        <p:spPr>
          <a:xfrm>
            <a:off x="365760" y="621792"/>
            <a:ext cx="8412480" cy="292608"/>
          </a:xfrm>
          <a:prstGeom prst="rect">
            <a:avLst/>
          </a:prstGeom>
          <a:noFill/>
          <a:ln/>
        </p:spPr>
        <p:txBody>
          <a:bodyPr wrap="square" rtlCol="0" anchor="ctr"/>
          <a:lstStyle/>
          <a:p>
            <a:r>
              <a:rPr lang="en-NG" sz="1600" dirty="0">
                <a:solidFill>
                  <a:schemeClr val="accent1"/>
                </a:solidFill>
              </a:rPr>
              <a:t>Python Programming Concepts Used</a:t>
            </a:r>
          </a:p>
        </p:txBody>
      </p:sp>
      <p:sp>
        <p:nvSpPr>
          <p:cNvPr id="4" name="Text 2">
            <a:extLst>
              <a:ext uri="{FF2B5EF4-FFF2-40B4-BE49-F238E27FC236}">
                <a16:creationId xmlns:a16="http://schemas.microsoft.com/office/drawing/2014/main" id="{F68AE040-A21E-D6A3-4AE9-BA4BB6C13366}"/>
              </a:ext>
            </a:extLst>
          </p:cNvPr>
          <p:cNvSpPr/>
          <p:nvPr/>
        </p:nvSpPr>
        <p:spPr>
          <a:xfrm>
            <a:off x="365760" y="1520314"/>
            <a:ext cx="4118856" cy="2481943"/>
          </a:xfrm>
          <a:prstGeom prst="rect">
            <a:avLst/>
          </a:prstGeom>
          <a:noFill/>
          <a:ln/>
        </p:spPr>
        <p:txBody>
          <a:bodyPr wrap="square" rtlCol="0" anchor="t"/>
          <a:lstStyle/>
          <a:p>
            <a:pPr marL="285750" indent="-285750">
              <a:buFont typeface="Arial" panose="020B0604020202020204" pitchFamily="34" charset="0"/>
              <a:buChar char="•"/>
            </a:pPr>
            <a:r>
              <a:rPr lang="en-NG" sz="1400" dirty="0"/>
              <a:t>Functions</a:t>
            </a:r>
          </a:p>
          <a:p>
            <a:endParaRPr lang="en-NG" sz="1400" dirty="0"/>
          </a:p>
          <a:p>
            <a:pPr marL="285750" indent="-285750">
              <a:buFont typeface="Arial" panose="020B0604020202020204" pitchFamily="34" charset="0"/>
              <a:buChar char="•"/>
            </a:pPr>
            <a:r>
              <a:rPr lang="en-NG" sz="1400" dirty="0"/>
              <a:t>Type hints </a:t>
            </a:r>
          </a:p>
          <a:p>
            <a:endParaRPr lang="en-NG" sz="1400" dirty="0"/>
          </a:p>
          <a:p>
            <a:pPr marL="285750" indent="-285750">
              <a:buFont typeface="Arial" panose="020B0604020202020204" pitchFamily="34" charset="0"/>
              <a:buChar char="•"/>
            </a:pPr>
            <a:r>
              <a:rPr lang="en-NG" sz="1400" dirty="0"/>
              <a:t>Dataclasses </a:t>
            </a:r>
          </a:p>
          <a:p>
            <a:endParaRPr lang="en-NG" sz="1400" dirty="0"/>
          </a:p>
          <a:p>
            <a:pPr marL="285750" indent="-285750">
              <a:buFont typeface="Arial" panose="020B0604020202020204" pitchFamily="34" charset="0"/>
              <a:buChar char="•"/>
            </a:pPr>
            <a:r>
              <a:rPr lang="en-NG" sz="1400" dirty="0"/>
              <a:t>Docstrings </a:t>
            </a:r>
          </a:p>
          <a:p>
            <a:endParaRPr lang="en-NG" sz="1400" dirty="0"/>
          </a:p>
          <a:p>
            <a:pPr marL="285750" indent="-285750">
              <a:buFont typeface="Arial" panose="020B0604020202020204" pitchFamily="34" charset="0"/>
              <a:buChar char="•"/>
            </a:pPr>
            <a:r>
              <a:rPr lang="en-NG" sz="1400" dirty="0"/>
              <a:t>Pipelines </a:t>
            </a:r>
          </a:p>
          <a:p>
            <a:endParaRPr lang="en-NG" sz="1400" dirty="0"/>
          </a:p>
          <a:p>
            <a:pPr marL="285750" indent="-285750">
              <a:buFont typeface="Arial" panose="020B0604020202020204" pitchFamily="34" charset="0"/>
              <a:buChar char="•"/>
            </a:pPr>
            <a:r>
              <a:rPr lang="en-NG" sz="1400" dirty="0"/>
              <a:t>Exception handling</a:t>
            </a:r>
          </a:p>
        </p:txBody>
      </p:sp>
      <p:sp>
        <p:nvSpPr>
          <p:cNvPr id="26" name="Shape 24">
            <a:extLst>
              <a:ext uri="{FF2B5EF4-FFF2-40B4-BE49-F238E27FC236}">
                <a16:creationId xmlns:a16="http://schemas.microsoft.com/office/drawing/2014/main" id="{0FDE2867-0D94-58C0-5E5A-7A689F9E52F1}"/>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B85E9E1F-7379-8025-D9E3-CEEABDBB45A7}"/>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8</a:t>
            </a:r>
            <a:endParaRPr lang="en-US" sz="1400" dirty="0"/>
          </a:p>
        </p:txBody>
      </p:sp>
      <p:pic>
        <p:nvPicPr>
          <p:cNvPr id="7" name="Picture 6">
            <a:extLst>
              <a:ext uri="{FF2B5EF4-FFF2-40B4-BE49-F238E27FC236}">
                <a16:creationId xmlns:a16="http://schemas.microsoft.com/office/drawing/2014/main" id="{07C96F9D-BBFA-730A-EA46-1F3428C42ABD}"/>
              </a:ext>
            </a:extLst>
          </p:cNvPr>
          <p:cNvPicPr>
            <a:picLocks noChangeAspect="1"/>
          </p:cNvPicPr>
          <p:nvPr/>
        </p:nvPicPr>
        <p:blipFill>
          <a:blip r:embed="rId3"/>
          <a:stretch>
            <a:fillRect/>
          </a:stretch>
        </p:blipFill>
        <p:spPr>
          <a:xfrm>
            <a:off x="4572000" y="768096"/>
            <a:ext cx="3098800" cy="1714500"/>
          </a:xfrm>
          <a:prstGeom prst="rect">
            <a:avLst/>
          </a:prstGeom>
        </p:spPr>
      </p:pic>
      <p:pic>
        <p:nvPicPr>
          <p:cNvPr id="9" name="Picture 8">
            <a:extLst>
              <a:ext uri="{FF2B5EF4-FFF2-40B4-BE49-F238E27FC236}">
                <a16:creationId xmlns:a16="http://schemas.microsoft.com/office/drawing/2014/main" id="{26E1D1D6-37C1-ECDF-F0D2-3347F32D128B}"/>
              </a:ext>
            </a:extLst>
          </p:cNvPr>
          <p:cNvPicPr>
            <a:picLocks noChangeAspect="1"/>
          </p:cNvPicPr>
          <p:nvPr/>
        </p:nvPicPr>
        <p:blipFill>
          <a:blip r:embed="rId4"/>
          <a:stretch>
            <a:fillRect/>
          </a:stretch>
        </p:blipFill>
        <p:spPr>
          <a:xfrm>
            <a:off x="4569589" y="2571750"/>
            <a:ext cx="3886200" cy="2063578"/>
          </a:xfrm>
          <a:prstGeom prst="rect">
            <a:avLst/>
          </a:prstGeom>
        </p:spPr>
      </p:pic>
    </p:spTree>
    <p:extLst>
      <p:ext uri="{BB962C8B-B14F-4D97-AF65-F5344CB8AC3E}">
        <p14:creationId xmlns:p14="http://schemas.microsoft.com/office/powerpoint/2010/main" val="1027814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2E0C655-3278-E33D-5581-F4FBF2C634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B4247FF-C818-5D65-9706-58B24FC57A6B}"/>
              </a:ext>
            </a:extLst>
          </p:cNvPr>
          <p:cNvSpPr/>
          <p:nvPr/>
        </p:nvSpPr>
        <p:spPr>
          <a:xfrm>
            <a:off x="365760" y="137160"/>
            <a:ext cx="8412480" cy="502920"/>
          </a:xfrm>
          <a:prstGeom prst="rect">
            <a:avLst/>
          </a:prstGeom>
          <a:noFill/>
          <a:ln/>
        </p:spPr>
        <p:txBody>
          <a:bodyPr wrap="square" rtlCol="0" anchor="ctr"/>
          <a:lstStyle/>
          <a:p>
            <a:r>
              <a:rPr lang="en-US" sz="2800" dirty="0">
                <a:solidFill>
                  <a:srgbClr val="555555"/>
                </a:solidFill>
                <a:latin typeface="Calibri" pitchFamily="34" charset="0"/>
                <a:ea typeface="Calibri" pitchFamily="34" charset="-122"/>
                <a:cs typeface="Calibri" pitchFamily="34" charset="-120"/>
              </a:rPr>
              <a:t>Applied Programming for Data Science</a:t>
            </a:r>
          </a:p>
        </p:txBody>
      </p:sp>
      <p:sp>
        <p:nvSpPr>
          <p:cNvPr id="3" name="Text 1">
            <a:extLst>
              <a:ext uri="{FF2B5EF4-FFF2-40B4-BE49-F238E27FC236}">
                <a16:creationId xmlns:a16="http://schemas.microsoft.com/office/drawing/2014/main" id="{7EFCCD3A-325E-CB4E-FE38-66270128C269}"/>
              </a:ext>
            </a:extLst>
          </p:cNvPr>
          <p:cNvSpPr/>
          <p:nvPr/>
        </p:nvSpPr>
        <p:spPr>
          <a:xfrm>
            <a:off x="365760" y="621792"/>
            <a:ext cx="8412480" cy="292608"/>
          </a:xfrm>
          <a:prstGeom prst="rect">
            <a:avLst/>
          </a:prstGeom>
          <a:noFill/>
          <a:ln/>
        </p:spPr>
        <p:txBody>
          <a:bodyPr wrap="square" rtlCol="0" anchor="ctr"/>
          <a:lstStyle/>
          <a:p>
            <a:r>
              <a:rPr lang="en-NG" sz="1600" dirty="0">
                <a:solidFill>
                  <a:schemeClr val="accent1"/>
                </a:solidFill>
              </a:rPr>
              <a:t>Python Programming Concepts Used</a:t>
            </a:r>
          </a:p>
        </p:txBody>
      </p:sp>
      <p:sp>
        <p:nvSpPr>
          <p:cNvPr id="4" name="Text 2">
            <a:extLst>
              <a:ext uri="{FF2B5EF4-FFF2-40B4-BE49-F238E27FC236}">
                <a16:creationId xmlns:a16="http://schemas.microsoft.com/office/drawing/2014/main" id="{46F3B063-49E4-3F6A-F39A-5B1341A4C86A}"/>
              </a:ext>
            </a:extLst>
          </p:cNvPr>
          <p:cNvSpPr/>
          <p:nvPr/>
        </p:nvSpPr>
        <p:spPr>
          <a:xfrm>
            <a:off x="365760" y="1014243"/>
            <a:ext cx="4118856" cy="3115014"/>
          </a:xfrm>
          <a:prstGeom prst="rect">
            <a:avLst/>
          </a:prstGeom>
          <a:noFill/>
          <a:ln/>
        </p:spPr>
        <p:txBody>
          <a:bodyPr wrap="square" rtlCol="0" anchor="t"/>
          <a:lstStyle/>
          <a:p>
            <a:r>
              <a:rPr lang="en-NG" sz="1400" b="1" dirty="0">
                <a:solidFill>
                  <a:schemeClr val="accent1"/>
                </a:solidFill>
              </a:rPr>
              <a:t>Functions &amp; Modular Design</a:t>
            </a:r>
          </a:p>
          <a:p>
            <a:pPr marL="285750" indent="-285750">
              <a:buFont typeface="Arial" panose="020B0604020202020204" pitchFamily="34" charset="0"/>
              <a:buChar char="•"/>
            </a:pPr>
            <a:r>
              <a:rPr lang="en-NG" sz="1400" dirty="0"/>
              <a:t>Reusable functions </a:t>
            </a:r>
          </a:p>
          <a:p>
            <a:pPr marL="285750" indent="-285750">
              <a:buFont typeface="Arial" panose="020B0604020202020204" pitchFamily="34" charset="0"/>
              <a:buChar char="•"/>
            </a:pPr>
            <a:r>
              <a:rPr lang="en-NG" sz="1400" dirty="0"/>
              <a:t>Separation of concerns </a:t>
            </a:r>
          </a:p>
          <a:p>
            <a:pPr marL="285750" indent="-285750">
              <a:buFont typeface="Arial" panose="020B0604020202020204" pitchFamily="34" charset="0"/>
              <a:buChar char="•"/>
            </a:pPr>
            <a:r>
              <a:rPr lang="en-NG" sz="1400" dirty="0"/>
              <a:t>Improved maintainability </a:t>
            </a:r>
          </a:p>
          <a:p>
            <a:pPr marL="285750" indent="-285750">
              <a:buFont typeface="Arial" panose="020B0604020202020204" pitchFamily="34" charset="0"/>
              <a:buChar char="•"/>
            </a:pPr>
            <a:r>
              <a:rPr lang="en-NG" sz="1400" dirty="0"/>
              <a:t>Reduced code duplication </a:t>
            </a:r>
          </a:p>
          <a:p>
            <a:endParaRPr lang="en-NG" sz="1400" dirty="0"/>
          </a:p>
          <a:p>
            <a:endParaRPr lang="en-NG" sz="1400" dirty="0"/>
          </a:p>
          <a:p>
            <a:r>
              <a:rPr lang="en-NG" sz="1400" b="1" dirty="0">
                <a:solidFill>
                  <a:schemeClr val="accent1"/>
                </a:solidFill>
              </a:rPr>
              <a:t>Key Functions</a:t>
            </a:r>
          </a:p>
          <a:p>
            <a:r>
              <a:rPr lang="en-NG" sz="1400" dirty="0"/>
              <a:t>load_dataset() </a:t>
            </a:r>
          </a:p>
          <a:p>
            <a:r>
              <a:rPr lang="en-NG" sz="1400" dirty="0"/>
              <a:t>clean_dataset() </a:t>
            </a:r>
          </a:p>
          <a:p>
            <a:r>
              <a:rPr lang="en-NG" sz="1400" dirty="0"/>
              <a:t>engineer_features() </a:t>
            </a:r>
          </a:p>
          <a:p>
            <a:r>
              <a:rPr lang="en-NG" sz="1400" dirty="0"/>
              <a:t>evaluate_model() </a:t>
            </a:r>
          </a:p>
          <a:p>
            <a:r>
              <a:rPr lang="en-NG" sz="1400" dirty="0"/>
              <a:t>compare_models()</a:t>
            </a:r>
          </a:p>
        </p:txBody>
      </p:sp>
      <p:sp>
        <p:nvSpPr>
          <p:cNvPr id="26" name="Shape 24">
            <a:extLst>
              <a:ext uri="{FF2B5EF4-FFF2-40B4-BE49-F238E27FC236}">
                <a16:creationId xmlns:a16="http://schemas.microsoft.com/office/drawing/2014/main" id="{5DF8A8B9-C8D2-E17A-E5A6-FC7421F591FB}"/>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3FB62422-F9F1-F0D6-68C4-4623F4FA633D}"/>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9</a:t>
            </a:r>
            <a:endParaRPr lang="en-US" sz="1400" dirty="0"/>
          </a:p>
        </p:txBody>
      </p:sp>
      <p:pic>
        <p:nvPicPr>
          <p:cNvPr id="8" name="Picture 7">
            <a:extLst>
              <a:ext uri="{FF2B5EF4-FFF2-40B4-BE49-F238E27FC236}">
                <a16:creationId xmlns:a16="http://schemas.microsoft.com/office/drawing/2014/main" id="{11135CDB-150E-C37A-2F00-733888D81355}"/>
              </a:ext>
            </a:extLst>
          </p:cNvPr>
          <p:cNvPicPr>
            <a:picLocks noChangeAspect="1"/>
          </p:cNvPicPr>
          <p:nvPr/>
        </p:nvPicPr>
        <p:blipFill>
          <a:blip r:embed="rId3"/>
          <a:stretch>
            <a:fillRect/>
          </a:stretch>
        </p:blipFill>
        <p:spPr>
          <a:xfrm>
            <a:off x="3924300" y="806098"/>
            <a:ext cx="4682714" cy="1002625"/>
          </a:xfrm>
          <a:prstGeom prst="rect">
            <a:avLst/>
          </a:prstGeom>
        </p:spPr>
      </p:pic>
      <p:pic>
        <p:nvPicPr>
          <p:cNvPr id="11" name="Picture 10">
            <a:extLst>
              <a:ext uri="{FF2B5EF4-FFF2-40B4-BE49-F238E27FC236}">
                <a16:creationId xmlns:a16="http://schemas.microsoft.com/office/drawing/2014/main" id="{7570E479-7F70-BC0A-21E0-121F01478609}"/>
              </a:ext>
            </a:extLst>
          </p:cNvPr>
          <p:cNvPicPr>
            <a:picLocks noChangeAspect="1"/>
          </p:cNvPicPr>
          <p:nvPr/>
        </p:nvPicPr>
        <p:blipFill>
          <a:blip r:embed="rId4"/>
          <a:stretch>
            <a:fillRect/>
          </a:stretch>
        </p:blipFill>
        <p:spPr>
          <a:xfrm>
            <a:off x="3924299" y="2007080"/>
            <a:ext cx="4705497" cy="1002624"/>
          </a:xfrm>
          <a:prstGeom prst="rect">
            <a:avLst/>
          </a:prstGeom>
        </p:spPr>
      </p:pic>
      <p:pic>
        <p:nvPicPr>
          <p:cNvPr id="17" name="Picture 16">
            <a:extLst>
              <a:ext uri="{FF2B5EF4-FFF2-40B4-BE49-F238E27FC236}">
                <a16:creationId xmlns:a16="http://schemas.microsoft.com/office/drawing/2014/main" id="{9774C816-CC36-8A63-D3BC-4DE572C5A4DC}"/>
              </a:ext>
            </a:extLst>
          </p:cNvPr>
          <p:cNvPicPr>
            <a:picLocks noChangeAspect="1"/>
          </p:cNvPicPr>
          <p:nvPr/>
        </p:nvPicPr>
        <p:blipFill>
          <a:blip r:embed="rId5"/>
          <a:stretch>
            <a:fillRect/>
          </a:stretch>
        </p:blipFill>
        <p:spPr>
          <a:xfrm>
            <a:off x="3924299" y="2800252"/>
            <a:ext cx="4198961" cy="2164080"/>
          </a:xfrm>
          <a:prstGeom prst="rect">
            <a:avLst/>
          </a:prstGeom>
        </p:spPr>
      </p:pic>
    </p:spTree>
    <p:extLst>
      <p:ext uri="{BB962C8B-B14F-4D97-AF65-F5344CB8AC3E}">
        <p14:creationId xmlns:p14="http://schemas.microsoft.com/office/powerpoint/2010/main" val="1615325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B1D27BE-4B41-2473-D818-8E50425314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239F40-512F-D6A0-FD58-D586322D7E54}"/>
              </a:ext>
            </a:extLst>
          </p:cNvPr>
          <p:cNvSpPr/>
          <p:nvPr/>
        </p:nvSpPr>
        <p:spPr>
          <a:xfrm>
            <a:off x="365760" y="137160"/>
            <a:ext cx="8412480" cy="502920"/>
          </a:xfrm>
          <a:prstGeom prst="rect">
            <a:avLst/>
          </a:prstGeom>
          <a:noFill/>
          <a:ln/>
        </p:spPr>
        <p:txBody>
          <a:bodyPr wrap="square" rtlCol="0" anchor="ctr"/>
          <a:lstStyle/>
          <a:p>
            <a:r>
              <a:rPr lang="en-US" sz="2800" dirty="0">
                <a:solidFill>
                  <a:srgbClr val="555555"/>
                </a:solidFill>
                <a:latin typeface="Calibri" pitchFamily="34" charset="0"/>
                <a:ea typeface="Calibri" pitchFamily="34" charset="-122"/>
                <a:cs typeface="Calibri" pitchFamily="34" charset="-120"/>
              </a:rPr>
              <a:t>Applied Programming for Data Science</a:t>
            </a:r>
          </a:p>
        </p:txBody>
      </p:sp>
      <p:sp>
        <p:nvSpPr>
          <p:cNvPr id="3" name="Text 1">
            <a:extLst>
              <a:ext uri="{FF2B5EF4-FFF2-40B4-BE49-F238E27FC236}">
                <a16:creationId xmlns:a16="http://schemas.microsoft.com/office/drawing/2014/main" id="{B31DEA62-55DD-20F2-EBDF-6B3E7EABDDFB}"/>
              </a:ext>
            </a:extLst>
          </p:cNvPr>
          <p:cNvSpPr/>
          <p:nvPr/>
        </p:nvSpPr>
        <p:spPr>
          <a:xfrm>
            <a:off x="365760" y="621792"/>
            <a:ext cx="8412480" cy="292608"/>
          </a:xfrm>
          <a:prstGeom prst="rect">
            <a:avLst/>
          </a:prstGeom>
          <a:noFill/>
          <a:ln/>
        </p:spPr>
        <p:txBody>
          <a:bodyPr wrap="square" rtlCol="0" anchor="ctr"/>
          <a:lstStyle/>
          <a:p>
            <a:r>
              <a:rPr lang="en-NG" sz="1600" dirty="0">
                <a:solidFill>
                  <a:schemeClr val="accent1"/>
                </a:solidFill>
              </a:rPr>
              <a:t>Python Programming Concepts Used</a:t>
            </a:r>
          </a:p>
        </p:txBody>
      </p:sp>
      <p:sp>
        <p:nvSpPr>
          <p:cNvPr id="4" name="Text 2">
            <a:extLst>
              <a:ext uri="{FF2B5EF4-FFF2-40B4-BE49-F238E27FC236}">
                <a16:creationId xmlns:a16="http://schemas.microsoft.com/office/drawing/2014/main" id="{82372D1B-DD92-C465-69B5-D89C9FBA008B}"/>
              </a:ext>
            </a:extLst>
          </p:cNvPr>
          <p:cNvSpPr/>
          <p:nvPr/>
        </p:nvSpPr>
        <p:spPr>
          <a:xfrm>
            <a:off x="365760" y="2135749"/>
            <a:ext cx="4118856" cy="1329005"/>
          </a:xfrm>
          <a:prstGeom prst="rect">
            <a:avLst/>
          </a:prstGeom>
          <a:noFill/>
          <a:ln/>
        </p:spPr>
        <p:txBody>
          <a:bodyPr wrap="square" rtlCol="0" anchor="t"/>
          <a:lstStyle/>
          <a:p>
            <a:r>
              <a:rPr lang="en-NG" sz="1400" b="1" dirty="0">
                <a:solidFill>
                  <a:schemeClr val="accent1"/>
                </a:solidFill>
              </a:rPr>
              <a:t>Type Hints </a:t>
            </a:r>
          </a:p>
          <a:p>
            <a:pPr marL="285750" indent="-285750">
              <a:buFont typeface="Arial" panose="020B0604020202020204" pitchFamily="34" charset="0"/>
              <a:buChar char="•"/>
            </a:pPr>
            <a:r>
              <a:rPr lang="en-NG" sz="1400" dirty="0"/>
              <a:t>Improved code readability </a:t>
            </a:r>
          </a:p>
          <a:p>
            <a:pPr marL="285750" indent="-285750">
              <a:buFont typeface="Arial" panose="020B0604020202020204" pitchFamily="34" charset="0"/>
              <a:buChar char="•"/>
            </a:pPr>
            <a:r>
              <a:rPr lang="en-NG" sz="1400" dirty="0"/>
              <a:t>Better IDE support </a:t>
            </a:r>
          </a:p>
          <a:p>
            <a:pPr marL="285750" indent="-285750">
              <a:buFont typeface="Arial" panose="020B0604020202020204" pitchFamily="34" charset="0"/>
              <a:buChar char="•"/>
            </a:pPr>
            <a:r>
              <a:rPr lang="en-NG" sz="1400" dirty="0"/>
              <a:t>Easier debugging </a:t>
            </a:r>
          </a:p>
          <a:p>
            <a:pPr marL="285750" indent="-285750">
              <a:buFont typeface="Arial" panose="020B0604020202020204" pitchFamily="34" charset="0"/>
              <a:buChar char="•"/>
            </a:pPr>
            <a:r>
              <a:rPr lang="en-NG" sz="1400" dirty="0"/>
              <a:t>Self-documenting code</a:t>
            </a:r>
          </a:p>
          <a:p>
            <a:endParaRPr lang="en-NG" sz="1400" dirty="0"/>
          </a:p>
        </p:txBody>
      </p:sp>
      <p:sp>
        <p:nvSpPr>
          <p:cNvPr id="26" name="Shape 24">
            <a:extLst>
              <a:ext uri="{FF2B5EF4-FFF2-40B4-BE49-F238E27FC236}">
                <a16:creationId xmlns:a16="http://schemas.microsoft.com/office/drawing/2014/main" id="{544CF0AE-E559-0DE6-8EEB-9A4BAC485238}"/>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3332FE80-ABD3-4EEB-DDA0-6633313E511F}"/>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10</a:t>
            </a:r>
            <a:endParaRPr lang="en-US" sz="1400" dirty="0"/>
          </a:p>
        </p:txBody>
      </p:sp>
      <p:pic>
        <p:nvPicPr>
          <p:cNvPr id="8" name="Picture 7">
            <a:extLst>
              <a:ext uri="{FF2B5EF4-FFF2-40B4-BE49-F238E27FC236}">
                <a16:creationId xmlns:a16="http://schemas.microsoft.com/office/drawing/2014/main" id="{3E825669-F599-2C8F-04E4-1AEA1FF075EF}"/>
              </a:ext>
            </a:extLst>
          </p:cNvPr>
          <p:cNvPicPr>
            <a:picLocks noChangeAspect="1"/>
          </p:cNvPicPr>
          <p:nvPr/>
        </p:nvPicPr>
        <p:blipFill>
          <a:blip r:embed="rId3"/>
          <a:stretch>
            <a:fillRect/>
          </a:stretch>
        </p:blipFill>
        <p:spPr>
          <a:xfrm>
            <a:off x="3924300" y="806098"/>
            <a:ext cx="4682714" cy="1002625"/>
          </a:xfrm>
          <a:prstGeom prst="rect">
            <a:avLst/>
          </a:prstGeom>
        </p:spPr>
      </p:pic>
      <p:pic>
        <p:nvPicPr>
          <p:cNvPr id="11" name="Picture 10">
            <a:extLst>
              <a:ext uri="{FF2B5EF4-FFF2-40B4-BE49-F238E27FC236}">
                <a16:creationId xmlns:a16="http://schemas.microsoft.com/office/drawing/2014/main" id="{40E4D7F4-090D-F538-EDE9-76B0DC325A7F}"/>
              </a:ext>
            </a:extLst>
          </p:cNvPr>
          <p:cNvPicPr>
            <a:picLocks noChangeAspect="1"/>
          </p:cNvPicPr>
          <p:nvPr/>
        </p:nvPicPr>
        <p:blipFill>
          <a:blip r:embed="rId4"/>
          <a:stretch>
            <a:fillRect/>
          </a:stretch>
        </p:blipFill>
        <p:spPr>
          <a:xfrm>
            <a:off x="3924299" y="2007080"/>
            <a:ext cx="4705497" cy="1002624"/>
          </a:xfrm>
          <a:prstGeom prst="rect">
            <a:avLst/>
          </a:prstGeom>
        </p:spPr>
      </p:pic>
      <p:pic>
        <p:nvPicPr>
          <p:cNvPr id="17" name="Picture 16">
            <a:extLst>
              <a:ext uri="{FF2B5EF4-FFF2-40B4-BE49-F238E27FC236}">
                <a16:creationId xmlns:a16="http://schemas.microsoft.com/office/drawing/2014/main" id="{1E6D298A-F532-AF9C-CE6A-0401A55C9FCD}"/>
              </a:ext>
            </a:extLst>
          </p:cNvPr>
          <p:cNvPicPr>
            <a:picLocks noChangeAspect="1"/>
          </p:cNvPicPr>
          <p:nvPr/>
        </p:nvPicPr>
        <p:blipFill>
          <a:blip r:embed="rId5"/>
          <a:stretch>
            <a:fillRect/>
          </a:stretch>
        </p:blipFill>
        <p:spPr>
          <a:xfrm>
            <a:off x="3924299" y="2800252"/>
            <a:ext cx="4198961" cy="2164080"/>
          </a:xfrm>
          <a:prstGeom prst="rect">
            <a:avLst/>
          </a:prstGeom>
        </p:spPr>
      </p:pic>
    </p:spTree>
    <p:extLst>
      <p:ext uri="{BB962C8B-B14F-4D97-AF65-F5344CB8AC3E}">
        <p14:creationId xmlns:p14="http://schemas.microsoft.com/office/powerpoint/2010/main" val="1646611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A21D929-32F5-6915-3105-3F607C59880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989573D-AC65-ED74-4407-44B94ACB531D}"/>
              </a:ext>
            </a:extLst>
          </p:cNvPr>
          <p:cNvSpPr/>
          <p:nvPr/>
        </p:nvSpPr>
        <p:spPr>
          <a:xfrm>
            <a:off x="365760" y="137160"/>
            <a:ext cx="8412480" cy="502920"/>
          </a:xfrm>
          <a:prstGeom prst="rect">
            <a:avLst/>
          </a:prstGeom>
          <a:noFill/>
          <a:ln/>
        </p:spPr>
        <p:txBody>
          <a:bodyPr wrap="square" rtlCol="0" anchor="ctr"/>
          <a:lstStyle/>
          <a:p>
            <a:r>
              <a:rPr lang="en-US" sz="2800" dirty="0">
                <a:solidFill>
                  <a:srgbClr val="555555"/>
                </a:solidFill>
                <a:latin typeface="Calibri" pitchFamily="34" charset="0"/>
                <a:ea typeface="Calibri" pitchFamily="34" charset="-122"/>
                <a:cs typeface="Calibri" pitchFamily="34" charset="-120"/>
              </a:rPr>
              <a:t>Applied Programming for Data Science</a:t>
            </a:r>
          </a:p>
        </p:txBody>
      </p:sp>
      <p:sp>
        <p:nvSpPr>
          <p:cNvPr id="3" name="Text 1">
            <a:extLst>
              <a:ext uri="{FF2B5EF4-FFF2-40B4-BE49-F238E27FC236}">
                <a16:creationId xmlns:a16="http://schemas.microsoft.com/office/drawing/2014/main" id="{DD3D5E49-2107-0455-91F9-492A0808625D}"/>
              </a:ext>
            </a:extLst>
          </p:cNvPr>
          <p:cNvSpPr/>
          <p:nvPr/>
        </p:nvSpPr>
        <p:spPr>
          <a:xfrm>
            <a:off x="365760" y="621792"/>
            <a:ext cx="8412480" cy="292608"/>
          </a:xfrm>
          <a:prstGeom prst="rect">
            <a:avLst/>
          </a:prstGeom>
          <a:noFill/>
          <a:ln/>
        </p:spPr>
        <p:txBody>
          <a:bodyPr wrap="square" rtlCol="0" anchor="ctr"/>
          <a:lstStyle/>
          <a:p>
            <a:r>
              <a:rPr lang="en-NG" sz="1600" dirty="0">
                <a:solidFill>
                  <a:schemeClr val="accent1"/>
                </a:solidFill>
              </a:rPr>
              <a:t>Python Programming Concepts Used</a:t>
            </a:r>
          </a:p>
        </p:txBody>
      </p:sp>
      <p:sp>
        <p:nvSpPr>
          <p:cNvPr id="4" name="Text 2">
            <a:extLst>
              <a:ext uri="{FF2B5EF4-FFF2-40B4-BE49-F238E27FC236}">
                <a16:creationId xmlns:a16="http://schemas.microsoft.com/office/drawing/2014/main" id="{9D4492E1-AEC8-6114-4A71-7A5BBD4A8C96}"/>
              </a:ext>
            </a:extLst>
          </p:cNvPr>
          <p:cNvSpPr/>
          <p:nvPr/>
        </p:nvSpPr>
        <p:spPr>
          <a:xfrm>
            <a:off x="365760" y="2135749"/>
            <a:ext cx="4118856" cy="1329005"/>
          </a:xfrm>
          <a:prstGeom prst="rect">
            <a:avLst/>
          </a:prstGeom>
          <a:noFill/>
          <a:ln/>
        </p:spPr>
        <p:txBody>
          <a:bodyPr wrap="square" rtlCol="0" anchor="t"/>
          <a:lstStyle/>
          <a:p>
            <a:r>
              <a:rPr lang="en-NG" sz="1400" b="1" dirty="0">
                <a:solidFill>
                  <a:schemeClr val="accent1"/>
                </a:solidFill>
              </a:rPr>
              <a:t>Dataclasses &amp; OOP</a:t>
            </a:r>
          </a:p>
          <a:p>
            <a:pPr marL="285750" indent="-285750">
              <a:buFont typeface="Arial" panose="020B0604020202020204" pitchFamily="34" charset="0"/>
              <a:buChar char="•"/>
            </a:pPr>
            <a:r>
              <a:rPr lang="en-NG" sz="1400" dirty="0"/>
              <a:t>Object-Oriented Programming </a:t>
            </a:r>
          </a:p>
          <a:p>
            <a:pPr marL="285750" indent="-285750">
              <a:buFont typeface="Arial" panose="020B0604020202020204" pitchFamily="34" charset="0"/>
              <a:buChar char="•"/>
            </a:pPr>
            <a:r>
              <a:rPr lang="en-NG" sz="1400" dirty="0"/>
              <a:t>Structured data containers </a:t>
            </a:r>
          </a:p>
          <a:p>
            <a:pPr marL="285750" indent="-285750">
              <a:buFont typeface="Arial" panose="020B0604020202020204" pitchFamily="34" charset="0"/>
              <a:buChar char="•"/>
            </a:pPr>
            <a:r>
              <a:rPr lang="en-NG" sz="1400" dirty="0"/>
              <a:t>Cleaner result management </a:t>
            </a:r>
          </a:p>
          <a:p>
            <a:pPr marL="285750" indent="-285750">
              <a:buFont typeface="Arial" panose="020B0604020202020204" pitchFamily="34" charset="0"/>
              <a:buChar char="•"/>
            </a:pPr>
            <a:r>
              <a:rPr lang="en-NG" sz="1400" dirty="0"/>
              <a:t>Encapsulation of model metrics</a:t>
            </a:r>
          </a:p>
          <a:p>
            <a:endParaRPr lang="en-NG" sz="1400" dirty="0"/>
          </a:p>
        </p:txBody>
      </p:sp>
      <p:sp>
        <p:nvSpPr>
          <p:cNvPr id="26" name="Shape 24">
            <a:extLst>
              <a:ext uri="{FF2B5EF4-FFF2-40B4-BE49-F238E27FC236}">
                <a16:creationId xmlns:a16="http://schemas.microsoft.com/office/drawing/2014/main" id="{52D87089-C7A8-A2FF-EB61-EC239A1266EF}"/>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64437C3A-395D-560A-B59F-F0B30AFD4CBC}"/>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11</a:t>
            </a:r>
            <a:endParaRPr lang="en-US" sz="1400" dirty="0"/>
          </a:p>
        </p:txBody>
      </p:sp>
      <p:pic>
        <p:nvPicPr>
          <p:cNvPr id="6" name="Picture 5">
            <a:extLst>
              <a:ext uri="{FF2B5EF4-FFF2-40B4-BE49-F238E27FC236}">
                <a16:creationId xmlns:a16="http://schemas.microsoft.com/office/drawing/2014/main" id="{9769E598-21C4-0521-3C9D-61A821086BA2}"/>
              </a:ext>
            </a:extLst>
          </p:cNvPr>
          <p:cNvPicPr>
            <a:picLocks noChangeAspect="1"/>
          </p:cNvPicPr>
          <p:nvPr/>
        </p:nvPicPr>
        <p:blipFill>
          <a:blip r:embed="rId3"/>
          <a:stretch>
            <a:fillRect/>
          </a:stretch>
        </p:blipFill>
        <p:spPr>
          <a:xfrm>
            <a:off x="4074179" y="730836"/>
            <a:ext cx="4242507" cy="4078809"/>
          </a:xfrm>
          <a:prstGeom prst="rect">
            <a:avLst/>
          </a:prstGeom>
        </p:spPr>
      </p:pic>
    </p:spTree>
    <p:extLst>
      <p:ext uri="{BB962C8B-B14F-4D97-AF65-F5344CB8AC3E}">
        <p14:creationId xmlns:p14="http://schemas.microsoft.com/office/powerpoint/2010/main" val="751668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515A243-B4B8-5B92-F3C9-B5D3A17AFCD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4136F37-0F1D-5D65-4E2A-D6E51E18CB56}"/>
              </a:ext>
            </a:extLst>
          </p:cNvPr>
          <p:cNvSpPr/>
          <p:nvPr/>
        </p:nvSpPr>
        <p:spPr>
          <a:xfrm>
            <a:off x="365760" y="137160"/>
            <a:ext cx="8412480" cy="502920"/>
          </a:xfrm>
          <a:prstGeom prst="rect">
            <a:avLst/>
          </a:prstGeom>
          <a:noFill/>
          <a:ln/>
        </p:spPr>
        <p:txBody>
          <a:bodyPr wrap="square" rtlCol="0" anchor="ctr"/>
          <a:lstStyle/>
          <a:p>
            <a:r>
              <a:rPr lang="en-US" sz="2800" dirty="0">
                <a:solidFill>
                  <a:srgbClr val="555555"/>
                </a:solidFill>
                <a:latin typeface="Calibri" pitchFamily="34" charset="0"/>
                <a:ea typeface="Calibri" pitchFamily="34" charset="-122"/>
                <a:cs typeface="Calibri" pitchFamily="34" charset="-120"/>
              </a:rPr>
              <a:t>Applied Programming for Data Science</a:t>
            </a:r>
          </a:p>
        </p:txBody>
      </p:sp>
      <p:sp>
        <p:nvSpPr>
          <p:cNvPr id="3" name="Text 1">
            <a:extLst>
              <a:ext uri="{FF2B5EF4-FFF2-40B4-BE49-F238E27FC236}">
                <a16:creationId xmlns:a16="http://schemas.microsoft.com/office/drawing/2014/main" id="{3C0CE3A7-8764-82D9-6D80-261858119478}"/>
              </a:ext>
            </a:extLst>
          </p:cNvPr>
          <p:cNvSpPr/>
          <p:nvPr/>
        </p:nvSpPr>
        <p:spPr>
          <a:xfrm>
            <a:off x="365760" y="621792"/>
            <a:ext cx="8412480" cy="292608"/>
          </a:xfrm>
          <a:prstGeom prst="rect">
            <a:avLst/>
          </a:prstGeom>
          <a:noFill/>
          <a:ln/>
        </p:spPr>
        <p:txBody>
          <a:bodyPr wrap="square" rtlCol="0" anchor="ctr"/>
          <a:lstStyle/>
          <a:p>
            <a:r>
              <a:rPr lang="en-NG" sz="1600" dirty="0">
                <a:solidFill>
                  <a:schemeClr val="accent1"/>
                </a:solidFill>
              </a:rPr>
              <a:t>Python Programming Concepts Used</a:t>
            </a:r>
          </a:p>
        </p:txBody>
      </p:sp>
      <p:sp>
        <p:nvSpPr>
          <p:cNvPr id="4" name="Text 2">
            <a:extLst>
              <a:ext uri="{FF2B5EF4-FFF2-40B4-BE49-F238E27FC236}">
                <a16:creationId xmlns:a16="http://schemas.microsoft.com/office/drawing/2014/main" id="{B4F25C35-2240-866C-EE23-2244624F1D95}"/>
              </a:ext>
            </a:extLst>
          </p:cNvPr>
          <p:cNvSpPr/>
          <p:nvPr/>
        </p:nvSpPr>
        <p:spPr>
          <a:xfrm>
            <a:off x="365760" y="2135749"/>
            <a:ext cx="4118856" cy="1329005"/>
          </a:xfrm>
          <a:prstGeom prst="rect">
            <a:avLst/>
          </a:prstGeom>
          <a:noFill/>
          <a:ln/>
        </p:spPr>
        <p:txBody>
          <a:bodyPr wrap="square" rtlCol="0" anchor="t"/>
          <a:lstStyle/>
          <a:p>
            <a:r>
              <a:rPr lang="en-NG" sz="1400" b="1" dirty="0">
                <a:solidFill>
                  <a:schemeClr val="accent1"/>
                </a:solidFill>
              </a:rPr>
              <a:t>Documentation &amp; Docstrings</a:t>
            </a:r>
          </a:p>
          <a:p>
            <a:pPr marL="285750" indent="-285750">
              <a:buFont typeface="Arial" panose="020B0604020202020204" pitchFamily="34" charset="0"/>
              <a:buChar char="•"/>
            </a:pPr>
            <a:r>
              <a:rPr lang="en-NG" sz="1400" dirty="0"/>
              <a:t>Self-documenting code </a:t>
            </a:r>
          </a:p>
          <a:p>
            <a:pPr marL="285750" indent="-285750">
              <a:buFont typeface="Arial" panose="020B0604020202020204" pitchFamily="34" charset="0"/>
              <a:buChar char="•"/>
            </a:pPr>
            <a:r>
              <a:rPr lang="en-NG" sz="1400" dirty="0"/>
              <a:t>Easier maintenance </a:t>
            </a:r>
          </a:p>
          <a:p>
            <a:pPr marL="285750" indent="-285750">
              <a:buFont typeface="Arial" panose="020B0604020202020204" pitchFamily="34" charset="0"/>
              <a:buChar char="•"/>
            </a:pPr>
            <a:r>
              <a:rPr lang="en-NG" sz="1400" dirty="0"/>
              <a:t>Improved readability </a:t>
            </a:r>
          </a:p>
          <a:p>
            <a:pPr marL="285750" indent="-285750">
              <a:buFont typeface="Arial" panose="020B0604020202020204" pitchFamily="34" charset="0"/>
              <a:buChar char="•"/>
            </a:pPr>
            <a:r>
              <a:rPr lang="en-NG" sz="1400" dirty="0"/>
              <a:t>Supports reproducibility</a:t>
            </a:r>
          </a:p>
        </p:txBody>
      </p:sp>
      <p:sp>
        <p:nvSpPr>
          <p:cNvPr id="26" name="Shape 24">
            <a:extLst>
              <a:ext uri="{FF2B5EF4-FFF2-40B4-BE49-F238E27FC236}">
                <a16:creationId xmlns:a16="http://schemas.microsoft.com/office/drawing/2014/main" id="{9A3548BA-1D2B-C26A-A39B-7CBB3480CAB1}"/>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41A12CB8-040E-7AD4-0EE2-37468250FD0D}"/>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12</a:t>
            </a:r>
            <a:endParaRPr lang="en-US" sz="1400" dirty="0"/>
          </a:p>
        </p:txBody>
      </p:sp>
      <p:pic>
        <p:nvPicPr>
          <p:cNvPr id="7" name="Picture 6">
            <a:extLst>
              <a:ext uri="{FF2B5EF4-FFF2-40B4-BE49-F238E27FC236}">
                <a16:creationId xmlns:a16="http://schemas.microsoft.com/office/drawing/2014/main" id="{88987B44-0280-AAF9-1872-D50732C86070}"/>
              </a:ext>
            </a:extLst>
          </p:cNvPr>
          <p:cNvPicPr>
            <a:picLocks noChangeAspect="1"/>
          </p:cNvPicPr>
          <p:nvPr/>
        </p:nvPicPr>
        <p:blipFill>
          <a:blip r:embed="rId3"/>
          <a:stretch>
            <a:fillRect/>
          </a:stretch>
        </p:blipFill>
        <p:spPr>
          <a:xfrm>
            <a:off x="3465978" y="1496499"/>
            <a:ext cx="4712822" cy="2607504"/>
          </a:xfrm>
          <a:prstGeom prst="rect">
            <a:avLst/>
          </a:prstGeom>
        </p:spPr>
      </p:pic>
    </p:spTree>
    <p:extLst>
      <p:ext uri="{BB962C8B-B14F-4D97-AF65-F5344CB8AC3E}">
        <p14:creationId xmlns:p14="http://schemas.microsoft.com/office/powerpoint/2010/main" val="2976812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367C43E-209C-8C0A-01CE-E9864478B96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D54BC0-52B1-4DAF-CE3E-6FECA97D1320}"/>
              </a:ext>
            </a:extLst>
          </p:cNvPr>
          <p:cNvSpPr/>
          <p:nvPr/>
        </p:nvSpPr>
        <p:spPr>
          <a:xfrm>
            <a:off x="365760" y="137160"/>
            <a:ext cx="8412480" cy="502920"/>
          </a:xfrm>
          <a:prstGeom prst="rect">
            <a:avLst/>
          </a:prstGeom>
          <a:noFill/>
          <a:ln/>
        </p:spPr>
        <p:txBody>
          <a:bodyPr wrap="square" rtlCol="0" anchor="ctr"/>
          <a:lstStyle/>
          <a:p>
            <a:r>
              <a:rPr lang="en-US" sz="2800" dirty="0">
                <a:solidFill>
                  <a:srgbClr val="555555"/>
                </a:solidFill>
                <a:latin typeface="Calibri" pitchFamily="34" charset="0"/>
                <a:ea typeface="Calibri" pitchFamily="34" charset="-122"/>
                <a:cs typeface="Calibri" pitchFamily="34" charset="-120"/>
              </a:rPr>
              <a:t>Applied Programming for Data Science</a:t>
            </a:r>
          </a:p>
        </p:txBody>
      </p:sp>
      <p:sp>
        <p:nvSpPr>
          <p:cNvPr id="3" name="Text 1">
            <a:extLst>
              <a:ext uri="{FF2B5EF4-FFF2-40B4-BE49-F238E27FC236}">
                <a16:creationId xmlns:a16="http://schemas.microsoft.com/office/drawing/2014/main" id="{CAD634C6-EDB9-F594-5CDF-292D9C5EAF9D}"/>
              </a:ext>
            </a:extLst>
          </p:cNvPr>
          <p:cNvSpPr/>
          <p:nvPr/>
        </p:nvSpPr>
        <p:spPr>
          <a:xfrm>
            <a:off x="365760" y="621792"/>
            <a:ext cx="8412480" cy="292608"/>
          </a:xfrm>
          <a:prstGeom prst="rect">
            <a:avLst/>
          </a:prstGeom>
          <a:noFill/>
          <a:ln/>
        </p:spPr>
        <p:txBody>
          <a:bodyPr wrap="square" rtlCol="0" anchor="ctr"/>
          <a:lstStyle/>
          <a:p>
            <a:r>
              <a:rPr lang="en-NG" sz="1600" dirty="0">
                <a:solidFill>
                  <a:schemeClr val="accent1"/>
                </a:solidFill>
              </a:rPr>
              <a:t>Python Programming Concepts Used</a:t>
            </a:r>
          </a:p>
        </p:txBody>
      </p:sp>
      <p:sp>
        <p:nvSpPr>
          <p:cNvPr id="4" name="Text 2">
            <a:extLst>
              <a:ext uri="{FF2B5EF4-FFF2-40B4-BE49-F238E27FC236}">
                <a16:creationId xmlns:a16="http://schemas.microsoft.com/office/drawing/2014/main" id="{474B4232-D4F9-3008-F02D-2AD946AFBB73}"/>
              </a:ext>
            </a:extLst>
          </p:cNvPr>
          <p:cNvSpPr/>
          <p:nvPr/>
        </p:nvSpPr>
        <p:spPr>
          <a:xfrm>
            <a:off x="365760" y="2135749"/>
            <a:ext cx="4118856" cy="1329005"/>
          </a:xfrm>
          <a:prstGeom prst="rect">
            <a:avLst/>
          </a:prstGeom>
          <a:noFill/>
          <a:ln/>
        </p:spPr>
        <p:txBody>
          <a:bodyPr wrap="square" rtlCol="0" anchor="t"/>
          <a:lstStyle/>
          <a:p>
            <a:r>
              <a:rPr lang="en-NG" sz="1400" b="1" dirty="0">
                <a:solidFill>
                  <a:schemeClr val="accent1"/>
                </a:solidFill>
              </a:rPr>
              <a:t>Machine Learning Pipelines</a:t>
            </a:r>
          </a:p>
          <a:p>
            <a:pPr marL="285750" indent="-285750">
              <a:buFont typeface="Arial" panose="020B0604020202020204" pitchFamily="34" charset="0"/>
              <a:buChar char="•"/>
            </a:pPr>
            <a:r>
              <a:rPr lang="en-NG" sz="1400" dirty="0"/>
              <a:t>Scikit-learn Pipeline </a:t>
            </a:r>
          </a:p>
          <a:p>
            <a:pPr marL="285750" indent="-285750">
              <a:buFont typeface="Arial" panose="020B0604020202020204" pitchFamily="34" charset="0"/>
              <a:buChar char="•"/>
            </a:pPr>
            <a:r>
              <a:rPr lang="en-NG" sz="1400" dirty="0"/>
              <a:t>Automated preprocessing </a:t>
            </a:r>
          </a:p>
          <a:p>
            <a:pPr marL="285750" indent="-285750">
              <a:buFont typeface="Arial" panose="020B0604020202020204" pitchFamily="34" charset="0"/>
              <a:buChar char="•"/>
            </a:pPr>
            <a:r>
              <a:rPr lang="en-NG" sz="1400" dirty="0"/>
              <a:t>Prevents data leakage </a:t>
            </a:r>
          </a:p>
          <a:p>
            <a:pPr marL="285750" indent="-285750">
              <a:buFont typeface="Arial" panose="020B0604020202020204" pitchFamily="34" charset="0"/>
              <a:buChar char="•"/>
            </a:pPr>
            <a:r>
              <a:rPr lang="en-NG" sz="1400" dirty="0"/>
              <a:t>Reusable workflow</a:t>
            </a:r>
          </a:p>
        </p:txBody>
      </p:sp>
      <p:sp>
        <p:nvSpPr>
          <p:cNvPr id="26" name="Shape 24">
            <a:extLst>
              <a:ext uri="{FF2B5EF4-FFF2-40B4-BE49-F238E27FC236}">
                <a16:creationId xmlns:a16="http://schemas.microsoft.com/office/drawing/2014/main" id="{29181E62-3CA0-E852-0695-DCD69B507D54}"/>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443EB9DF-70C5-35BA-0387-BDFD47B0252A}"/>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13</a:t>
            </a:r>
            <a:endParaRPr lang="en-US" sz="1400" dirty="0"/>
          </a:p>
        </p:txBody>
      </p:sp>
      <p:pic>
        <p:nvPicPr>
          <p:cNvPr id="6" name="Picture 5">
            <a:extLst>
              <a:ext uri="{FF2B5EF4-FFF2-40B4-BE49-F238E27FC236}">
                <a16:creationId xmlns:a16="http://schemas.microsoft.com/office/drawing/2014/main" id="{938EA963-63E9-2BA6-FA4A-41BF6ED244B0}"/>
              </a:ext>
            </a:extLst>
          </p:cNvPr>
          <p:cNvPicPr>
            <a:picLocks noChangeAspect="1"/>
          </p:cNvPicPr>
          <p:nvPr/>
        </p:nvPicPr>
        <p:blipFill>
          <a:blip r:embed="rId3"/>
          <a:stretch>
            <a:fillRect/>
          </a:stretch>
        </p:blipFill>
        <p:spPr>
          <a:xfrm>
            <a:off x="4332988" y="621792"/>
            <a:ext cx="4170932" cy="4005943"/>
          </a:xfrm>
          <a:prstGeom prst="rect">
            <a:avLst/>
          </a:prstGeom>
        </p:spPr>
      </p:pic>
    </p:spTree>
    <p:extLst>
      <p:ext uri="{BB962C8B-B14F-4D97-AF65-F5344CB8AC3E}">
        <p14:creationId xmlns:p14="http://schemas.microsoft.com/office/powerpoint/2010/main" val="1169063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E17C25E-C8A8-C682-E390-4FA7D6D263A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13D8B0-5FC4-C566-858A-570DE61F851E}"/>
              </a:ext>
            </a:extLst>
          </p:cNvPr>
          <p:cNvSpPr/>
          <p:nvPr/>
        </p:nvSpPr>
        <p:spPr>
          <a:xfrm>
            <a:off x="365760" y="137160"/>
            <a:ext cx="8412480" cy="502920"/>
          </a:xfrm>
          <a:prstGeom prst="rect">
            <a:avLst/>
          </a:prstGeom>
          <a:noFill/>
          <a:ln/>
        </p:spPr>
        <p:txBody>
          <a:bodyPr wrap="square" rtlCol="0" anchor="ctr"/>
          <a:lstStyle/>
          <a:p>
            <a:r>
              <a:rPr lang="en-US" sz="2800" dirty="0">
                <a:solidFill>
                  <a:srgbClr val="555555"/>
                </a:solidFill>
                <a:latin typeface="Calibri" pitchFamily="34" charset="0"/>
                <a:ea typeface="Calibri" pitchFamily="34" charset="-122"/>
                <a:cs typeface="Calibri" pitchFamily="34" charset="-120"/>
              </a:rPr>
              <a:t>Applied Programming for Data Science</a:t>
            </a:r>
          </a:p>
        </p:txBody>
      </p:sp>
      <p:sp>
        <p:nvSpPr>
          <p:cNvPr id="3" name="Text 1">
            <a:extLst>
              <a:ext uri="{FF2B5EF4-FFF2-40B4-BE49-F238E27FC236}">
                <a16:creationId xmlns:a16="http://schemas.microsoft.com/office/drawing/2014/main" id="{2A65FF9E-5AA7-C0AE-C5BA-284F18DFBDFB}"/>
              </a:ext>
            </a:extLst>
          </p:cNvPr>
          <p:cNvSpPr/>
          <p:nvPr/>
        </p:nvSpPr>
        <p:spPr>
          <a:xfrm>
            <a:off x="365760" y="621792"/>
            <a:ext cx="8412480" cy="292608"/>
          </a:xfrm>
          <a:prstGeom prst="rect">
            <a:avLst/>
          </a:prstGeom>
          <a:noFill/>
          <a:ln/>
        </p:spPr>
        <p:txBody>
          <a:bodyPr wrap="square" rtlCol="0" anchor="ctr"/>
          <a:lstStyle/>
          <a:p>
            <a:r>
              <a:rPr lang="en-NG" sz="1600" dirty="0">
                <a:solidFill>
                  <a:schemeClr val="accent1"/>
                </a:solidFill>
              </a:rPr>
              <a:t>Python Programming Concepts Used</a:t>
            </a:r>
          </a:p>
        </p:txBody>
      </p:sp>
      <p:sp>
        <p:nvSpPr>
          <p:cNvPr id="4" name="Text 2">
            <a:extLst>
              <a:ext uri="{FF2B5EF4-FFF2-40B4-BE49-F238E27FC236}">
                <a16:creationId xmlns:a16="http://schemas.microsoft.com/office/drawing/2014/main" id="{5ED70113-1BAE-FEFD-2378-F731FD8D0A90}"/>
              </a:ext>
            </a:extLst>
          </p:cNvPr>
          <p:cNvSpPr/>
          <p:nvPr/>
        </p:nvSpPr>
        <p:spPr>
          <a:xfrm>
            <a:off x="365760" y="2135749"/>
            <a:ext cx="3692908" cy="1329005"/>
          </a:xfrm>
          <a:prstGeom prst="rect">
            <a:avLst/>
          </a:prstGeom>
          <a:noFill/>
          <a:ln/>
        </p:spPr>
        <p:txBody>
          <a:bodyPr wrap="square" rtlCol="0" anchor="t"/>
          <a:lstStyle/>
          <a:p>
            <a:r>
              <a:rPr lang="en-NG" sz="1400" b="1" dirty="0">
                <a:solidFill>
                  <a:schemeClr val="accent1"/>
                </a:solidFill>
              </a:rPr>
              <a:t>Exception Handling</a:t>
            </a:r>
          </a:p>
          <a:p>
            <a:pPr marL="285750" indent="-285750">
              <a:buFont typeface="Arial" panose="020B0604020202020204" pitchFamily="34" charset="0"/>
              <a:buChar char="•"/>
            </a:pPr>
            <a:r>
              <a:rPr lang="en-NG" sz="1400" dirty="0"/>
              <a:t>Robust code </a:t>
            </a:r>
          </a:p>
          <a:p>
            <a:pPr marL="285750" indent="-285750">
              <a:buFont typeface="Arial" panose="020B0604020202020204" pitchFamily="34" charset="0"/>
              <a:buChar char="•"/>
            </a:pPr>
            <a:r>
              <a:rPr lang="en-NG" sz="1400" dirty="0"/>
              <a:t>Error detection </a:t>
            </a:r>
          </a:p>
          <a:p>
            <a:pPr marL="285750" indent="-285750">
              <a:buFont typeface="Arial" panose="020B0604020202020204" pitchFamily="34" charset="0"/>
              <a:buChar char="•"/>
            </a:pPr>
            <a:r>
              <a:rPr lang="en-NG" sz="1400" dirty="0"/>
              <a:t>Meaningful feedback </a:t>
            </a:r>
          </a:p>
          <a:p>
            <a:pPr marL="285750" indent="-285750">
              <a:buFont typeface="Arial" panose="020B0604020202020204" pitchFamily="34" charset="0"/>
              <a:buChar char="•"/>
            </a:pPr>
            <a:r>
              <a:rPr lang="en-NG" sz="1400" dirty="0"/>
              <a:t>Improved reliability</a:t>
            </a:r>
          </a:p>
        </p:txBody>
      </p:sp>
      <p:sp>
        <p:nvSpPr>
          <p:cNvPr id="26" name="Shape 24">
            <a:extLst>
              <a:ext uri="{FF2B5EF4-FFF2-40B4-BE49-F238E27FC236}">
                <a16:creationId xmlns:a16="http://schemas.microsoft.com/office/drawing/2014/main" id="{EF5CFB1D-6566-27F9-D025-D12F37A53FF0}"/>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B40225F5-9BB8-9E16-B2FD-65290C0DE8FE}"/>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14</a:t>
            </a:r>
            <a:endParaRPr lang="en-US" sz="1400" dirty="0"/>
          </a:p>
        </p:txBody>
      </p:sp>
      <p:pic>
        <p:nvPicPr>
          <p:cNvPr id="7" name="Picture 6">
            <a:extLst>
              <a:ext uri="{FF2B5EF4-FFF2-40B4-BE49-F238E27FC236}">
                <a16:creationId xmlns:a16="http://schemas.microsoft.com/office/drawing/2014/main" id="{1206231B-ECE7-B5DE-2244-6AB7E3DC3691}"/>
              </a:ext>
            </a:extLst>
          </p:cNvPr>
          <p:cNvPicPr>
            <a:picLocks noChangeAspect="1"/>
          </p:cNvPicPr>
          <p:nvPr/>
        </p:nvPicPr>
        <p:blipFill>
          <a:blip r:embed="rId3"/>
          <a:stretch>
            <a:fillRect/>
          </a:stretch>
        </p:blipFill>
        <p:spPr>
          <a:xfrm>
            <a:off x="3878979" y="980753"/>
            <a:ext cx="4495443" cy="836558"/>
          </a:xfrm>
          <a:prstGeom prst="rect">
            <a:avLst/>
          </a:prstGeom>
        </p:spPr>
      </p:pic>
      <p:pic>
        <p:nvPicPr>
          <p:cNvPr id="9" name="Picture 8">
            <a:extLst>
              <a:ext uri="{FF2B5EF4-FFF2-40B4-BE49-F238E27FC236}">
                <a16:creationId xmlns:a16="http://schemas.microsoft.com/office/drawing/2014/main" id="{A90E1DD5-EDDE-E1C4-0D0A-8027F95E590C}"/>
              </a:ext>
            </a:extLst>
          </p:cNvPr>
          <p:cNvPicPr>
            <a:picLocks noChangeAspect="1"/>
          </p:cNvPicPr>
          <p:nvPr/>
        </p:nvPicPr>
        <p:blipFill>
          <a:blip r:embed="rId4"/>
          <a:stretch>
            <a:fillRect/>
          </a:stretch>
        </p:blipFill>
        <p:spPr>
          <a:xfrm>
            <a:off x="3606790" y="1817311"/>
            <a:ext cx="5171450" cy="2569614"/>
          </a:xfrm>
          <a:prstGeom prst="rect">
            <a:avLst/>
          </a:prstGeom>
        </p:spPr>
      </p:pic>
    </p:spTree>
    <p:extLst>
      <p:ext uri="{BB962C8B-B14F-4D97-AF65-F5344CB8AC3E}">
        <p14:creationId xmlns:p14="http://schemas.microsoft.com/office/powerpoint/2010/main" val="1760427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83E1650-8950-6F55-C45E-9D43A22553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3DD5D04-D0C8-FA6A-1C56-9E5A6B416119}"/>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C7575711-70A8-F2C7-C365-88AD8EC8D99A}"/>
              </a:ext>
            </a:extLst>
          </p:cNvPr>
          <p:cNvSpPr/>
          <p:nvPr/>
        </p:nvSpPr>
        <p:spPr>
          <a:xfrm>
            <a:off x="365760" y="621792"/>
            <a:ext cx="8412480" cy="292608"/>
          </a:xfrm>
          <a:prstGeom prst="rect">
            <a:avLst/>
          </a:prstGeom>
          <a:noFill/>
          <a:ln/>
        </p:spPr>
        <p:txBody>
          <a:bodyPr wrap="square" rtlCol="0" anchor="ctr"/>
          <a:lstStyle/>
          <a:p>
            <a:r>
              <a:rPr lang="en-NG" sz="1400" dirty="0">
                <a:solidFill>
                  <a:schemeClr val="accent1"/>
                </a:solidFill>
              </a:rPr>
              <a:t>Python Programming Concepts Used</a:t>
            </a:r>
          </a:p>
        </p:txBody>
      </p:sp>
      <p:sp>
        <p:nvSpPr>
          <p:cNvPr id="4" name="Text 2">
            <a:extLst>
              <a:ext uri="{FF2B5EF4-FFF2-40B4-BE49-F238E27FC236}">
                <a16:creationId xmlns:a16="http://schemas.microsoft.com/office/drawing/2014/main" id="{90AFF2E6-BA5C-B3F4-70A4-8E54373DA900}"/>
              </a:ext>
            </a:extLst>
          </p:cNvPr>
          <p:cNvSpPr/>
          <p:nvPr/>
        </p:nvSpPr>
        <p:spPr>
          <a:xfrm>
            <a:off x="365760" y="2166659"/>
            <a:ext cx="4118856" cy="1335960"/>
          </a:xfrm>
          <a:prstGeom prst="rect">
            <a:avLst/>
          </a:prstGeom>
          <a:noFill/>
          <a:ln/>
        </p:spPr>
        <p:txBody>
          <a:bodyPr wrap="square" rtlCol="0" anchor="t"/>
          <a:lstStyle/>
          <a:p>
            <a:r>
              <a:rPr lang="en-NG" sz="1400" b="1" dirty="0">
                <a:solidFill>
                  <a:schemeClr val="accent1"/>
                </a:solidFill>
              </a:rPr>
              <a:t>Data Loading &amp; Validation</a:t>
            </a:r>
          </a:p>
          <a:p>
            <a:pPr marL="285750" indent="-285750">
              <a:buFont typeface="Arial" panose="020B0604020202020204" pitchFamily="34" charset="0"/>
              <a:buChar char="•"/>
            </a:pPr>
            <a:r>
              <a:rPr lang="en-NG" sz="1400" dirty="0"/>
              <a:t>CSV dataset loading </a:t>
            </a:r>
          </a:p>
          <a:p>
            <a:pPr marL="285750" indent="-285750">
              <a:buFont typeface="Arial" panose="020B0604020202020204" pitchFamily="34" charset="0"/>
              <a:buChar char="•"/>
            </a:pPr>
            <a:r>
              <a:rPr lang="en-NG" sz="1400" dirty="0"/>
              <a:t>Dataset validation </a:t>
            </a:r>
          </a:p>
          <a:p>
            <a:pPr marL="285750" indent="-285750">
              <a:buFont typeface="Arial" panose="020B0604020202020204" pitchFamily="34" charset="0"/>
              <a:buChar char="•"/>
            </a:pPr>
            <a:r>
              <a:rPr lang="en-NG" sz="1400" dirty="0"/>
              <a:t>Error checking </a:t>
            </a:r>
          </a:p>
          <a:p>
            <a:pPr marL="285750" indent="-285750">
              <a:buFont typeface="Arial" panose="020B0604020202020204" pitchFamily="34" charset="0"/>
              <a:buChar char="•"/>
            </a:pPr>
            <a:r>
              <a:rPr lang="en-NG" sz="1400" dirty="0"/>
              <a:t>Reproducible data ingestion</a:t>
            </a:r>
          </a:p>
        </p:txBody>
      </p:sp>
      <p:sp>
        <p:nvSpPr>
          <p:cNvPr id="26" name="Shape 24">
            <a:extLst>
              <a:ext uri="{FF2B5EF4-FFF2-40B4-BE49-F238E27FC236}">
                <a16:creationId xmlns:a16="http://schemas.microsoft.com/office/drawing/2014/main" id="{9A29BE98-FE96-476F-9458-23C4B71EEDA8}"/>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93AD649B-B30B-35B9-A595-7CF14B0C6901}"/>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15</a:t>
            </a:r>
            <a:endParaRPr lang="en-US" sz="1400" dirty="0"/>
          </a:p>
        </p:txBody>
      </p:sp>
      <p:pic>
        <p:nvPicPr>
          <p:cNvPr id="6" name="Picture 5">
            <a:extLst>
              <a:ext uri="{FF2B5EF4-FFF2-40B4-BE49-F238E27FC236}">
                <a16:creationId xmlns:a16="http://schemas.microsoft.com/office/drawing/2014/main" id="{CA537651-45C2-1035-E493-3DA3D9C2AB47}"/>
              </a:ext>
            </a:extLst>
          </p:cNvPr>
          <p:cNvPicPr>
            <a:picLocks noChangeAspect="1"/>
          </p:cNvPicPr>
          <p:nvPr/>
        </p:nvPicPr>
        <p:blipFill>
          <a:blip r:embed="rId3"/>
          <a:stretch>
            <a:fillRect/>
          </a:stretch>
        </p:blipFill>
        <p:spPr>
          <a:xfrm>
            <a:off x="4484616" y="810844"/>
            <a:ext cx="3622380" cy="4047592"/>
          </a:xfrm>
          <a:prstGeom prst="rect">
            <a:avLst/>
          </a:prstGeom>
        </p:spPr>
      </p:pic>
    </p:spTree>
    <p:extLst>
      <p:ext uri="{BB962C8B-B14F-4D97-AF65-F5344CB8AC3E}">
        <p14:creationId xmlns:p14="http://schemas.microsoft.com/office/powerpoint/2010/main" val="712221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EA15F14-298A-AB22-8D67-85E2FCF5EF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F6E6D88-0417-C8BB-5BA4-2243E3A03DE2}"/>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929B6F31-110F-1638-C3F3-9BBA836E2B8D}"/>
              </a:ext>
            </a:extLst>
          </p:cNvPr>
          <p:cNvSpPr/>
          <p:nvPr/>
        </p:nvSpPr>
        <p:spPr>
          <a:xfrm>
            <a:off x="365760" y="621792"/>
            <a:ext cx="8412480" cy="292608"/>
          </a:xfrm>
          <a:prstGeom prst="rect">
            <a:avLst/>
          </a:prstGeom>
          <a:noFill/>
          <a:ln/>
        </p:spPr>
        <p:txBody>
          <a:bodyPr wrap="square" rtlCol="0" anchor="ctr"/>
          <a:lstStyle/>
          <a:p>
            <a:r>
              <a:rPr lang="en-US" sz="1400" dirty="0">
                <a:solidFill>
                  <a:srgbClr val="4A90C4"/>
                </a:solidFill>
                <a:latin typeface="Calibri" pitchFamily="34" charset="0"/>
                <a:ea typeface="Calibri" pitchFamily="34" charset="-122"/>
                <a:cs typeface="Calibri" pitchFamily="34" charset="-120"/>
              </a:rPr>
              <a:t>Exploratory Data Analysis</a:t>
            </a:r>
            <a:endParaRPr lang="en-US" sz="1400" dirty="0"/>
          </a:p>
        </p:txBody>
      </p:sp>
      <p:sp>
        <p:nvSpPr>
          <p:cNvPr id="26" name="Shape 24">
            <a:extLst>
              <a:ext uri="{FF2B5EF4-FFF2-40B4-BE49-F238E27FC236}">
                <a16:creationId xmlns:a16="http://schemas.microsoft.com/office/drawing/2014/main" id="{83699AAD-BC7A-4520-A416-00C411BCE92A}"/>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459977F5-5DF4-5716-0A7F-42CE30074CED}"/>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pic>
        <p:nvPicPr>
          <p:cNvPr id="6" name="Picture 5">
            <a:extLst>
              <a:ext uri="{FF2B5EF4-FFF2-40B4-BE49-F238E27FC236}">
                <a16:creationId xmlns:a16="http://schemas.microsoft.com/office/drawing/2014/main" id="{95F1D1D9-DB8F-CB68-9E6C-3DF20CDAE8A1}"/>
              </a:ext>
            </a:extLst>
          </p:cNvPr>
          <p:cNvPicPr>
            <a:picLocks noChangeAspect="1"/>
          </p:cNvPicPr>
          <p:nvPr/>
        </p:nvPicPr>
        <p:blipFill>
          <a:blip r:embed="rId3"/>
          <a:stretch>
            <a:fillRect/>
          </a:stretch>
        </p:blipFill>
        <p:spPr>
          <a:xfrm>
            <a:off x="4862953" y="940308"/>
            <a:ext cx="3961007" cy="3109178"/>
          </a:xfrm>
          <a:prstGeom prst="rect">
            <a:avLst/>
          </a:prstGeom>
        </p:spPr>
      </p:pic>
      <p:pic>
        <p:nvPicPr>
          <p:cNvPr id="9" name="Picture 8">
            <a:extLst>
              <a:ext uri="{FF2B5EF4-FFF2-40B4-BE49-F238E27FC236}">
                <a16:creationId xmlns:a16="http://schemas.microsoft.com/office/drawing/2014/main" id="{AF86370F-FA85-5695-06A3-C1E7758256EA}"/>
              </a:ext>
            </a:extLst>
          </p:cNvPr>
          <p:cNvPicPr>
            <a:picLocks noChangeAspect="1"/>
          </p:cNvPicPr>
          <p:nvPr/>
        </p:nvPicPr>
        <p:blipFill>
          <a:blip r:embed="rId4"/>
          <a:stretch>
            <a:fillRect/>
          </a:stretch>
        </p:blipFill>
        <p:spPr>
          <a:xfrm>
            <a:off x="551543" y="1124712"/>
            <a:ext cx="3613391" cy="3598880"/>
          </a:xfrm>
          <a:prstGeom prst="rect">
            <a:avLst/>
          </a:prstGeom>
        </p:spPr>
      </p:pic>
    </p:spTree>
    <p:extLst>
      <p:ext uri="{BB962C8B-B14F-4D97-AF65-F5344CB8AC3E}">
        <p14:creationId xmlns:p14="http://schemas.microsoft.com/office/powerpoint/2010/main" val="3138852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80736BB-ED97-4C26-E8F3-AC5C40D61A6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87DA8C8-979F-2F8E-AB0F-72A62E7B1B76}"/>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9FED549B-277A-327F-9192-CE875321DB02}"/>
              </a:ext>
            </a:extLst>
          </p:cNvPr>
          <p:cNvSpPr/>
          <p:nvPr/>
        </p:nvSpPr>
        <p:spPr>
          <a:xfrm>
            <a:off x="365760" y="621792"/>
            <a:ext cx="8412480" cy="292608"/>
          </a:xfrm>
          <a:prstGeom prst="rect">
            <a:avLst/>
          </a:prstGeom>
          <a:noFill/>
          <a:ln/>
        </p:spPr>
        <p:txBody>
          <a:bodyPr wrap="square" rtlCol="0" anchor="ctr"/>
          <a:lstStyle/>
          <a:p>
            <a:r>
              <a:rPr lang="en-US" sz="1400" dirty="0">
                <a:solidFill>
                  <a:srgbClr val="4A90C4"/>
                </a:solidFill>
                <a:latin typeface="Calibri" pitchFamily="34" charset="0"/>
                <a:ea typeface="Calibri" pitchFamily="34" charset="-122"/>
                <a:cs typeface="Calibri" pitchFamily="34" charset="-120"/>
              </a:rPr>
              <a:t>Exploratory Data Analysis</a:t>
            </a:r>
            <a:endParaRPr lang="en-US" sz="1400" dirty="0"/>
          </a:p>
        </p:txBody>
      </p:sp>
      <p:sp>
        <p:nvSpPr>
          <p:cNvPr id="26" name="Shape 24">
            <a:extLst>
              <a:ext uri="{FF2B5EF4-FFF2-40B4-BE49-F238E27FC236}">
                <a16:creationId xmlns:a16="http://schemas.microsoft.com/office/drawing/2014/main" id="{1AF6BC50-6847-227D-8AE5-4470A57D6CBE}"/>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A83335A8-B1D4-AC13-1BE6-B940722EF8DA}"/>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17</a:t>
            </a:r>
            <a:endParaRPr lang="en-US" sz="1400" dirty="0"/>
          </a:p>
        </p:txBody>
      </p:sp>
      <p:pic>
        <p:nvPicPr>
          <p:cNvPr id="7" name="Picture 6">
            <a:extLst>
              <a:ext uri="{FF2B5EF4-FFF2-40B4-BE49-F238E27FC236}">
                <a16:creationId xmlns:a16="http://schemas.microsoft.com/office/drawing/2014/main" id="{1CB37C55-70FD-A602-B263-6C5C7B942BBB}"/>
              </a:ext>
            </a:extLst>
          </p:cNvPr>
          <p:cNvPicPr>
            <a:picLocks noChangeAspect="1"/>
          </p:cNvPicPr>
          <p:nvPr/>
        </p:nvPicPr>
        <p:blipFill>
          <a:blip r:embed="rId3"/>
          <a:stretch>
            <a:fillRect/>
          </a:stretch>
        </p:blipFill>
        <p:spPr>
          <a:xfrm>
            <a:off x="4795426" y="1386382"/>
            <a:ext cx="4028534" cy="2852202"/>
          </a:xfrm>
          <a:prstGeom prst="rect">
            <a:avLst/>
          </a:prstGeom>
        </p:spPr>
      </p:pic>
      <p:pic>
        <p:nvPicPr>
          <p:cNvPr id="9" name="Picture 8">
            <a:extLst>
              <a:ext uri="{FF2B5EF4-FFF2-40B4-BE49-F238E27FC236}">
                <a16:creationId xmlns:a16="http://schemas.microsoft.com/office/drawing/2014/main" id="{642C1C4B-FF2F-6222-925E-452FEF899297}"/>
              </a:ext>
            </a:extLst>
          </p:cNvPr>
          <p:cNvPicPr>
            <a:picLocks noChangeAspect="1"/>
          </p:cNvPicPr>
          <p:nvPr/>
        </p:nvPicPr>
        <p:blipFill>
          <a:blip r:embed="rId4"/>
          <a:stretch>
            <a:fillRect/>
          </a:stretch>
        </p:blipFill>
        <p:spPr>
          <a:xfrm>
            <a:off x="320040" y="1103258"/>
            <a:ext cx="4429666" cy="3418450"/>
          </a:xfrm>
          <a:prstGeom prst="rect">
            <a:avLst/>
          </a:prstGeom>
        </p:spPr>
      </p:pic>
    </p:spTree>
    <p:extLst>
      <p:ext uri="{BB962C8B-B14F-4D97-AF65-F5344CB8AC3E}">
        <p14:creationId xmlns:p14="http://schemas.microsoft.com/office/powerpoint/2010/main" val="1919730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E12CFF7-141B-9A7E-7B3B-24B36519390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ABF856-3EB9-4117-0855-6F6BCFE07872}"/>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982F20FC-C0FC-E7A8-98C6-019362A90A14}"/>
              </a:ext>
            </a:extLst>
          </p:cNvPr>
          <p:cNvSpPr/>
          <p:nvPr/>
        </p:nvSpPr>
        <p:spPr>
          <a:xfrm>
            <a:off x="365759" y="715268"/>
            <a:ext cx="2085341" cy="364232"/>
          </a:xfrm>
          <a:prstGeom prst="rect">
            <a:avLst/>
          </a:prstGeom>
          <a:noFill/>
          <a:ln/>
        </p:spPr>
        <p:txBody>
          <a:bodyPr wrap="square" rtlCol="0" anchor="ctr"/>
          <a:lstStyle/>
          <a:p>
            <a:r>
              <a:rPr lang="en-US" sz="1400" dirty="0">
                <a:solidFill>
                  <a:srgbClr val="4A90C4"/>
                </a:solidFill>
                <a:latin typeface="Calibri" pitchFamily="34" charset="0"/>
                <a:ea typeface="Calibri" pitchFamily="34" charset="-122"/>
                <a:cs typeface="Calibri" pitchFamily="34" charset="-120"/>
              </a:rPr>
              <a:t>Exploratory Data Analysis</a:t>
            </a:r>
            <a:endParaRPr lang="en-US" sz="1400" dirty="0"/>
          </a:p>
        </p:txBody>
      </p:sp>
      <p:sp>
        <p:nvSpPr>
          <p:cNvPr id="26" name="Shape 24">
            <a:extLst>
              <a:ext uri="{FF2B5EF4-FFF2-40B4-BE49-F238E27FC236}">
                <a16:creationId xmlns:a16="http://schemas.microsoft.com/office/drawing/2014/main" id="{21D03E4B-AB6E-2EE6-060D-240CA67FABB1}"/>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66345790-6DAF-563E-B815-57E365309AE7}"/>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18</a:t>
            </a:r>
            <a:endParaRPr lang="en-US" sz="1400" dirty="0"/>
          </a:p>
        </p:txBody>
      </p:sp>
      <p:pic>
        <p:nvPicPr>
          <p:cNvPr id="6" name="Picture 5">
            <a:extLst>
              <a:ext uri="{FF2B5EF4-FFF2-40B4-BE49-F238E27FC236}">
                <a16:creationId xmlns:a16="http://schemas.microsoft.com/office/drawing/2014/main" id="{6F09FB22-26EB-776F-4DE2-7B95418E620B}"/>
              </a:ext>
            </a:extLst>
          </p:cNvPr>
          <p:cNvPicPr>
            <a:picLocks noChangeAspect="1"/>
          </p:cNvPicPr>
          <p:nvPr/>
        </p:nvPicPr>
        <p:blipFill>
          <a:blip r:embed="rId3"/>
          <a:stretch>
            <a:fillRect/>
          </a:stretch>
        </p:blipFill>
        <p:spPr>
          <a:xfrm>
            <a:off x="667657" y="1079500"/>
            <a:ext cx="2833368" cy="3791047"/>
          </a:xfrm>
          <a:prstGeom prst="rect">
            <a:avLst/>
          </a:prstGeom>
        </p:spPr>
      </p:pic>
      <p:pic>
        <p:nvPicPr>
          <p:cNvPr id="9" name="Picture 8">
            <a:extLst>
              <a:ext uri="{FF2B5EF4-FFF2-40B4-BE49-F238E27FC236}">
                <a16:creationId xmlns:a16="http://schemas.microsoft.com/office/drawing/2014/main" id="{EB2CE758-9160-8B0D-87F1-F68F556165D1}"/>
              </a:ext>
            </a:extLst>
          </p:cNvPr>
          <p:cNvPicPr>
            <a:picLocks noChangeAspect="1"/>
          </p:cNvPicPr>
          <p:nvPr/>
        </p:nvPicPr>
        <p:blipFill>
          <a:blip r:embed="rId4"/>
          <a:stretch>
            <a:fillRect/>
          </a:stretch>
        </p:blipFill>
        <p:spPr>
          <a:xfrm>
            <a:off x="4135479" y="897384"/>
            <a:ext cx="4471494" cy="3807722"/>
          </a:xfrm>
          <a:prstGeom prst="rect">
            <a:avLst/>
          </a:prstGeom>
        </p:spPr>
      </p:pic>
    </p:spTree>
    <p:extLst>
      <p:ext uri="{BB962C8B-B14F-4D97-AF65-F5344CB8AC3E}">
        <p14:creationId xmlns:p14="http://schemas.microsoft.com/office/powerpoint/2010/main" val="3084196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A5035AD-CB3D-E563-BBDE-B0F311AAC64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28FC343-C5D3-26B3-543C-2A3B1846560A}"/>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DF21FEF7-174C-3EBF-9367-EFBDA2DFE120}"/>
              </a:ext>
            </a:extLst>
          </p:cNvPr>
          <p:cNvSpPr/>
          <p:nvPr/>
        </p:nvSpPr>
        <p:spPr>
          <a:xfrm>
            <a:off x="365759" y="715268"/>
            <a:ext cx="2085341" cy="364232"/>
          </a:xfrm>
          <a:prstGeom prst="rect">
            <a:avLst/>
          </a:prstGeom>
          <a:noFill/>
          <a:ln/>
        </p:spPr>
        <p:txBody>
          <a:bodyPr wrap="square" rtlCol="0" anchor="ctr"/>
          <a:lstStyle/>
          <a:p>
            <a:r>
              <a:rPr lang="en-US" sz="1400" dirty="0">
                <a:solidFill>
                  <a:srgbClr val="4A90C4"/>
                </a:solidFill>
                <a:latin typeface="Calibri" pitchFamily="34" charset="0"/>
                <a:ea typeface="Calibri" pitchFamily="34" charset="-122"/>
                <a:cs typeface="Calibri" pitchFamily="34" charset="-120"/>
              </a:rPr>
              <a:t>Exploratory Data Analysis</a:t>
            </a:r>
            <a:endParaRPr lang="en-US" sz="1400" dirty="0"/>
          </a:p>
        </p:txBody>
      </p:sp>
      <p:sp>
        <p:nvSpPr>
          <p:cNvPr id="26" name="Shape 24">
            <a:extLst>
              <a:ext uri="{FF2B5EF4-FFF2-40B4-BE49-F238E27FC236}">
                <a16:creationId xmlns:a16="http://schemas.microsoft.com/office/drawing/2014/main" id="{752E365D-23D6-2743-6E50-3E1BD6222ADB}"/>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4578F1F2-E602-217A-0101-EA48C74A9422}"/>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19</a:t>
            </a:r>
            <a:endParaRPr lang="en-US" sz="1400" dirty="0"/>
          </a:p>
        </p:txBody>
      </p:sp>
      <p:pic>
        <p:nvPicPr>
          <p:cNvPr id="7" name="Picture 6">
            <a:extLst>
              <a:ext uri="{FF2B5EF4-FFF2-40B4-BE49-F238E27FC236}">
                <a16:creationId xmlns:a16="http://schemas.microsoft.com/office/drawing/2014/main" id="{B05A5708-342C-FC59-86EC-9F1724399661}"/>
              </a:ext>
            </a:extLst>
          </p:cNvPr>
          <p:cNvPicPr>
            <a:picLocks noChangeAspect="1"/>
          </p:cNvPicPr>
          <p:nvPr/>
        </p:nvPicPr>
        <p:blipFill>
          <a:blip r:embed="rId3"/>
          <a:stretch>
            <a:fillRect/>
          </a:stretch>
        </p:blipFill>
        <p:spPr>
          <a:xfrm>
            <a:off x="4572000" y="897384"/>
            <a:ext cx="4133792" cy="3520150"/>
          </a:xfrm>
          <a:prstGeom prst="rect">
            <a:avLst/>
          </a:prstGeom>
        </p:spPr>
      </p:pic>
      <p:pic>
        <p:nvPicPr>
          <p:cNvPr id="6" name="Picture 5">
            <a:extLst>
              <a:ext uri="{FF2B5EF4-FFF2-40B4-BE49-F238E27FC236}">
                <a16:creationId xmlns:a16="http://schemas.microsoft.com/office/drawing/2014/main" id="{6934919A-7CE0-E63D-45AB-A2AF678519DF}"/>
              </a:ext>
            </a:extLst>
          </p:cNvPr>
          <p:cNvPicPr>
            <a:picLocks noChangeAspect="1"/>
          </p:cNvPicPr>
          <p:nvPr/>
        </p:nvPicPr>
        <p:blipFill>
          <a:blip r:embed="rId4"/>
          <a:stretch>
            <a:fillRect/>
          </a:stretch>
        </p:blipFill>
        <p:spPr>
          <a:xfrm>
            <a:off x="365759" y="1184039"/>
            <a:ext cx="4040072" cy="3147786"/>
          </a:xfrm>
          <a:prstGeom prst="rect">
            <a:avLst/>
          </a:prstGeom>
        </p:spPr>
      </p:pic>
    </p:spTree>
    <p:extLst>
      <p:ext uri="{BB962C8B-B14F-4D97-AF65-F5344CB8AC3E}">
        <p14:creationId xmlns:p14="http://schemas.microsoft.com/office/powerpoint/2010/main" val="3662511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989583B-FF85-6610-B2FB-F3BECAA0D11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2F2F04B-DC0C-D638-6D98-F128F3FD8D0F}"/>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7F41358D-8843-9B99-0067-5C2E22F359AD}"/>
              </a:ext>
            </a:extLst>
          </p:cNvPr>
          <p:cNvSpPr/>
          <p:nvPr/>
        </p:nvSpPr>
        <p:spPr>
          <a:xfrm>
            <a:off x="365759" y="715268"/>
            <a:ext cx="2999741" cy="364232"/>
          </a:xfrm>
          <a:prstGeom prst="rect">
            <a:avLst/>
          </a:prstGeom>
          <a:noFill/>
          <a:ln/>
        </p:spPr>
        <p:txBody>
          <a:bodyPr wrap="square" rtlCol="0" anchor="ctr"/>
          <a:lstStyle/>
          <a:p>
            <a:r>
              <a:rPr lang="en-US" sz="1400" dirty="0">
                <a:solidFill>
                  <a:srgbClr val="4A90C4"/>
                </a:solidFill>
                <a:latin typeface="Calibri" pitchFamily="34" charset="0"/>
                <a:ea typeface="Calibri" pitchFamily="34" charset="-122"/>
                <a:cs typeface="Calibri" pitchFamily="34" charset="-120"/>
              </a:rPr>
              <a:t>Exploratory Data Analysis</a:t>
            </a:r>
            <a:endParaRPr lang="en-US" sz="1400" dirty="0"/>
          </a:p>
        </p:txBody>
      </p:sp>
      <p:sp>
        <p:nvSpPr>
          <p:cNvPr id="26" name="Shape 24">
            <a:extLst>
              <a:ext uri="{FF2B5EF4-FFF2-40B4-BE49-F238E27FC236}">
                <a16:creationId xmlns:a16="http://schemas.microsoft.com/office/drawing/2014/main" id="{D70E41AA-35B3-5DED-8F92-36ED9F20CC6E}"/>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F6C0C7FA-9FC4-6C26-B8A5-6D56069BD674}"/>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pic>
        <p:nvPicPr>
          <p:cNvPr id="6" name="Picture 5">
            <a:extLst>
              <a:ext uri="{FF2B5EF4-FFF2-40B4-BE49-F238E27FC236}">
                <a16:creationId xmlns:a16="http://schemas.microsoft.com/office/drawing/2014/main" id="{0B719F7F-A36B-89CA-4517-7237A13DE9EF}"/>
              </a:ext>
            </a:extLst>
          </p:cNvPr>
          <p:cNvPicPr>
            <a:picLocks noChangeAspect="1"/>
          </p:cNvPicPr>
          <p:nvPr/>
        </p:nvPicPr>
        <p:blipFill>
          <a:blip r:embed="rId3"/>
          <a:stretch>
            <a:fillRect/>
          </a:stretch>
        </p:blipFill>
        <p:spPr>
          <a:xfrm>
            <a:off x="4412219" y="1409716"/>
            <a:ext cx="4411741" cy="2936389"/>
          </a:xfrm>
          <a:prstGeom prst="rect">
            <a:avLst/>
          </a:prstGeom>
        </p:spPr>
      </p:pic>
      <p:pic>
        <p:nvPicPr>
          <p:cNvPr id="7" name="Picture 6">
            <a:extLst>
              <a:ext uri="{FF2B5EF4-FFF2-40B4-BE49-F238E27FC236}">
                <a16:creationId xmlns:a16="http://schemas.microsoft.com/office/drawing/2014/main" id="{A9221E55-66AB-9E2A-9DB8-F893B1C325B5}"/>
              </a:ext>
            </a:extLst>
          </p:cNvPr>
          <p:cNvPicPr>
            <a:picLocks noChangeAspect="1"/>
          </p:cNvPicPr>
          <p:nvPr/>
        </p:nvPicPr>
        <p:blipFill>
          <a:blip r:embed="rId4"/>
          <a:stretch>
            <a:fillRect/>
          </a:stretch>
        </p:blipFill>
        <p:spPr>
          <a:xfrm>
            <a:off x="320040" y="1244542"/>
            <a:ext cx="3925492" cy="3273829"/>
          </a:xfrm>
          <a:prstGeom prst="rect">
            <a:avLst/>
          </a:prstGeom>
        </p:spPr>
      </p:pic>
    </p:spTree>
    <p:extLst>
      <p:ext uri="{BB962C8B-B14F-4D97-AF65-F5344CB8AC3E}">
        <p14:creationId xmlns:p14="http://schemas.microsoft.com/office/powerpoint/2010/main" val="3361126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7">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p:cNvSpPr/>
          <p:nvPr/>
        </p:nvSpPr>
        <p:spPr>
          <a:xfrm>
            <a:off x="914400" y="1828800"/>
            <a:ext cx="7315200" cy="1097280"/>
          </a:xfrm>
          <a:prstGeom prst="rect">
            <a:avLst/>
          </a:prstGeom>
          <a:noFill/>
          <a:ln/>
        </p:spPr>
        <p:txBody>
          <a:bodyPr wrap="square" rtlCol="0" anchor="ctr"/>
          <a:lstStyle/>
          <a:p>
            <a:pPr marL="0" indent="0">
              <a:buNone/>
            </a:pPr>
            <a:r>
              <a:rPr lang="en-US" sz="3600" b="1" dirty="0">
                <a:solidFill>
                  <a:srgbClr val="2D2D2D"/>
                </a:solidFill>
                <a:latin typeface="Calibri" pitchFamily="34" charset="0"/>
                <a:ea typeface="Calibri" pitchFamily="34" charset="-122"/>
                <a:cs typeface="Calibri" pitchFamily="34" charset="-120"/>
              </a:rPr>
              <a:t>3. Data Preprocessing &amp; Feature Engineering</a:t>
            </a:r>
            <a:endParaRPr lang="en-US" sz="3600" dirty="0"/>
          </a:p>
        </p:txBody>
      </p:sp>
      <p:sp>
        <p:nvSpPr>
          <p:cNvPr id="5" name="Shape 3"/>
          <p:cNvSpPr/>
          <p:nvPr/>
        </p:nvSpPr>
        <p:spPr>
          <a:xfrm>
            <a:off x="822960" y="2057400"/>
            <a:ext cx="109728" cy="109728"/>
          </a:xfrm>
          <a:prstGeom prst="ellipse">
            <a:avLst/>
          </a:prstGeom>
          <a:solidFill>
            <a:srgbClr val="E8922A"/>
          </a:solidFill>
          <a:ln w="12700">
            <a:solidFill>
              <a:srgbClr val="E8922A"/>
            </a:solidFill>
            <a:prstDash val="solid"/>
          </a:ln>
        </p:spPr>
        <p:txBody>
          <a:bodyPr/>
          <a:lstStyle/>
          <a:p>
            <a:endParaRPr lang="en-NG"/>
          </a:p>
        </p:txBody>
      </p:sp>
      <p:sp>
        <p:nvSpPr>
          <p:cNvPr id="6" name="Shape 4"/>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21</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9DE3A57-268F-B8A7-AE18-3A6AE0518DA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42E4F8-1282-64C6-D666-2BD3F46166EF}"/>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02ABD0C1-9E51-26B0-6646-9788E389B1DD}"/>
              </a:ext>
            </a:extLst>
          </p:cNvPr>
          <p:cNvSpPr/>
          <p:nvPr/>
        </p:nvSpPr>
        <p:spPr>
          <a:xfrm>
            <a:off x="365760" y="621792"/>
            <a:ext cx="8412480" cy="292608"/>
          </a:xfrm>
          <a:prstGeom prst="rect">
            <a:avLst/>
          </a:prstGeom>
          <a:noFill/>
          <a:ln/>
        </p:spPr>
        <p:txBody>
          <a:bodyPr wrap="square" rtlCol="0" anchor="ctr"/>
          <a:lstStyle/>
          <a:p>
            <a:r>
              <a:rPr lang="en-US" sz="1400" dirty="0">
                <a:solidFill>
                  <a:srgbClr val="4A90C4"/>
                </a:solidFill>
                <a:latin typeface="Calibri" pitchFamily="34" charset="0"/>
                <a:ea typeface="Calibri" pitchFamily="34" charset="-122"/>
                <a:cs typeface="Calibri" pitchFamily="34" charset="-120"/>
              </a:rPr>
              <a:t>Data Preprocessing &amp; Feature Engineering</a:t>
            </a:r>
            <a:endParaRPr lang="en-US" sz="1400" dirty="0"/>
          </a:p>
        </p:txBody>
      </p:sp>
      <p:sp>
        <p:nvSpPr>
          <p:cNvPr id="4" name="Text 2">
            <a:extLst>
              <a:ext uri="{FF2B5EF4-FFF2-40B4-BE49-F238E27FC236}">
                <a16:creationId xmlns:a16="http://schemas.microsoft.com/office/drawing/2014/main" id="{81DA9093-3399-1C77-0E38-FD68B97DC590}"/>
              </a:ext>
            </a:extLst>
          </p:cNvPr>
          <p:cNvSpPr/>
          <p:nvPr/>
        </p:nvSpPr>
        <p:spPr>
          <a:xfrm>
            <a:off x="365760" y="2166659"/>
            <a:ext cx="4118856" cy="1335960"/>
          </a:xfrm>
          <a:prstGeom prst="rect">
            <a:avLst/>
          </a:prstGeom>
          <a:noFill/>
          <a:ln/>
        </p:spPr>
        <p:txBody>
          <a:bodyPr wrap="square" rtlCol="0" anchor="t"/>
          <a:lstStyle/>
          <a:p>
            <a:r>
              <a:rPr lang="en-NG" sz="1400" b="1" dirty="0">
                <a:solidFill>
                  <a:schemeClr val="accent1"/>
                </a:solidFill>
              </a:rPr>
              <a:t>Data Cleaning Pipeline</a:t>
            </a:r>
          </a:p>
          <a:p>
            <a:pPr marL="285750" indent="-285750">
              <a:buFont typeface="Arial" panose="020B0604020202020204" pitchFamily="34" charset="0"/>
              <a:buChar char="•"/>
            </a:pPr>
            <a:r>
              <a:rPr lang="en-NG" sz="1400" dirty="0"/>
              <a:t>Missing value handling </a:t>
            </a:r>
          </a:p>
          <a:p>
            <a:pPr marL="285750" indent="-285750">
              <a:buFont typeface="Arial" panose="020B0604020202020204" pitchFamily="34" charset="0"/>
              <a:buChar char="•"/>
            </a:pPr>
            <a:r>
              <a:rPr lang="en-NG" sz="1400" dirty="0"/>
              <a:t>Duplicate removal </a:t>
            </a:r>
          </a:p>
          <a:p>
            <a:pPr marL="285750" indent="-285750">
              <a:buFont typeface="Arial" panose="020B0604020202020204" pitchFamily="34" charset="0"/>
              <a:buChar char="•"/>
            </a:pPr>
            <a:r>
              <a:rPr lang="en-NG" sz="1400" dirty="0"/>
              <a:t>Data consistency checks </a:t>
            </a:r>
          </a:p>
          <a:p>
            <a:pPr marL="285750" indent="-285750">
              <a:buFont typeface="Arial" panose="020B0604020202020204" pitchFamily="34" charset="0"/>
              <a:buChar char="•"/>
            </a:pPr>
            <a:r>
              <a:rPr lang="en-NG" sz="1400" dirty="0"/>
              <a:t>Integrated preprocessing workflow</a:t>
            </a:r>
          </a:p>
        </p:txBody>
      </p:sp>
      <p:sp>
        <p:nvSpPr>
          <p:cNvPr id="26" name="Shape 24">
            <a:extLst>
              <a:ext uri="{FF2B5EF4-FFF2-40B4-BE49-F238E27FC236}">
                <a16:creationId xmlns:a16="http://schemas.microsoft.com/office/drawing/2014/main" id="{011BCE5A-481D-C292-FFD4-E8C180D000D2}"/>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6C3E06A1-F741-1CC3-1697-24C2FC672F4D}"/>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22</a:t>
            </a:r>
            <a:endParaRPr lang="en-US" sz="1400" dirty="0"/>
          </a:p>
        </p:txBody>
      </p:sp>
      <p:pic>
        <p:nvPicPr>
          <p:cNvPr id="9" name="Picture 8">
            <a:extLst>
              <a:ext uri="{FF2B5EF4-FFF2-40B4-BE49-F238E27FC236}">
                <a16:creationId xmlns:a16="http://schemas.microsoft.com/office/drawing/2014/main" id="{F088D17C-1A8B-FB54-A7FA-C5382101008B}"/>
              </a:ext>
            </a:extLst>
          </p:cNvPr>
          <p:cNvPicPr>
            <a:picLocks noChangeAspect="1"/>
          </p:cNvPicPr>
          <p:nvPr/>
        </p:nvPicPr>
        <p:blipFill>
          <a:blip r:embed="rId3"/>
          <a:stretch>
            <a:fillRect/>
          </a:stretch>
        </p:blipFill>
        <p:spPr>
          <a:xfrm>
            <a:off x="4005217" y="947599"/>
            <a:ext cx="4498703" cy="3774080"/>
          </a:xfrm>
          <a:prstGeom prst="rect">
            <a:avLst/>
          </a:prstGeom>
        </p:spPr>
      </p:pic>
    </p:spTree>
    <p:extLst>
      <p:ext uri="{BB962C8B-B14F-4D97-AF65-F5344CB8AC3E}">
        <p14:creationId xmlns:p14="http://schemas.microsoft.com/office/powerpoint/2010/main" val="3011905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EFD0440-E833-C1F1-09C1-4C3C7E502F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D80099-03C5-C55B-05B2-040A960AE901}"/>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AA86CF9B-95E9-9705-DFD4-06A98CF40079}"/>
              </a:ext>
            </a:extLst>
          </p:cNvPr>
          <p:cNvSpPr/>
          <p:nvPr/>
        </p:nvSpPr>
        <p:spPr>
          <a:xfrm>
            <a:off x="365760" y="621792"/>
            <a:ext cx="8412480" cy="292608"/>
          </a:xfrm>
          <a:prstGeom prst="rect">
            <a:avLst/>
          </a:prstGeom>
          <a:noFill/>
          <a:ln/>
        </p:spPr>
        <p:txBody>
          <a:bodyPr wrap="square" rtlCol="0" anchor="ctr"/>
          <a:lstStyle/>
          <a:p>
            <a:r>
              <a:rPr lang="en-US" sz="1400" dirty="0">
                <a:solidFill>
                  <a:srgbClr val="4A90C4"/>
                </a:solidFill>
                <a:latin typeface="Calibri" pitchFamily="34" charset="0"/>
                <a:ea typeface="Calibri" pitchFamily="34" charset="-122"/>
                <a:cs typeface="Calibri" pitchFamily="34" charset="-120"/>
              </a:rPr>
              <a:t>Data Preprocessing &amp; Feature Engineering</a:t>
            </a:r>
            <a:endParaRPr lang="en-US" sz="1400" dirty="0"/>
          </a:p>
        </p:txBody>
      </p:sp>
      <p:sp>
        <p:nvSpPr>
          <p:cNvPr id="4" name="Text 2">
            <a:extLst>
              <a:ext uri="{FF2B5EF4-FFF2-40B4-BE49-F238E27FC236}">
                <a16:creationId xmlns:a16="http://schemas.microsoft.com/office/drawing/2014/main" id="{EFCEA591-857A-A39D-FD11-0482E5A5C004}"/>
              </a:ext>
            </a:extLst>
          </p:cNvPr>
          <p:cNvSpPr/>
          <p:nvPr/>
        </p:nvSpPr>
        <p:spPr>
          <a:xfrm>
            <a:off x="365760" y="947598"/>
            <a:ext cx="3639457" cy="4058741"/>
          </a:xfrm>
          <a:prstGeom prst="rect">
            <a:avLst/>
          </a:prstGeom>
          <a:noFill/>
          <a:ln/>
        </p:spPr>
        <p:txBody>
          <a:bodyPr wrap="square" rtlCol="0" anchor="t"/>
          <a:lstStyle/>
          <a:p>
            <a:r>
              <a:rPr lang="en-NG" sz="1400" b="1" dirty="0">
                <a:solidFill>
                  <a:schemeClr val="accent1"/>
                </a:solidFill>
              </a:rPr>
              <a:t>Education Feature Engineering</a:t>
            </a:r>
          </a:p>
          <a:p>
            <a:pPr marL="285750" indent="-285750">
              <a:buFont typeface="Arial" panose="020B0604020202020204" pitchFamily="34" charset="0"/>
              <a:buChar char="•"/>
            </a:pPr>
            <a:r>
              <a:rPr lang="en-NG" sz="1400" dirty="0"/>
              <a:t>Reduced high-cardinality categories </a:t>
            </a:r>
          </a:p>
          <a:p>
            <a:pPr marL="285750" indent="-285750">
              <a:buFont typeface="Arial" panose="020B0604020202020204" pitchFamily="34" charset="0"/>
              <a:buChar char="•"/>
            </a:pPr>
            <a:r>
              <a:rPr lang="en-NG" sz="1400" dirty="0"/>
              <a:t>Grouped similar education levels </a:t>
            </a:r>
          </a:p>
          <a:p>
            <a:pPr marL="285750" indent="-285750">
              <a:buFont typeface="Arial" panose="020B0604020202020204" pitchFamily="34" charset="0"/>
              <a:buChar char="•"/>
            </a:pPr>
            <a:r>
              <a:rPr lang="en-NG" sz="1400" dirty="0"/>
              <a:t>Improved model generalization </a:t>
            </a:r>
          </a:p>
          <a:p>
            <a:pPr marL="285750" indent="-285750">
              <a:buFont typeface="Arial" panose="020B0604020202020204" pitchFamily="34" charset="0"/>
              <a:buChar char="•"/>
            </a:pPr>
            <a:r>
              <a:rPr lang="en-NG" sz="1400" dirty="0"/>
              <a:t>Reduced feature sparsity </a:t>
            </a:r>
          </a:p>
          <a:p>
            <a:endParaRPr lang="en-NG" sz="1400" dirty="0"/>
          </a:p>
          <a:p>
            <a:endParaRPr lang="en-NG" sz="1400" dirty="0"/>
          </a:p>
          <a:p>
            <a:r>
              <a:rPr lang="en-NG" sz="1400" b="1" dirty="0">
                <a:solidFill>
                  <a:schemeClr val="accent1"/>
                </a:solidFill>
              </a:rPr>
              <a:t>Example Groups</a:t>
            </a:r>
          </a:p>
          <a:p>
            <a:pPr marL="285750" indent="-285750">
              <a:buFont typeface="Arial" panose="020B0604020202020204" pitchFamily="34" charset="0"/>
              <a:buChar char="•"/>
            </a:pPr>
            <a:r>
              <a:rPr lang="en-NG" sz="1400" dirty="0"/>
              <a:t>School Education </a:t>
            </a:r>
          </a:p>
          <a:p>
            <a:pPr marL="285750" indent="-285750">
              <a:buFont typeface="Arial" panose="020B0604020202020204" pitchFamily="34" charset="0"/>
              <a:buChar char="•"/>
            </a:pPr>
            <a:r>
              <a:rPr lang="en-NG" sz="1400" dirty="0"/>
              <a:t>High School </a:t>
            </a:r>
          </a:p>
          <a:p>
            <a:pPr marL="285750" indent="-285750">
              <a:buFont typeface="Arial" panose="020B0604020202020204" pitchFamily="34" charset="0"/>
              <a:buChar char="•"/>
            </a:pPr>
            <a:r>
              <a:rPr lang="en-NG" sz="1400" dirty="0"/>
              <a:t>Associate Degree </a:t>
            </a:r>
          </a:p>
          <a:p>
            <a:pPr marL="285750" indent="-285750">
              <a:buFont typeface="Arial" panose="020B0604020202020204" pitchFamily="34" charset="0"/>
              <a:buChar char="•"/>
            </a:pPr>
            <a:r>
              <a:rPr lang="en-NG" sz="1400" dirty="0"/>
              <a:t>Bachelor Degree </a:t>
            </a:r>
          </a:p>
          <a:p>
            <a:pPr marL="285750" indent="-285750">
              <a:buFont typeface="Arial" panose="020B0604020202020204" pitchFamily="34" charset="0"/>
              <a:buChar char="•"/>
            </a:pPr>
            <a:r>
              <a:rPr lang="en-NG" sz="1400" dirty="0"/>
              <a:t>Postgraduate Degree</a:t>
            </a:r>
          </a:p>
        </p:txBody>
      </p:sp>
      <p:sp>
        <p:nvSpPr>
          <p:cNvPr id="26" name="Shape 24">
            <a:extLst>
              <a:ext uri="{FF2B5EF4-FFF2-40B4-BE49-F238E27FC236}">
                <a16:creationId xmlns:a16="http://schemas.microsoft.com/office/drawing/2014/main" id="{0AF32CCC-A032-D5AC-5197-2B5A98EE1E9A}"/>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E7DE67F2-3E12-BD88-A1E0-3A6250E274DC}"/>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23</a:t>
            </a:r>
            <a:endParaRPr lang="en-US" sz="1400" dirty="0"/>
          </a:p>
        </p:txBody>
      </p:sp>
      <p:pic>
        <p:nvPicPr>
          <p:cNvPr id="6" name="Picture 5">
            <a:extLst>
              <a:ext uri="{FF2B5EF4-FFF2-40B4-BE49-F238E27FC236}">
                <a16:creationId xmlns:a16="http://schemas.microsoft.com/office/drawing/2014/main" id="{EB8255E2-202C-CDAC-3B50-297252DFD7A3}"/>
              </a:ext>
            </a:extLst>
          </p:cNvPr>
          <p:cNvPicPr>
            <a:picLocks noChangeAspect="1"/>
          </p:cNvPicPr>
          <p:nvPr/>
        </p:nvPicPr>
        <p:blipFill>
          <a:blip r:embed="rId3"/>
          <a:stretch>
            <a:fillRect/>
          </a:stretch>
        </p:blipFill>
        <p:spPr>
          <a:xfrm>
            <a:off x="4434840" y="696670"/>
            <a:ext cx="3639457" cy="4058210"/>
          </a:xfrm>
          <a:prstGeom prst="rect">
            <a:avLst/>
          </a:prstGeom>
        </p:spPr>
      </p:pic>
    </p:spTree>
    <p:extLst>
      <p:ext uri="{BB962C8B-B14F-4D97-AF65-F5344CB8AC3E}">
        <p14:creationId xmlns:p14="http://schemas.microsoft.com/office/powerpoint/2010/main" val="3728020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262E23-FE0E-FE15-5550-72B694C1197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CB4C60-1E03-F8F4-C700-ED5A2FDEBB99}"/>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BC5EB768-433C-AC55-255D-5BCAC41696DB}"/>
              </a:ext>
            </a:extLst>
          </p:cNvPr>
          <p:cNvSpPr/>
          <p:nvPr/>
        </p:nvSpPr>
        <p:spPr>
          <a:xfrm>
            <a:off x="365759" y="715268"/>
            <a:ext cx="3639820" cy="364232"/>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Data Preprocessing &amp; Feature Engineering</a:t>
            </a:r>
            <a:endParaRPr lang="en-US" sz="1500" dirty="0"/>
          </a:p>
        </p:txBody>
      </p:sp>
      <p:sp>
        <p:nvSpPr>
          <p:cNvPr id="26" name="Shape 24">
            <a:extLst>
              <a:ext uri="{FF2B5EF4-FFF2-40B4-BE49-F238E27FC236}">
                <a16:creationId xmlns:a16="http://schemas.microsoft.com/office/drawing/2014/main" id="{55D3E7C6-A0C1-09F1-89BB-19AB2D563EF3}"/>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4FD6C329-C5E3-F145-25D0-221AB2768E96}"/>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24</a:t>
            </a:r>
          </a:p>
        </p:txBody>
      </p:sp>
      <p:pic>
        <p:nvPicPr>
          <p:cNvPr id="6" name="Picture 5">
            <a:extLst>
              <a:ext uri="{FF2B5EF4-FFF2-40B4-BE49-F238E27FC236}">
                <a16:creationId xmlns:a16="http://schemas.microsoft.com/office/drawing/2014/main" id="{FC864125-7B69-6DA7-772C-C33C9C0C9427}"/>
              </a:ext>
            </a:extLst>
          </p:cNvPr>
          <p:cNvPicPr>
            <a:picLocks noChangeAspect="1"/>
          </p:cNvPicPr>
          <p:nvPr/>
        </p:nvPicPr>
        <p:blipFill>
          <a:blip r:embed="rId3"/>
          <a:stretch>
            <a:fillRect/>
          </a:stretch>
        </p:blipFill>
        <p:spPr>
          <a:xfrm>
            <a:off x="365759" y="1079500"/>
            <a:ext cx="7772400" cy="2755081"/>
          </a:xfrm>
          <a:prstGeom prst="rect">
            <a:avLst/>
          </a:prstGeom>
        </p:spPr>
      </p:pic>
      <p:sp>
        <p:nvSpPr>
          <p:cNvPr id="7" name="Text 2">
            <a:extLst>
              <a:ext uri="{FF2B5EF4-FFF2-40B4-BE49-F238E27FC236}">
                <a16:creationId xmlns:a16="http://schemas.microsoft.com/office/drawing/2014/main" id="{CA5025BD-3512-0DAA-218E-5E6E9AB9CDD8}"/>
              </a:ext>
            </a:extLst>
          </p:cNvPr>
          <p:cNvSpPr/>
          <p:nvPr/>
        </p:nvSpPr>
        <p:spPr>
          <a:xfrm>
            <a:off x="459740" y="3834580"/>
            <a:ext cx="3685539" cy="1171759"/>
          </a:xfrm>
          <a:prstGeom prst="rect">
            <a:avLst/>
          </a:prstGeom>
          <a:noFill/>
          <a:ln/>
        </p:spPr>
        <p:txBody>
          <a:bodyPr wrap="square" rtlCol="0" anchor="t"/>
          <a:lstStyle/>
          <a:p>
            <a:r>
              <a:rPr lang="en-NG" sz="1400" b="1" dirty="0"/>
              <a:t>Education Grouping</a:t>
            </a:r>
          </a:p>
          <a:p>
            <a:pPr marL="285750" indent="-285750">
              <a:buFont typeface="Arial" panose="020B0604020202020204" pitchFamily="34" charset="0"/>
              <a:buChar char="•"/>
            </a:pPr>
            <a:r>
              <a:rPr lang="en-NG" sz="1400" dirty="0"/>
              <a:t>Original education had many detailed categories </a:t>
            </a:r>
          </a:p>
          <a:p>
            <a:endParaRPr lang="en-NG" sz="1400" dirty="0"/>
          </a:p>
          <a:p>
            <a:pPr marL="285750" indent="-285750">
              <a:buFont typeface="Arial" panose="020B0604020202020204" pitchFamily="34" charset="0"/>
              <a:buChar char="•"/>
            </a:pPr>
            <a:r>
              <a:rPr lang="en-NG" sz="1400" dirty="0"/>
              <a:t>Grouped into broader education levels </a:t>
            </a:r>
          </a:p>
        </p:txBody>
      </p:sp>
      <p:sp>
        <p:nvSpPr>
          <p:cNvPr id="8" name="Text 2">
            <a:extLst>
              <a:ext uri="{FF2B5EF4-FFF2-40B4-BE49-F238E27FC236}">
                <a16:creationId xmlns:a16="http://schemas.microsoft.com/office/drawing/2014/main" id="{7025305F-ED68-3D2D-6EA0-E7C363623ECA}"/>
              </a:ext>
            </a:extLst>
          </p:cNvPr>
          <p:cNvSpPr/>
          <p:nvPr/>
        </p:nvSpPr>
        <p:spPr>
          <a:xfrm>
            <a:off x="4606290" y="3779717"/>
            <a:ext cx="3685539" cy="1171759"/>
          </a:xfrm>
          <a:prstGeom prst="rect">
            <a:avLst/>
          </a:prstGeom>
          <a:noFill/>
          <a:ln/>
        </p:spPr>
        <p:txBody>
          <a:bodyPr wrap="square" rtlCol="0" anchor="t"/>
          <a:lstStyle/>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Examples: High School, Bachelor, Postgraduate </a:t>
            </a:r>
          </a:p>
          <a:p>
            <a:endParaRPr lang="en-NG" sz="1400" dirty="0"/>
          </a:p>
          <a:p>
            <a:pPr marL="285750" indent="-285750">
              <a:buFont typeface="Arial" panose="020B0604020202020204" pitchFamily="34" charset="0"/>
              <a:buChar char="•"/>
            </a:pPr>
            <a:r>
              <a:rPr lang="en-NG" sz="1400" dirty="0"/>
              <a:t>Reduced sparsity while preserving meaning</a:t>
            </a:r>
          </a:p>
          <a:p>
            <a:endParaRPr lang="en-NG" sz="1400" dirty="0"/>
          </a:p>
        </p:txBody>
      </p:sp>
    </p:spTree>
    <p:extLst>
      <p:ext uri="{BB962C8B-B14F-4D97-AF65-F5344CB8AC3E}">
        <p14:creationId xmlns:p14="http://schemas.microsoft.com/office/powerpoint/2010/main" val="15543798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903A730-4CA7-90E2-9FEC-55D444C614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0A25493-49D6-FFCF-42B2-93CB95CD99B8}"/>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0DB38D10-AF1E-BD8E-0CC5-02F9B664417E}"/>
              </a:ext>
            </a:extLst>
          </p:cNvPr>
          <p:cNvSpPr/>
          <p:nvPr/>
        </p:nvSpPr>
        <p:spPr>
          <a:xfrm>
            <a:off x="365760" y="621792"/>
            <a:ext cx="8412480" cy="292608"/>
          </a:xfrm>
          <a:prstGeom prst="rect">
            <a:avLst/>
          </a:prstGeom>
          <a:noFill/>
          <a:ln/>
        </p:spPr>
        <p:txBody>
          <a:bodyPr wrap="square" rtlCol="0" anchor="ctr"/>
          <a:lstStyle/>
          <a:p>
            <a:r>
              <a:rPr lang="en-US" sz="1400" dirty="0">
                <a:solidFill>
                  <a:srgbClr val="4A90C4"/>
                </a:solidFill>
                <a:latin typeface="Calibri" pitchFamily="34" charset="0"/>
                <a:ea typeface="Calibri" pitchFamily="34" charset="-122"/>
                <a:cs typeface="Calibri" pitchFamily="34" charset="-120"/>
              </a:rPr>
              <a:t>Data Preprocessing &amp; Feature Engineering</a:t>
            </a:r>
            <a:endParaRPr lang="en-US" sz="1400" dirty="0"/>
          </a:p>
        </p:txBody>
      </p:sp>
      <p:sp>
        <p:nvSpPr>
          <p:cNvPr id="4" name="Text 2">
            <a:extLst>
              <a:ext uri="{FF2B5EF4-FFF2-40B4-BE49-F238E27FC236}">
                <a16:creationId xmlns:a16="http://schemas.microsoft.com/office/drawing/2014/main" id="{A8B70FDB-62BE-0718-75AE-54FDF16EDE78}"/>
              </a:ext>
            </a:extLst>
          </p:cNvPr>
          <p:cNvSpPr/>
          <p:nvPr/>
        </p:nvSpPr>
        <p:spPr>
          <a:xfrm>
            <a:off x="365760" y="947598"/>
            <a:ext cx="3639457" cy="4058741"/>
          </a:xfrm>
          <a:prstGeom prst="rect">
            <a:avLst/>
          </a:prstGeom>
          <a:noFill/>
          <a:ln/>
        </p:spPr>
        <p:txBody>
          <a:bodyPr wrap="square" rtlCol="0" anchor="t"/>
          <a:lstStyle/>
          <a:p>
            <a:r>
              <a:rPr lang="en-NG" sz="1400" b="1" dirty="0">
                <a:solidFill>
                  <a:schemeClr val="accent1"/>
                </a:solidFill>
              </a:rPr>
              <a:t>Country Feature Engineering</a:t>
            </a:r>
          </a:p>
          <a:p>
            <a:pPr marL="285750" indent="-285750">
              <a:buFont typeface="Arial" panose="020B0604020202020204" pitchFamily="34" charset="0"/>
              <a:buChar char="•"/>
            </a:pPr>
            <a:r>
              <a:rPr lang="en-NG" sz="1400" dirty="0"/>
              <a:t>Reduced country categories </a:t>
            </a:r>
          </a:p>
          <a:p>
            <a:pPr marL="285750" indent="-285750">
              <a:buFont typeface="Arial" panose="020B0604020202020204" pitchFamily="34" charset="0"/>
              <a:buChar char="•"/>
            </a:pPr>
            <a:r>
              <a:rPr lang="en-NG" sz="1400" dirty="0"/>
              <a:t>Grouped countries into two </a:t>
            </a:r>
          </a:p>
          <a:p>
            <a:pPr marL="285750" indent="-285750">
              <a:buFont typeface="Arial" panose="020B0604020202020204" pitchFamily="34" charset="0"/>
              <a:buChar char="•"/>
            </a:pPr>
            <a:r>
              <a:rPr lang="en-NG" sz="1400" dirty="0"/>
              <a:t>Reduced dimensionality </a:t>
            </a:r>
          </a:p>
          <a:p>
            <a:pPr marL="285750" indent="-285750">
              <a:buFont typeface="Arial" panose="020B0604020202020204" pitchFamily="34" charset="0"/>
              <a:buChar char="•"/>
            </a:pPr>
            <a:r>
              <a:rPr lang="en-NG" sz="1400" dirty="0"/>
              <a:t>Improved robustness </a:t>
            </a:r>
          </a:p>
          <a:p>
            <a:endParaRPr lang="en-NG" sz="1400" dirty="0"/>
          </a:p>
          <a:p>
            <a:endParaRPr lang="en-NG" sz="1400" dirty="0"/>
          </a:p>
          <a:p>
            <a:endParaRPr lang="en-NG" sz="1400" dirty="0"/>
          </a:p>
          <a:p>
            <a:r>
              <a:rPr lang="en-NG" sz="1400" b="1" dirty="0">
                <a:solidFill>
                  <a:schemeClr val="accent1"/>
                </a:solidFill>
              </a:rPr>
              <a:t>Example Regions</a:t>
            </a:r>
          </a:p>
          <a:p>
            <a:pPr marL="285750" indent="-285750">
              <a:buFont typeface="Arial" panose="020B0604020202020204" pitchFamily="34" charset="0"/>
              <a:buChar char="•"/>
            </a:pPr>
            <a:r>
              <a:rPr lang="en-NG" sz="1400" dirty="0"/>
              <a:t>USA</a:t>
            </a:r>
          </a:p>
          <a:p>
            <a:pPr marL="285750" indent="-285750">
              <a:buFont typeface="Arial" panose="020B0604020202020204" pitchFamily="34" charset="0"/>
              <a:buChar char="•"/>
            </a:pPr>
            <a:r>
              <a:rPr lang="en-NG" sz="1400" dirty="0"/>
              <a:t>Other</a:t>
            </a:r>
          </a:p>
        </p:txBody>
      </p:sp>
      <p:sp>
        <p:nvSpPr>
          <p:cNvPr id="26" name="Shape 24">
            <a:extLst>
              <a:ext uri="{FF2B5EF4-FFF2-40B4-BE49-F238E27FC236}">
                <a16:creationId xmlns:a16="http://schemas.microsoft.com/office/drawing/2014/main" id="{683900E8-BBB6-CD00-3474-8ECE9C391952}"/>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55DED0DD-97FD-6121-6C82-CF57C6F127B5}"/>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25</a:t>
            </a:r>
            <a:endParaRPr lang="en-US" sz="1400" dirty="0"/>
          </a:p>
        </p:txBody>
      </p:sp>
      <p:pic>
        <p:nvPicPr>
          <p:cNvPr id="7" name="Picture 6">
            <a:extLst>
              <a:ext uri="{FF2B5EF4-FFF2-40B4-BE49-F238E27FC236}">
                <a16:creationId xmlns:a16="http://schemas.microsoft.com/office/drawing/2014/main" id="{8762246A-535C-7007-ECAA-88175E88C2A2}"/>
              </a:ext>
            </a:extLst>
          </p:cNvPr>
          <p:cNvPicPr>
            <a:picLocks noChangeAspect="1"/>
          </p:cNvPicPr>
          <p:nvPr/>
        </p:nvPicPr>
        <p:blipFill>
          <a:blip r:embed="rId3"/>
          <a:stretch>
            <a:fillRect/>
          </a:stretch>
        </p:blipFill>
        <p:spPr>
          <a:xfrm>
            <a:off x="3286436" y="988511"/>
            <a:ext cx="5537524" cy="3492049"/>
          </a:xfrm>
          <a:prstGeom prst="rect">
            <a:avLst/>
          </a:prstGeom>
        </p:spPr>
      </p:pic>
    </p:spTree>
    <p:extLst>
      <p:ext uri="{BB962C8B-B14F-4D97-AF65-F5344CB8AC3E}">
        <p14:creationId xmlns:p14="http://schemas.microsoft.com/office/powerpoint/2010/main" val="1260185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5AADE0E-5B2C-CBD5-4CF7-6E4902D4B5A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67F98A-C349-667B-F4E1-03790D71E52A}"/>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30A8B8A1-AC17-FF86-DB05-62506DB6F603}"/>
              </a:ext>
            </a:extLst>
          </p:cNvPr>
          <p:cNvSpPr/>
          <p:nvPr/>
        </p:nvSpPr>
        <p:spPr>
          <a:xfrm>
            <a:off x="365759" y="715268"/>
            <a:ext cx="3639820" cy="364232"/>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Data Preprocessing &amp; Feature Engineering</a:t>
            </a:r>
            <a:endParaRPr lang="en-US" sz="1500" dirty="0"/>
          </a:p>
        </p:txBody>
      </p:sp>
      <p:sp>
        <p:nvSpPr>
          <p:cNvPr id="26" name="Shape 24">
            <a:extLst>
              <a:ext uri="{FF2B5EF4-FFF2-40B4-BE49-F238E27FC236}">
                <a16:creationId xmlns:a16="http://schemas.microsoft.com/office/drawing/2014/main" id="{82C4989C-1CF0-FC4A-75D9-C9577B66B5E0}"/>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dirty="0"/>
          </a:p>
        </p:txBody>
      </p:sp>
      <p:sp>
        <p:nvSpPr>
          <p:cNvPr id="27" name="Text 25">
            <a:extLst>
              <a:ext uri="{FF2B5EF4-FFF2-40B4-BE49-F238E27FC236}">
                <a16:creationId xmlns:a16="http://schemas.microsoft.com/office/drawing/2014/main" id="{8AF59795-FC46-AFC4-345C-93F430BB1F7E}"/>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26</a:t>
            </a:r>
            <a:endParaRPr lang="en-US" sz="1400" dirty="0"/>
          </a:p>
        </p:txBody>
      </p:sp>
      <p:sp>
        <p:nvSpPr>
          <p:cNvPr id="7" name="Text 2">
            <a:extLst>
              <a:ext uri="{FF2B5EF4-FFF2-40B4-BE49-F238E27FC236}">
                <a16:creationId xmlns:a16="http://schemas.microsoft.com/office/drawing/2014/main" id="{45082063-9717-D328-714B-B2EC87441F17}"/>
              </a:ext>
            </a:extLst>
          </p:cNvPr>
          <p:cNvSpPr/>
          <p:nvPr/>
        </p:nvSpPr>
        <p:spPr>
          <a:xfrm>
            <a:off x="459740" y="3834580"/>
            <a:ext cx="3992880" cy="1171759"/>
          </a:xfrm>
          <a:prstGeom prst="rect">
            <a:avLst/>
          </a:prstGeom>
          <a:noFill/>
          <a:ln/>
        </p:spPr>
        <p:txBody>
          <a:bodyPr wrap="square" rtlCol="0" anchor="t"/>
          <a:lstStyle/>
          <a:p>
            <a:r>
              <a:rPr lang="en-NG" sz="1400" b="1" dirty="0"/>
              <a:t>Native Country Grouping</a:t>
            </a:r>
          </a:p>
          <a:p>
            <a:pPr marL="285750" indent="-285750">
              <a:buFont typeface="Arial" panose="020B0604020202020204" pitchFamily="34" charset="0"/>
              <a:buChar char="•"/>
            </a:pPr>
            <a:r>
              <a:rPr lang="en-NG" sz="1400" dirty="0"/>
              <a:t>Original native-country had many country categories </a:t>
            </a:r>
          </a:p>
          <a:p>
            <a:endParaRPr lang="en-NG" sz="1400" dirty="0"/>
          </a:p>
          <a:p>
            <a:pPr marL="285750" indent="-285750">
              <a:buFont typeface="Arial" panose="020B0604020202020204" pitchFamily="34" charset="0"/>
              <a:buChar char="•"/>
            </a:pPr>
            <a:r>
              <a:rPr lang="en-NG" sz="1400" dirty="0"/>
              <a:t>Most observations were from the United States</a:t>
            </a:r>
          </a:p>
        </p:txBody>
      </p:sp>
      <p:sp>
        <p:nvSpPr>
          <p:cNvPr id="8" name="Text 2">
            <a:extLst>
              <a:ext uri="{FF2B5EF4-FFF2-40B4-BE49-F238E27FC236}">
                <a16:creationId xmlns:a16="http://schemas.microsoft.com/office/drawing/2014/main" id="{108C8CB0-9F83-A65B-6A2A-5598EE441C70}"/>
              </a:ext>
            </a:extLst>
          </p:cNvPr>
          <p:cNvSpPr/>
          <p:nvPr/>
        </p:nvSpPr>
        <p:spPr>
          <a:xfrm>
            <a:off x="4606290" y="3779717"/>
            <a:ext cx="3685539" cy="1171759"/>
          </a:xfrm>
          <a:prstGeom prst="rect">
            <a:avLst/>
          </a:prstGeom>
          <a:noFill/>
          <a:ln/>
        </p:spPr>
        <p:txBody>
          <a:bodyPr wrap="square" rtlCol="0" anchor="t"/>
          <a:lstStyle/>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Created native-country-group </a:t>
            </a:r>
          </a:p>
          <a:p>
            <a:endParaRPr lang="en-NG" sz="1400" dirty="0"/>
          </a:p>
          <a:p>
            <a:pPr marL="285750" indent="-285750">
              <a:buFont typeface="Arial" panose="020B0604020202020204" pitchFamily="34" charset="0"/>
              <a:buChar char="•"/>
            </a:pPr>
            <a:r>
              <a:rPr lang="en-NG" sz="1400" dirty="0"/>
              <a:t>Categories: United States / Other</a:t>
            </a:r>
          </a:p>
        </p:txBody>
      </p:sp>
      <p:pic>
        <p:nvPicPr>
          <p:cNvPr id="5" name="Picture 4">
            <a:extLst>
              <a:ext uri="{FF2B5EF4-FFF2-40B4-BE49-F238E27FC236}">
                <a16:creationId xmlns:a16="http://schemas.microsoft.com/office/drawing/2014/main" id="{91D9141E-4536-98BF-1992-6324971A3BFB}"/>
              </a:ext>
            </a:extLst>
          </p:cNvPr>
          <p:cNvPicPr>
            <a:picLocks noChangeAspect="1"/>
          </p:cNvPicPr>
          <p:nvPr/>
        </p:nvPicPr>
        <p:blipFill>
          <a:blip r:embed="rId3"/>
          <a:stretch>
            <a:fillRect/>
          </a:stretch>
        </p:blipFill>
        <p:spPr>
          <a:xfrm>
            <a:off x="459740" y="1047750"/>
            <a:ext cx="7772400" cy="2810268"/>
          </a:xfrm>
          <a:prstGeom prst="rect">
            <a:avLst/>
          </a:prstGeom>
        </p:spPr>
      </p:pic>
    </p:spTree>
    <p:extLst>
      <p:ext uri="{BB962C8B-B14F-4D97-AF65-F5344CB8AC3E}">
        <p14:creationId xmlns:p14="http://schemas.microsoft.com/office/powerpoint/2010/main" val="3948674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EB71AA6-BC33-651A-AB2A-7AFAB2015AA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B900DA-AE03-47DD-5546-C3EA3F39D898}"/>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487D9347-5419-3A12-5E22-FBBB067CF6EF}"/>
              </a:ext>
            </a:extLst>
          </p:cNvPr>
          <p:cNvSpPr/>
          <p:nvPr/>
        </p:nvSpPr>
        <p:spPr>
          <a:xfrm>
            <a:off x="365760" y="621792"/>
            <a:ext cx="8412480" cy="292608"/>
          </a:xfrm>
          <a:prstGeom prst="rect">
            <a:avLst/>
          </a:prstGeom>
          <a:noFill/>
          <a:ln/>
        </p:spPr>
        <p:txBody>
          <a:bodyPr wrap="square" rtlCol="0" anchor="ctr"/>
          <a:lstStyle/>
          <a:p>
            <a:r>
              <a:rPr lang="en-US" sz="1400" dirty="0">
                <a:solidFill>
                  <a:srgbClr val="4A90C4"/>
                </a:solidFill>
                <a:latin typeface="Calibri" pitchFamily="34" charset="0"/>
                <a:ea typeface="Calibri" pitchFamily="34" charset="-122"/>
                <a:cs typeface="Calibri" pitchFamily="34" charset="-120"/>
              </a:rPr>
              <a:t>Data Preprocessing &amp; Feature Engineering</a:t>
            </a:r>
            <a:endParaRPr lang="en-US" sz="1400" dirty="0"/>
          </a:p>
        </p:txBody>
      </p:sp>
      <p:sp>
        <p:nvSpPr>
          <p:cNvPr id="4" name="Text 2">
            <a:extLst>
              <a:ext uri="{FF2B5EF4-FFF2-40B4-BE49-F238E27FC236}">
                <a16:creationId xmlns:a16="http://schemas.microsoft.com/office/drawing/2014/main" id="{4D1D5951-D062-69EF-DAEA-D0A4609F28A5}"/>
              </a:ext>
            </a:extLst>
          </p:cNvPr>
          <p:cNvSpPr/>
          <p:nvPr/>
        </p:nvSpPr>
        <p:spPr>
          <a:xfrm>
            <a:off x="365760" y="1759674"/>
            <a:ext cx="3639457" cy="1624152"/>
          </a:xfrm>
          <a:prstGeom prst="rect">
            <a:avLst/>
          </a:prstGeom>
          <a:noFill/>
          <a:ln/>
        </p:spPr>
        <p:txBody>
          <a:bodyPr wrap="square" rtlCol="0" anchor="t"/>
          <a:lstStyle/>
          <a:p>
            <a:r>
              <a:rPr lang="en-NG" sz="1400" b="1" dirty="0">
                <a:solidFill>
                  <a:schemeClr val="accent1"/>
                </a:solidFill>
              </a:rPr>
              <a:t>Capital Gain &amp; Capital Loss Features</a:t>
            </a:r>
          </a:p>
          <a:p>
            <a:pPr marL="285750" indent="-285750">
              <a:buFont typeface="Arial" panose="020B0604020202020204" pitchFamily="34" charset="0"/>
              <a:buChar char="•"/>
            </a:pPr>
            <a:r>
              <a:rPr lang="en-NG" sz="1400" dirty="0"/>
              <a:t>Highly skewed variables </a:t>
            </a:r>
          </a:p>
          <a:p>
            <a:pPr marL="285750" indent="-285750">
              <a:buFont typeface="Arial" panose="020B0604020202020204" pitchFamily="34" charset="0"/>
              <a:buChar char="•"/>
            </a:pPr>
            <a:r>
              <a:rPr lang="en-NG" sz="1400" dirty="0"/>
              <a:t>Many zero values </a:t>
            </a:r>
          </a:p>
          <a:p>
            <a:pPr marL="285750" indent="-285750">
              <a:buFont typeface="Arial" panose="020B0604020202020204" pitchFamily="34" charset="0"/>
              <a:buChar char="•"/>
            </a:pPr>
            <a:r>
              <a:rPr lang="en-NG" sz="1400" dirty="0"/>
              <a:t>Created indicator variables </a:t>
            </a:r>
          </a:p>
          <a:p>
            <a:pPr marL="285750" indent="-285750">
              <a:buFont typeface="Arial" panose="020B0604020202020204" pitchFamily="34" charset="0"/>
              <a:buChar char="•"/>
            </a:pPr>
            <a:r>
              <a:rPr lang="en-NG" sz="1400" dirty="0"/>
              <a:t>Improved interpretability</a:t>
            </a:r>
          </a:p>
        </p:txBody>
      </p:sp>
      <p:sp>
        <p:nvSpPr>
          <p:cNvPr id="26" name="Shape 24">
            <a:extLst>
              <a:ext uri="{FF2B5EF4-FFF2-40B4-BE49-F238E27FC236}">
                <a16:creationId xmlns:a16="http://schemas.microsoft.com/office/drawing/2014/main" id="{538BFE97-DC7B-57CD-05E6-F9AFEB1A939B}"/>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90E60030-B277-FEB3-8AC0-748187B450C8}"/>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27</a:t>
            </a:r>
            <a:endParaRPr lang="en-US" sz="1400" dirty="0"/>
          </a:p>
        </p:txBody>
      </p:sp>
      <p:pic>
        <p:nvPicPr>
          <p:cNvPr id="6" name="Picture 5">
            <a:extLst>
              <a:ext uri="{FF2B5EF4-FFF2-40B4-BE49-F238E27FC236}">
                <a16:creationId xmlns:a16="http://schemas.microsoft.com/office/drawing/2014/main" id="{915755E9-D599-73C2-027E-38E2F7EE7297}"/>
              </a:ext>
            </a:extLst>
          </p:cNvPr>
          <p:cNvPicPr>
            <a:picLocks noChangeAspect="1"/>
          </p:cNvPicPr>
          <p:nvPr/>
        </p:nvPicPr>
        <p:blipFill>
          <a:blip r:embed="rId3"/>
          <a:srcRect r="18154"/>
          <a:stretch>
            <a:fillRect/>
          </a:stretch>
        </p:blipFill>
        <p:spPr>
          <a:xfrm>
            <a:off x="3991879" y="1317987"/>
            <a:ext cx="4512041" cy="2507526"/>
          </a:xfrm>
          <a:prstGeom prst="rect">
            <a:avLst/>
          </a:prstGeom>
        </p:spPr>
      </p:pic>
    </p:spTree>
    <p:extLst>
      <p:ext uri="{BB962C8B-B14F-4D97-AF65-F5344CB8AC3E}">
        <p14:creationId xmlns:p14="http://schemas.microsoft.com/office/powerpoint/2010/main" val="468297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A9E8B69-F5B8-BAA4-55BF-89D5BC554DD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868565-16A3-87B5-931C-9BEA64E00A5F}"/>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388744E2-4B31-186B-C521-FFDBEB28CF12}"/>
              </a:ext>
            </a:extLst>
          </p:cNvPr>
          <p:cNvSpPr/>
          <p:nvPr/>
        </p:nvSpPr>
        <p:spPr>
          <a:xfrm>
            <a:off x="365759" y="715268"/>
            <a:ext cx="3639820" cy="364232"/>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Data Preprocessing &amp; Feature Engineering</a:t>
            </a:r>
            <a:endParaRPr lang="en-US" sz="1500" dirty="0"/>
          </a:p>
        </p:txBody>
      </p:sp>
      <p:sp>
        <p:nvSpPr>
          <p:cNvPr id="26" name="Shape 24">
            <a:extLst>
              <a:ext uri="{FF2B5EF4-FFF2-40B4-BE49-F238E27FC236}">
                <a16:creationId xmlns:a16="http://schemas.microsoft.com/office/drawing/2014/main" id="{66FCD98E-3A37-C30C-B151-EDEDECABB360}"/>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AE368153-B5EF-896C-3078-FF99CA3AB043}"/>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28</a:t>
            </a:r>
            <a:endParaRPr lang="en-US" sz="1400" dirty="0"/>
          </a:p>
        </p:txBody>
      </p:sp>
      <p:sp>
        <p:nvSpPr>
          <p:cNvPr id="7" name="Text 2">
            <a:extLst>
              <a:ext uri="{FF2B5EF4-FFF2-40B4-BE49-F238E27FC236}">
                <a16:creationId xmlns:a16="http://schemas.microsoft.com/office/drawing/2014/main" id="{31D66364-F13D-6C84-DECD-6368765EB745}"/>
              </a:ext>
            </a:extLst>
          </p:cNvPr>
          <p:cNvSpPr/>
          <p:nvPr/>
        </p:nvSpPr>
        <p:spPr>
          <a:xfrm>
            <a:off x="459740" y="3834580"/>
            <a:ext cx="3992880" cy="1171759"/>
          </a:xfrm>
          <a:prstGeom prst="rect">
            <a:avLst/>
          </a:prstGeom>
          <a:noFill/>
          <a:ln/>
        </p:spPr>
        <p:txBody>
          <a:bodyPr wrap="square" rtlCol="0" anchor="t"/>
          <a:lstStyle/>
          <a:p>
            <a:r>
              <a:rPr lang="en-NG" sz="1400" b="1" dirty="0"/>
              <a:t>Capital Gain and Capital Loss Indicators</a:t>
            </a:r>
          </a:p>
          <a:p>
            <a:endParaRPr lang="en-NG" sz="1400" b="1" dirty="0"/>
          </a:p>
          <a:p>
            <a:r>
              <a:rPr lang="en-NG" sz="1400" dirty="0"/>
              <a:t>Created binary indicators: </a:t>
            </a:r>
          </a:p>
          <a:p>
            <a:pPr lvl="1"/>
            <a:r>
              <a:rPr lang="en-NG" sz="1400" dirty="0"/>
              <a:t>has-capital-gain </a:t>
            </a:r>
          </a:p>
          <a:p>
            <a:pPr lvl="1"/>
            <a:r>
              <a:rPr lang="en-NG" sz="1400" dirty="0"/>
              <a:t>has-capital-loss </a:t>
            </a:r>
          </a:p>
        </p:txBody>
      </p:sp>
      <p:sp>
        <p:nvSpPr>
          <p:cNvPr id="8" name="Text 2">
            <a:extLst>
              <a:ext uri="{FF2B5EF4-FFF2-40B4-BE49-F238E27FC236}">
                <a16:creationId xmlns:a16="http://schemas.microsoft.com/office/drawing/2014/main" id="{89D674A0-A91A-9A4C-B6DF-E859D4588719}"/>
              </a:ext>
            </a:extLst>
          </p:cNvPr>
          <p:cNvSpPr/>
          <p:nvPr/>
        </p:nvSpPr>
        <p:spPr>
          <a:xfrm>
            <a:off x="4606290" y="3779717"/>
            <a:ext cx="3685539" cy="1171759"/>
          </a:xfrm>
          <a:prstGeom prst="rect">
            <a:avLst/>
          </a:prstGeom>
          <a:noFill/>
          <a:ln/>
        </p:spPr>
        <p:txBody>
          <a:bodyPr wrap="square" rtlCol="0" anchor="t"/>
          <a:lstStyle/>
          <a:p>
            <a:endParaRPr lang="en-NG" sz="1400" dirty="0"/>
          </a:p>
          <a:p>
            <a:r>
              <a:rPr lang="en-NG" sz="1400" dirty="0"/>
              <a:t>Captures whether investment-related income/loss exists </a:t>
            </a:r>
          </a:p>
          <a:p>
            <a:endParaRPr lang="en-NG" sz="1400" dirty="0"/>
          </a:p>
          <a:p>
            <a:r>
              <a:rPr lang="en-NG" sz="1400" dirty="0"/>
              <a:t>Separates “presence” from “amount”</a:t>
            </a:r>
          </a:p>
        </p:txBody>
      </p:sp>
      <p:pic>
        <p:nvPicPr>
          <p:cNvPr id="9" name="Picture 8">
            <a:extLst>
              <a:ext uri="{FF2B5EF4-FFF2-40B4-BE49-F238E27FC236}">
                <a16:creationId xmlns:a16="http://schemas.microsoft.com/office/drawing/2014/main" id="{3ECD9516-2C3A-8BE9-8E3F-6DCB3F5657A5}"/>
              </a:ext>
            </a:extLst>
          </p:cNvPr>
          <p:cNvPicPr>
            <a:picLocks noChangeAspect="1"/>
          </p:cNvPicPr>
          <p:nvPr/>
        </p:nvPicPr>
        <p:blipFill>
          <a:blip r:embed="rId3"/>
          <a:stretch>
            <a:fillRect/>
          </a:stretch>
        </p:blipFill>
        <p:spPr>
          <a:xfrm>
            <a:off x="1302532" y="1182308"/>
            <a:ext cx="6300175" cy="2549463"/>
          </a:xfrm>
          <a:prstGeom prst="rect">
            <a:avLst/>
          </a:prstGeom>
        </p:spPr>
      </p:pic>
    </p:spTree>
    <p:extLst>
      <p:ext uri="{BB962C8B-B14F-4D97-AF65-F5344CB8AC3E}">
        <p14:creationId xmlns:p14="http://schemas.microsoft.com/office/powerpoint/2010/main" val="4208618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860A255-908F-7F20-332F-D03922B7BEF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4EB45B4-F9E2-1B74-954C-AF1DBD26D71F}"/>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C417EBB7-FB56-CAD4-EA9C-C7091ABC17F1}"/>
              </a:ext>
            </a:extLst>
          </p:cNvPr>
          <p:cNvSpPr/>
          <p:nvPr/>
        </p:nvSpPr>
        <p:spPr>
          <a:xfrm>
            <a:off x="365760" y="621792"/>
            <a:ext cx="8412480" cy="292608"/>
          </a:xfrm>
          <a:prstGeom prst="rect">
            <a:avLst/>
          </a:prstGeom>
          <a:noFill/>
          <a:ln/>
        </p:spPr>
        <p:txBody>
          <a:bodyPr wrap="square" rtlCol="0" anchor="ctr"/>
          <a:lstStyle/>
          <a:p>
            <a:r>
              <a:rPr lang="en-US" sz="1400" dirty="0">
                <a:solidFill>
                  <a:srgbClr val="4A90C4"/>
                </a:solidFill>
                <a:latin typeface="Calibri" pitchFamily="34" charset="0"/>
                <a:ea typeface="Calibri" pitchFamily="34" charset="-122"/>
                <a:cs typeface="Calibri" pitchFamily="34" charset="-120"/>
              </a:rPr>
              <a:t>Data Preprocessing &amp; Feature Engineering</a:t>
            </a:r>
            <a:endParaRPr lang="en-US" sz="1400" dirty="0"/>
          </a:p>
        </p:txBody>
      </p:sp>
      <p:sp>
        <p:nvSpPr>
          <p:cNvPr id="4" name="Text 2">
            <a:extLst>
              <a:ext uri="{FF2B5EF4-FFF2-40B4-BE49-F238E27FC236}">
                <a16:creationId xmlns:a16="http://schemas.microsoft.com/office/drawing/2014/main" id="{BDAD64FC-BC55-3D3D-87DE-6ECD2E44835D}"/>
              </a:ext>
            </a:extLst>
          </p:cNvPr>
          <p:cNvSpPr/>
          <p:nvPr/>
        </p:nvSpPr>
        <p:spPr>
          <a:xfrm>
            <a:off x="365760" y="1566399"/>
            <a:ext cx="3639457" cy="2259114"/>
          </a:xfrm>
          <a:prstGeom prst="rect">
            <a:avLst/>
          </a:prstGeom>
          <a:noFill/>
          <a:ln/>
        </p:spPr>
        <p:txBody>
          <a:bodyPr wrap="square" rtlCol="0" anchor="t"/>
          <a:lstStyle/>
          <a:p>
            <a:r>
              <a:rPr lang="en-NG" sz="1400" b="1" dirty="0">
                <a:solidFill>
                  <a:schemeClr val="accent1"/>
                </a:solidFill>
              </a:rPr>
              <a:t>Log Transformations</a:t>
            </a:r>
          </a:p>
          <a:p>
            <a:pPr marL="285750" indent="-285750">
              <a:buFont typeface="Arial" panose="020B0604020202020204" pitchFamily="34" charset="0"/>
              <a:buChar char="•"/>
            </a:pPr>
            <a:r>
              <a:rPr lang="en-NG" sz="1400" dirty="0"/>
              <a:t>Reduced skewness </a:t>
            </a:r>
          </a:p>
          <a:p>
            <a:pPr marL="285750" indent="-285750">
              <a:buFont typeface="Arial" panose="020B0604020202020204" pitchFamily="34" charset="0"/>
              <a:buChar char="•"/>
            </a:pPr>
            <a:r>
              <a:rPr lang="en-NG" sz="1400" dirty="0"/>
              <a:t>Stabilized variance </a:t>
            </a:r>
          </a:p>
          <a:p>
            <a:pPr marL="285750" indent="-285750">
              <a:buFont typeface="Arial" panose="020B0604020202020204" pitchFamily="34" charset="0"/>
              <a:buChar char="•"/>
            </a:pPr>
            <a:r>
              <a:rPr lang="en-NG" sz="1400" dirty="0"/>
              <a:t>Improved model learning </a:t>
            </a:r>
          </a:p>
          <a:p>
            <a:endParaRPr lang="en-NG" sz="1400" dirty="0"/>
          </a:p>
          <a:p>
            <a:r>
              <a:rPr lang="en-NG" sz="1400" b="1" dirty="0">
                <a:solidFill>
                  <a:schemeClr val="accent1"/>
                </a:solidFill>
              </a:rPr>
              <a:t>Feature Selection</a:t>
            </a:r>
          </a:p>
          <a:p>
            <a:pPr marL="285750" indent="-285750">
              <a:buFont typeface="Arial" panose="020B0604020202020204" pitchFamily="34" charset="0"/>
              <a:buChar char="•"/>
            </a:pPr>
            <a:r>
              <a:rPr lang="en-NG" sz="1400" dirty="0"/>
              <a:t>Removed irrelevant features </a:t>
            </a:r>
          </a:p>
          <a:p>
            <a:pPr marL="285750" indent="-285750">
              <a:buFont typeface="Arial" panose="020B0604020202020204" pitchFamily="34" charset="0"/>
              <a:buChar char="•"/>
            </a:pPr>
            <a:r>
              <a:rPr lang="en-NG" sz="1400" dirty="0"/>
              <a:t>Reduced noise </a:t>
            </a:r>
          </a:p>
          <a:p>
            <a:pPr marL="285750" indent="-285750">
              <a:buFont typeface="Arial" panose="020B0604020202020204" pitchFamily="34" charset="0"/>
              <a:buChar char="•"/>
            </a:pPr>
            <a:r>
              <a:rPr lang="en-NG" sz="1400" dirty="0"/>
              <a:t>Improved efficiency</a:t>
            </a:r>
          </a:p>
        </p:txBody>
      </p:sp>
      <p:sp>
        <p:nvSpPr>
          <p:cNvPr id="26" name="Shape 24">
            <a:extLst>
              <a:ext uri="{FF2B5EF4-FFF2-40B4-BE49-F238E27FC236}">
                <a16:creationId xmlns:a16="http://schemas.microsoft.com/office/drawing/2014/main" id="{590BF155-5FC5-1883-0ADC-4BAD3ED0F383}"/>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132EFF30-117C-6A8E-52DD-C8F12DE9D37F}"/>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29</a:t>
            </a:r>
            <a:endParaRPr lang="en-US" sz="1400" dirty="0"/>
          </a:p>
        </p:txBody>
      </p:sp>
      <p:pic>
        <p:nvPicPr>
          <p:cNvPr id="7" name="Picture 6">
            <a:extLst>
              <a:ext uri="{FF2B5EF4-FFF2-40B4-BE49-F238E27FC236}">
                <a16:creationId xmlns:a16="http://schemas.microsoft.com/office/drawing/2014/main" id="{907E6EB1-AB28-4D86-0B61-11194E75FBF0}"/>
              </a:ext>
            </a:extLst>
          </p:cNvPr>
          <p:cNvPicPr>
            <a:picLocks noChangeAspect="1"/>
          </p:cNvPicPr>
          <p:nvPr/>
        </p:nvPicPr>
        <p:blipFill>
          <a:blip r:embed="rId3"/>
          <a:stretch>
            <a:fillRect/>
          </a:stretch>
        </p:blipFill>
        <p:spPr>
          <a:xfrm>
            <a:off x="4453371" y="755142"/>
            <a:ext cx="3241291" cy="3881628"/>
          </a:xfrm>
          <a:prstGeom prst="rect">
            <a:avLst/>
          </a:prstGeom>
        </p:spPr>
      </p:pic>
    </p:spTree>
    <p:extLst>
      <p:ext uri="{BB962C8B-B14F-4D97-AF65-F5344CB8AC3E}">
        <p14:creationId xmlns:p14="http://schemas.microsoft.com/office/powerpoint/2010/main" val="740643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407CA54-EBB5-B44D-4C80-2C9160D9BC3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927CCD-AE3E-3437-4A82-05D1FD80843E}"/>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19F4E236-925D-73A7-F4C8-9E84228AF213}"/>
              </a:ext>
            </a:extLst>
          </p:cNvPr>
          <p:cNvSpPr/>
          <p:nvPr/>
        </p:nvSpPr>
        <p:spPr>
          <a:xfrm>
            <a:off x="365759" y="715268"/>
            <a:ext cx="3639820" cy="364232"/>
          </a:xfrm>
          <a:prstGeom prst="rect">
            <a:avLst/>
          </a:prstGeom>
          <a:noFill/>
          <a:ln/>
        </p:spPr>
        <p:txBody>
          <a:bodyPr wrap="square" rtlCol="0" anchor="ctr"/>
          <a:lstStyle/>
          <a:p>
            <a:pPr marL="0" indent="0">
              <a:buNone/>
            </a:pPr>
            <a:r>
              <a:rPr lang="en-US" sz="1500" dirty="0">
                <a:solidFill>
                  <a:srgbClr val="4A90C4"/>
                </a:solidFill>
                <a:latin typeface="Calibri" pitchFamily="34" charset="0"/>
                <a:ea typeface="Calibri" pitchFamily="34" charset="-122"/>
                <a:cs typeface="Calibri" pitchFamily="34" charset="-120"/>
              </a:rPr>
              <a:t>Data Preprocessing &amp; Feature Engineering</a:t>
            </a:r>
            <a:endParaRPr lang="en-US" sz="1500" dirty="0"/>
          </a:p>
        </p:txBody>
      </p:sp>
      <p:sp>
        <p:nvSpPr>
          <p:cNvPr id="26" name="Shape 24">
            <a:extLst>
              <a:ext uri="{FF2B5EF4-FFF2-40B4-BE49-F238E27FC236}">
                <a16:creationId xmlns:a16="http://schemas.microsoft.com/office/drawing/2014/main" id="{8C920AB7-390F-C58C-15B0-71BB67BBF35B}"/>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F8452FA6-6BD2-CE99-C49F-39D6F6B85030}"/>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30</a:t>
            </a:r>
            <a:endParaRPr lang="en-US" sz="1400" dirty="0"/>
          </a:p>
        </p:txBody>
      </p:sp>
      <p:sp>
        <p:nvSpPr>
          <p:cNvPr id="7" name="Text 2">
            <a:extLst>
              <a:ext uri="{FF2B5EF4-FFF2-40B4-BE49-F238E27FC236}">
                <a16:creationId xmlns:a16="http://schemas.microsoft.com/office/drawing/2014/main" id="{81687553-21D0-3D3F-60A8-799A7315C7A2}"/>
              </a:ext>
            </a:extLst>
          </p:cNvPr>
          <p:cNvSpPr/>
          <p:nvPr/>
        </p:nvSpPr>
        <p:spPr>
          <a:xfrm>
            <a:off x="459740" y="3834580"/>
            <a:ext cx="3992880" cy="1171759"/>
          </a:xfrm>
          <a:prstGeom prst="rect">
            <a:avLst/>
          </a:prstGeom>
          <a:noFill/>
          <a:ln/>
        </p:spPr>
        <p:txBody>
          <a:bodyPr wrap="square" rtlCol="0" anchor="t"/>
          <a:lstStyle/>
          <a:p>
            <a:r>
              <a:rPr lang="en-NG" sz="1400" b="1" dirty="0"/>
              <a:t>Log Transformation of Skewed Variables</a:t>
            </a:r>
          </a:p>
          <a:p>
            <a:pPr marL="285750" indent="-285750">
              <a:buFont typeface="Arial" panose="020B0604020202020204" pitchFamily="34" charset="0"/>
              <a:buChar char="•"/>
            </a:pPr>
            <a:r>
              <a:rPr lang="en-NG" sz="1400" dirty="0"/>
              <a:t>capital-gain and capital-loss were highly right-skewed </a:t>
            </a:r>
          </a:p>
          <a:p>
            <a:endParaRPr lang="en-NG" sz="1400" dirty="0"/>
          </a:p>
          <a:p>
            <a:pPr marL="285750" indent="-285750">
              <a:buFont typeface="Arial" panose="020B0604020202020204" pitchFamily="34" charset="0"/>
              <a:buChar char="•"/>
            </a:pPr>
            <a:r>
              <a:rPr lang="en-NG" sz="1400" dirty="0"/>
              <a:t>Most values were zero</a:t>
            </a:r>
          </a:p>
        </p:txBody>
      </p:sp>
      <p:sp>
        <p:nvSpPr>
          <p:cNvPr id="8" name="Text 2">
            <a:extLst>
              <a:ext uri="{FF2B5EF4-FFF2-40B4-BE49-F238E27FC236}">
                <a16:creationId xmlns:a16="http://schemas.microsoft.com/office/drawing/2014/main" id="{441A41F5-7D0B-D941-91F0-84CCE8455F8F}"/>
              </a:ext>
            </a:extLst>
          </p:cNvPr>
          <p:cNvSpPr/>
          <p:nvPr/>
        </p:nvSpPr>
        <p:spPr>
          <a:xfrm>
            <a:off x="4635500" y="3892692"/>
            <a:ext cx="3685539" cy="1171759"/>
          </a:xfrm>
          <a:prstGeom prst="rect">
            <a:avLst/>
          </a:prstGeom>
          <a:noFill/>
          <a:ln/>
        </p:spPr>
        <p:txBody>
          <a:bodyPr wrap="square" rtlCol="0" anchor="t"/>
          <a:lstStyle/>
          <a:p>
            <a:pPr marL="285750" indent="-285750">
              <a:buFont typeface="Arial" panose="020B0604020202020204" pitchFamily="34" charset="0"/>
              <a:buChar char="•"/>
            </a:pPr>
            <a:r>
              <a:rPr lang="en-NG" sz="1400" dirty="0"/>
              <a:t>Few observations had very large values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Applied log1p transformation Created: </a:t>
            </a:r>
          </a:p>
          <a:p>
            <a:pPr marL="742950" lvl="1" indent="-285750">
              <a:buFont typeface="Arial" panose="020B0604020202020204" pitchFamily="34" charset="0"/>
              <a:buChar char="•"/>
            </a:pPr>
            <a:r>
              <a:rPr lang="en-NG" sz="1400" dirty="0"/>
              <a:t>capital-gain-log </a:t>
            </a:r>
          </a:p>
          <a:p>
            <a:pPr marL="742950" lvl="1" indent="-285750">
              <a:buFont typeface="Arial" panose="020B0604020202020204" pitchFamily="34" charset="0"/>
              <a:buChar char="•"/>
            </a:pPr>
            <a:r>
              <a:rPr lang="en-NG" sz="1400" dirty="0"/>
              <a:t>capital-loss-log </a:t>
            </a:r>
          </a:p>
        </p:txBody>
      </p:sp>
      <p:pic>
        <p:nvPicPr>
          <p:cNvPr id="5" name="Picture 4">
            <a:extLst>
              <a:ext uri="{FF2B5EF4-FFF2-40B4-BE49-F238E27FC236}">
                <a16:creationId xmlns:a16="http://schemas.microsoft.com/office/drawing/2014/main" id="{8F1D6ABD-3A24-92CE-E17C-2AC6D3B798AC}"/>
              </a:ext>
            </a:extLst>
          </p:cNvPr>
          <p:cNvPicPr>
            <a:picLocks noChangeAspect="1"/>
          </p:cNvPicPr>
          <p:nvPr/>
        </p:nvPicPr>
        <p:blipFill>
          <a:blip r:embed="rId3"/>
          <a:stretch>
            <a:fillRect/>
          </a:stretch>
        </p:blipFill>
        <p:spPr>
          <a:xfrm>
            <a:off x="617218" y="1154688"/>
            <a:ext cx="7772400" cy="2738004"/>
          </a:xfrm>
          <a:prstGeom prst="rect">
            <a:avLst/>
          </a:prstGeom>
        </p:spPr>
      </p:pic>
    </p:spTree>
    <p:extLst>
      <p:ext uri="{BB962C8B-B14F-4D97-AF65-F5344CB8AC3E}">
        <p14:creationId xmlns:p14="http://schemas.microsoft.com/office/powerpoint/2010/main" val="481458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p:cNvSpPr/>
          <p:nvPr/>
        </p:nvSpPr>
        <p:spPr>
          <a:xfrm>
            <a:off x="1028700" y="1854200"/>
            <a:ext cx="7683500" cy="1097280"/>
          </a:xfrm>
          <a:prstGeom prst="rect">
            <a:avLst/>
          </a:prstGeom>
          <a:noFill/>
          <a:ln/>
        </p:spPr>
        <p:txBody>
          <a:bodyPr wrap="square" rtlCol="0" anchor="ctr"/>
          <a:lstStyle/>
          <a:p>
            <a:r>
              <a:rPr lang="en-NG" sz="3600" b="1" dirty="0"/>
              <a:t>Machine Learning Pipeline &amp; Hyperparameter Tuning</a:t>
            </a:r>
            <a:endParaRPr lang="en-US" sz="3600" b="1" dirty="0"/>
          </a:p>
        </p:txBody>
      </p:sp>
      <p:sp>
        <p:nvSpPr>
          <p:cNvPr id="5" name="Shape 3"/>
          <p:cNvSpPr/>
          <p:nvPr/>
        </p:nvSpPr>
        <p:spPr>
          <a:xfrm>
            <a:off x="822960" y="2057400"/>
            <a:ext cx="109728" cy="109728"/>
          </a:xfrm>
          <a:prstGeom prst="ellipse">
            <a:avLst/>
          </a:prstGeom>
          <a:solidFill>
            <a:srgbClr val="E8922A"/>
          </a:solidFill>
          <a:ln w="12700">
            <a:solidFill>
              <a:srgbClr val="E8922A"/>
            </a:solidFill>
            <a:prstDash val="solid"/>
          </a:ln>
        </p:spPr>
        <p:txBody>
          <a:bodyPr/>
          <a:lstStyle/>
          <a:p>
            <a:endParaRPr lang="en-NG"/>
          </a:p>
        </p:txBody>
      </p:sp>
      <p:sp>
        <p:nvSpPr>
          <p:cNvPr id="6" name="Shape 4"/>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31</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88659B4-4F4D-3A95-EA93-850B67C4FB0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93032AE-C45C-84E7-5AE7-14166A1F2344}"/>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566AF177-304D-3FE2-23CE-B5CBCC3B044C}"/>
              </a:ext>
            </a:extLst>
          </p:cNvPr>
          <p:cNvSpPr/>
          <p:nvPr/>
        </p:nvSpPr>
        <p:spPr>
          <a:xfrm>
            <a:off x="365760" y="621792"/>
            <a:ext cx="8412480" cy="292608"/>
          </a:xfrm>
          <a:prstGeom prst="rect">
            <a:avLst/>
          </a:prstGeom>
          <a:noFill/>
          <a:ln/>
        </p:spPr>
        <p:txBody>
          <a:bodyPr wrap="square" rtlCol="0" anchor="ctr"/>
          <a:lstStyle/>
          <a:p>
            <a:r>
              <a:rPr lang="en-NG" sz="1400" dirty="0">
                <a:solidFill>
                  <a:schemeClr val="accent1"/>
                </a:solidFill>
              </a:rPr>
              <a:t>Model Training &amp; Hyperparameter Tuning</a:t>
            </a:r>
          </a:p>
        </p:txBody>
      </p:sp>
      <p:sp>
        <p:nvSpPr>
          <p:cNvPr id="4" name="Text 2">
            <a:extLst>
              <a:ext uri="{FF2B5EF4-FFF2-40B4-BE49-F238E27FC236}">
                <a16:creationId xmlns:a16="http://schemas.microsoft.com/office/drawing/2014/main" id="{2B896E3E-D6AA-78B7-3A13-6A401A088C11}"/>
              </a:ext>
            </a:extLst>
          </p:cNvPr>
          <p:cNvSpPr/>
          <p:nvPr/>
        </p:nvSpPr>
        <p:spPr>
          <a:xfrm>
            <a:off x="365760" y="1566399"/>
            <a:ext cx="3639457" cy="2845944"/>
          </a:xfrm>
          <a:prstGeom prst="rect">
            <a:avLst/>
          </a:prstGeom>
          <a:noFill/>
          <a:ln/>
        </p:spPr>
        <p:txBody>
          <a:bodyPr wrap="square" rtlCol="0" anchor="t"/>
          <a:lstStyle/>
          <a:p>
            <a:pPr marL="285750" indent="-285750">
              <a:buFont typeface="Arial" panose="020B0604020202020204" pitchFamily="34" charset="0"/>
              <a:buChar char="•"/>
            </a:pPr>
            <a:r>
              <a:rPr lang="en-NG" sz="1400" dirty="0"/>
              <a:t>Compared multiple classification algorithms </a:t>
            </a:r>
          </a:p>
          <a:p>
            <a:pPr marL="285750" indent="-285750">
              <a:buFont typeface="Arial" panose="020B0604020202020204" pitchFamily="34" charset="0"/>
              <a:buChar char="•"/>
            </a:pPr>
            <a:r>
              <a:rPr lang="en-NG" sz="1400" dirty="0"/>
              <a:t>Created a reusable model registry </a:t>
            </a:r>
          </a:p>
          <a:p>
            <a:pPr marL="285750" indent="-285750">
              <a:buFont typeface="Arial" panose="020B0604020202020204" pitchFamily="34" charset="0"/>
              <a:buChar char="•"/>
            </a:pPr>
            <a:r>
              <a:rPr lang="en-NG" sz="1400" dirty="0"/>
              <a:t>Consistent configuration across experiments </a:t>
            </a:r>
          </a:p>
          <a:p>
            <a:pPr marL="285750" indent="-285750">
              <a:buFont typeface="Arial" panose="020B0604020202020204" pitchFamily="34" charset="0"/>
              <a:buChar char="•"/>
            </a:pPr>
            <a:r>
              <a:rPr lang="en-NG" sz="1400" dirty="0"/>
              <a:t>Enabled fair model comparison </a:t>
            </a:r>
          </a:p>
          <a:p>
            <a:endParaRPr lang="en-NG" sz="1400" dirty="0"/>
          </a:p>
          <a:p>
            <a:r>
              <a:rPr lang="en-NG" sz="1400" b="1" dirty="0">
                <a:solidFill>
                  <a:schemeClr val="accent1"/>
                </a:solidFill>
              </a:rPr>
              <a:t>Models Evaluated</a:t>
            </a:r>
          </a:p>
          <a:p>
            <a:pPr marL="285750" indent="-285750">
              <a:buFont typeface="Arial" panose="020B0604020202020204" pitchFamily="34" charset="0"/>
              <a:buChar char="•"/>
            </a:pPr>
            <a:r>
              <a:rPr lang="en-NG" sz="1400" dirty="0"/>
              <a:t>Logistic Regression </a:t>
            </a:r>
          </a:p>
          <a:p>
            <a:pPr marL="285750" indent="-285750">
              <a:buFont typeface="Arial" panose="020B0604020202020204" pitchFamily="34" charset="0"/>
              <a:buChar char="•"/>
            </a:pPr>
            <a:r>
              <a:rPr lang="en-NG" sz="1400" dirty="0"/>
              <a:t>Decision Tree </a:t>
            </a:r>
          </a:p>
          <a:p>
            <a:pPr marL="285750" indent="-285750">
              <a:buFont typeface="Arial" panose="020B0604020202020204" pitchFamily="34" charset="0"/>
              <a:buChar char="•"/>
            </a:pPr>
            <a:r>
              <a:rPr lang="en-NG" sz="1400" dirty="0"/>
              <a:t>Random Forest </a:t>
            </a:r>
          </a:p>
          <a:p>
            <a:pPr marL="285750" indent="-285750">
              <a:buFont typeface="Arial" panose="020B0604020202020204" pitchFamily="34" charset="0"/>
              <a:buChar char="•"/>
            </a:pPr>
            <a:r>
              <a:rPr lang="en-NG" sz="1400" dirty="0"/>
              <a:t>Gradient Boosting</a:t>
            </a:r>
          </a:p>
        </p:txBody>
      </p:sp>
      <p:sp>
        <p:nvSpPr>
          <p:cNvPr id="26" name="Shape 24">
            <a:extLst>
              <a:ext uri="{FF2B5EF4-FFF2-40B4-BE49-F238E27FC236}">
                <a16:creationId xmlns:a16="http://schemas.microsoft.com/office/drawing/2014/main" id="{D163D0B9-AE02-3AC3-4181-76FAADE3E758}"/>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00863E9D-3E6E-64A8-E2A0-AEF46F1C3254}"/>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32</a:t>
            </a:r>
            <a:endParaRPr lang="en-US" sz="1400" dirty="0"/>
          </a:p>
        </p:txBody>
      </p:sp>
      <p:pic>
        <p:nvPicPr>
          <p:cNvPr id="6" name="Picture 5">
            <a:extLst>
              <a:ext uri="{FF2B5EF4-FFF2-40B4-BE49-F238E27FC236}">
                <a16:creationId xmlns:a16="http://schemas.microsoft.com/office/drawing/2014/main" id="{33B7ACD8-9419-26ED-F6EE-CFD890D5ED6E}"/>
              </a:ext>
            </a:extLst>
          </p:cNvPr>
          <p:cNvPicPr>
            <a:picLocks noChangeAspect="1"/>
          </p:cNvPicPr>
          <p:nvPr/>
        </p:nvPicPr>
        <p:blipFill>
          <a:blip r:embed="rId3"/>
          <a:stretch>
            <a:fillRect/>
          </a:stretch>
        </p:blipFill>
        <p:spPr>
          <a:xfrm>
            <a:off x="4433889" y="1054136"/>
            <a:ext cx="4214252" cy="3645408"/>
          </a:xfrm>
          <a:prstGeom prst="rect">
            <a:avLst/>
          </a:prstGeom>
        </p:spPr>
      </p:pic>
    </p:spTree>
    <p:extLst>
      <p:ext uri="{BB962C8B-B14F-4D97-AF65-F5344CB8AC3E}">
        <p14:creationId xmlns:p14="http://schemas.microsoft.com/office/powerpoint/2010/main" val="3374069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672F6DA-1F8A-3532-2D10-AE5F9DB0321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DDCD40-3181-FA33-06E3-8C2FDCD99BD2}"/>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6C509400-4FFE-FA06-EC3D-1E7F983675C7}"/>
              </a:ext>
            </a:extLst>
          </p:cNvPr>
          <p:cNvSpPr/>
          <p:nvPr/>
        </p:nvSpPr>
        <p:spPr>
          <a:xfrm>
            <a:off x="365760" y="621792"/>
            <a:ext cx="8412480" cy="292608"/>
          </a:xfrm>
          <a:prstGeom prst="rect">
            <a:avLst/>
          </a:prstGeom>
          <a:noFill/>
          <a:ln/>
        </p:spPr>
        <p:txBody>
          <a:bodyPr wrap="square" rtlCol="0" anchor="ctr"/>
          <a:lstStyle/>
          <a:p>
            <a:r>
              <a:rPr lang="en-NG" sz="1400" dirty="0">
                <a:solidFill>
                  <a:schemeClr val="accent1"/>
                </a:solidFill>
              </a:rPr>
              <a:t>Model Training &amp; Hyperparameter Tuning</a:t>
            </a:r>
          </a:p>
        </p:txBody>
      </p:sp>
      <p:sp>
        <p:nvSpPr>
          <p:cNvPr id="4" name="Text 2">
            <a:extLst>
              <a:ext uri="{FF2B5EF4-FFF2-40B4-BE49-F238E27FC236}">
                <a16:creationId xmlns:a16="http://schemas.microsoft.com/office/drawing/2014/main" id="{4E2684D7-894A-5523-6CB1-3A47371445AE}"/>
              </a:ext>
            </a:extLst>
          </p:cNvPr>
          <p:cNvSpPr/>
          <p:nvPr/>
        </p:nvSpPr>
        <p:spPr>
          <a:xfrm>
            <a:off x="365760" y="1200050"/>
            <a:ext cx="3639457" cy="2845944"/>
          </a:xfrm>
          <a:prstGeom prst="rect">
            <a:avLst/>
          </a:prstGeom>
          <a:noFill/>
          <a:ln/>
        </p:spPr>
        <p:txBody>
          <a:bodyPr wrap="square" rtlCol="0" anchor="t"/>
          <a:lstStyle/>
          <a:p>
            <a:r>
              <a:rPr lang="en-NG" sz="1400" b="1" dirty="0">
                <a:solidFill>
                  <a:schemeClr val="accent1"/>
                </a:solidFill>
              </a:rPr>
              <a:t>Model Training &amp; Evaluation</a:t>
            </a:r>
          </a:p>
          <a:p>
            <a:pPr marL="285750" indent="-285750">
              <a:buFont typeface="Arial" panose="020B0604020202020204" pitchFamily="34" charset="0"/>
              <a:buChar char="•"/>
            </a:pPr>
            <a:r>
              <a:rPr lang="en-NG" sz="1400" dirty="0"/>
              <a:t>Train multiple models automatically </a:t>
            </a:r>
          </a:p>
          <a:p>
            <a:pPr marL="285750" indent="-285750">
              <a:buFont typeface="Arial" panose="020B0604020202020204" pitchFamily="34" charset="0"/>
              <a:buChar char="•"/>
            </a:pPr>
            <a:r>
              <a:rPr lang="en-NG" sz="1400" dirty="0"/>
              <a:t>Reusable training workflow </a:t>
            </a:r>
          </a:p>
          <a:p>
            <a:pPr marL="285750" indent="-285750">
              <a:buFont typeface="Arial" panose="020B0604020202020204" pitchFamily="34" charset="0"/>
              <a:buChar char="•"/>
            </a:pPr>
            <a:r>
              <a:rPr lang="en-NG" sz="1400" dirty="0"/>
              <a:t>Pipeline-based preprocessing </a:t>
            </a:r>
          </a:p>
          <a:p>
            <a:pPr marL="285750" indent="-285750">
              <a:buFont typeface="Arial" panose="020B0604020202020204" pitchFamily="34" charset="0"/>
              <a:buChar char="•"/>
            </a:pPr>
            <a:r>
              <a:rPr lang="en-NG" sz="1400" dirty="0"/>
              <a:t>Consistent model evaluation </a:t>
            </a:r>
          </a:p>
          <a:p>
            <a:pPr marL="285750" indent="-285750">
              <a:buFont typeface="Arial" panose="020B0604020202020204" pitchFamily="34" charset="0"/>
              <a:buChar char="•"/>
            </a:pPr>
            <a:r>
              <a:rPr lang="en-NG" sz="1400" dirty="0"/>
              <a:t>Store trained models for later analysis </a:t>
            </a:r>
          </a:p>
          <a:p>
            <a:r>
              <a:rPr lang="en-NG" sz="1400" b="1" dirty="0">
                <a:solidFill>
                  <a:schemeClr val="accent1"/>
                </a:solidFill>
              </a:rPr>
              <a:t>Key Steps</a:t>
            </a:r>
          </a:p>
          <a:p>
            <a:pPr marL="285750" indent="-285750">
              <a:buFont typeface="Arial" panose="020B0604020202020204" pitchFamily="34" charset="0"/>
              <a:buChar char="•"/>
            </a:pPr>
            <a:r>
              <a:rPr lang="en-NG" sz="1400" dirty="0"/>
              <a:t>Create Pipeline </a:t>
            </a:r>
          </a:p>
          <a:p>
            <a:pPr marL="285750" indent="-285750">
              <a:buFont typeface="Arial" panose="020B0604020202020204" pitchFamily="34" charset="0"/>
              <a:buChar char="•"/>
            </a:pPr>
            <a:r>
              <a:rPr lang="en-NG" sz="1400" dirty="0"/>
              <a:t>Train Model (fit) </a:t>
            </a:r>
          </a:p>
          <a:p>
            <a:pPr marL="285750" indent="-285750">
              <a:buFont typeface="Arial" panose="020B0604020202020204" pitchFamily="34" charset="0"/>
              <a:buChar char="•"/>
            </a:pPr>
            <a:r>
              <a:rPr lang="en-NG" sz="1400" dirty="0"/>
              <a:t>Generate Predictions </a:t>
            </a:r>
          </a:p>
          <a:p>
            <a:pPr marL="285750" indent="-285750">
              <a:buFont typeface="Arial" panose="020B0604020202020204" pitchFamily="34" charset="0"/>
              <a:buChar char="•"/>
            </a:pPr>
            <a:r>
              <a:rPr lang="en-NG" sz="1400" dirty="0"/>
              <a:t>Calculate Probabilities </a:t>
            </a:r>
          </a:p>
          <a:p>
            <a:pPr marL="285750" indent="-285750">
              <a:buFont typeface="Arial" panose="020B0604020202020204" pitchFamily="34" charset="0"/>
              <a:buChar char="•"/>
            </a:pPr>
            <a:r>
              <a:rPr lang="en-NG" sz="1400" dirty="0"/>
              <a:t>Evaluate Performance </a:t>
            </a:r>
          </a:p>
          <a:p>
            <a:pPr marL="285750" indent="-285750">
              <a:buFont typeface="Arial" panose="020B0604020202020204" pitchFamily="34" charset="0"/>
              <a:buChar char="•"/>
            </a:pPr>
            <a:r>
              <a:rPr lang="en-NG" sz="1400" dirty="0"/>
              <a:t>Store Results</a:t>
            </a:r>
          </a:p>
        </p:txBody>
      </p:sp>
      <p:sp>
        <p:nvSpPr>
          <p:cNvPr id="26" name="Shape 24">
            <a:extLst>
              <a:ext uri="{FF2B5EF4-FFF2-40B4-BE49-F238E27FC236}">
                <a16:creationId xmlns:a16="http://schemas.microsoft.com/office/drawing/2014/main" id="{26C776FB-F773-F5A5-36B6-7F5BC13A5B75}"/>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89FA5303-3C8D-FDB7-6E13-9378F1C19ABE}"/>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33</a:t>
            </a:r>
            <a:endParaRPr lang="en-US" sz="1400" dirty="0"/>
          </a:p>
        </p:txBody>
      </p:sp>
      <p:pic>
        <p:nvPicPr>
          <p:cNvPr id="7" name="Picture 6">
            <a:extLst>
              <a:ext uri="{FF2B5EF4-FFF2-40B4-BE49-F238E27FC236}">
                <a16:creationId xmlns:a16="http://schemas.microsoft.com/office/drawing/2014/main" id="{6D7B90F0-7928-BB85-2C49-AAD06BF435D7}"/>
              </a:ext>
            </a:extLst>
          </p:cNvPr>
          <p:cNvPicPr>
            <a:picLocks noChangeAspect="1"/>
          </p:cNvPicPr>
          <p:nvPr/>
        </p:nvPicPr>
        <p:blipFill>
          <a:blip r:embed="rId3"/>
          <a:stretch>
            <a:fillRect/>
          </a:stretch>
        </p:blipFill>
        <p:spPr>
          <a:xfrm>
            <a:off x="3906251" y="639028"/>
            <a:ext cx="4597669" cy="3967988"/>
          </a:xfrm>
          <a:prstGeom prst="rect">
            <a:avLst/>
          </a:prstGeom>
        </p:spPr>
      </p:pic>
    </p:spTree>
    <p:extLst>
      <p:ext uri="{BB962C8B-B14F-4D97-AF65-F5344CB8AC3E}">
        <p14:creationId xmlns:p14="http://schemas.microsoft.com/office/powerpoint/2010/main" val="3364881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CD9F8-193E-B8B1-2A47-2722E0A7B55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FE4F261-029A-9ACF-512F-1AC2CF4C918D}"/>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04329D9E-8C6E-71ED-3B3E-5092AD6C3708}"/>
              </a:ext>
            </a:extLst>
          </p:cNvPr>
          <p:cNvSpPr/>
          <p:nvPr/>
        </p:nvSpPr>
        <p:spPr>
          <a:xfrm>
            <a:off x="365759" y="715268"/>
            <a:ext cx="3639820" cy="364232"/>
          </a:xfrm>
          <a:prstGeom prst="rect">
            <a:avLst/>
          </a:prstGeom>
          <a:noFill/>
          <a:ln/>
        </p:spPr>
        <p:txBody>
          <a:bodyPr wrap="square" rtlCol="0" anchor="ctr"/>
          <a:lstStyle/>
          <a:p>
            <a:r>
              <a:rPr lang="en-NG" sz="1400" dirty="0">
                <a:solidFill>
                  <a:schemeClr val="accent1"/>
                </a:solidFill>
              </a:rPr>
              <a:t>Tuned Model Performance Comparison</a:t>
            </a:r>
            <a:endParaRPr lang="en-NG" sz="1300" dirty="0">
              <a:solidFill>
                <a:schemeClr val="accent1"/>
              </a:solidFill>
            </a:endParaRPr>
          </a:p>
        </p:txBody>
      </p:sp>
      <p:sp>
        <p:nvSpPr>
          <p:cNvPr id="26" name="Shape 24">
            <a:extLst>
              <a:ext uri="{FF2B5EF4-FFF2-40B4-BE49-F238E27FC236}">
                <a16:creationId xmlns:a16="http://schemas.microsoft.com/office/drawing/2014/main" id="{3F8B05B9-7CF6-C3C2-579F-A22DCA22423C}"/>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FA797FA0-49EE-7D1A-0BAA-4E96CC8556DB}"/>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34</a:t>
            </a:r>
            <a:endParaRPr lang="en-US" sz="1400" dirty="0"/>
          </a:p>
        </p:txBody>
      </p:sp>
      <p:pic>
        <p:nvPicPr>
          <p:cNvPr id="6" name="Picture 5">
            <a:extLst>
              <a:ext uri="{FF2B5EF4-FFF2-40B4-BE49-F238E27FC236}">
                <a16:creationId xmlns:a16="http://schemas.microsoft.com/office/drawing/2014/main" id="{ECFE05D1-F77E-2E5C-B106-0153AEDB32D7}"/>
              </a:ext>
            </a:extLst>
          </p:cNvPr>
          <p:cNvPicPr>
            <a:picLocks noChangeAspect="1"/>
          </p:cNvPicPr>
          <p:nvPr/>
        </p:nvPicPr>
        <p:blipFill>
          <a:blip r:embed="rId3"/>
          <a:stretch>
            <a:fillRect/>
          </a:stretch>
        </p:blipFill>
        <p:spPr>
          <a:xfrm>
            <a:off x="3849021" y="1439674"/>
            <a:ext cx="5155607" cy="2553712"/>
          </a:xfrm>
          <a:prstGeom prst="rect">
            <a:avLst/>
          </a:prstGeom>
        </p:spPr>
      </p:pic>
      <p:pic>
        <p:nvPicPr>
          <p:cNvPr id="7" name="Picture 6">
            <a:extLst>
              <a:ext uri="{FF2B5EF4-FFF2-40B4-BE49-F238E27FC236}">
                <a16:creationId xmlns:a16="http://schemas.microsoft.com/office/drawing/2014/main" id="{AD312282-EC11-4908-2FE0-10120A29F20F}"/>
              </a:ext>
            </a:extLst>
          </p:cNvPr>
          <p:cNvPicPr>
            <a:picLocks noChangeAspect="1"/>
          </p:cNvPicPr>
          <p:nvPr/>
        </p:nvPicPr>
        <p:blipFill>
          <a:blip r:embed="rId4"/>
          <a:stretch>
            <a:fillRect/>
          </a:stretch>
        </p:blipFill>
        <p:spPr>
          <a:xfrm>
            <a:off x="945752" y="1282627"/>
            <a:ext cx="2201055" cy="3472253"/>
          </a:xfrm>
          <a:prstGeom prst="rect">
            <a:avLst/>
          </a:prstGeom>
        </p:spPr>
      </p:pic>
    </p:spTree>
    <p:extLst>
      <p:ext uri="{BB962C8B-B14F-4D97-AF65-F5344CB8AC3E}">
        <p14:creationId xmlns:p14="http://schemas.microsoft.com/office/powerpoint/2010/main" val="4192795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326AB-9073-D18E-6A62-28492DC1A7E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84C786C-745A-97B6-761F-832618DF878E}"/>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061930E2-7320-9DED-0C13-5B8FA2551AE9}"/>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Confusion Matrix (Best Model)</a:t>
            </a:r>
            <a:endParaRPr lang="en-NG" sz="1300" dirty="0">
              <a:solidFill>
                <a:schemeClr val="accent1"/>
              </a:solidFill>
            </a:endParaRPr>
          </a:p>
        </p:txBody>
      </p:sp>
      <p:sp>
        <p:nvSpPr>
          <p:cNvPr id="26" name="Shape 24">
            <a:extLst>
              <a:ext uri="{FF2B5EF4-FFF2-40B4-BE49-F238E27FC236}">
                <a16:creationId xmlns:a16="http://schemas.microsoft.com/office/drawing/2014/main" id="{EC3AE15A-6B33-C5D4-45A4-C098CCF30F44}"/>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862EAF3F-EA7A-266D-79E8-D0FEF1DE5039}"/>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35</a:t>
            </a:r>
            <a:endParaRPr lang="en-US" sz="1400" dirty="0"/>
          </a:p>
        </p:txBody>
      </p:sp>
      <p:pic>
        <p:nvPicPr>
          <p:cNvPr id="6" name="Picture 5">
            <a:extLst>
              <a:ext uri="{FF2B5EF4-FFF2-40B4-BE49-F238E27FC236}">
                <a16:creationId xmlns:a16="http://schemas.microsoft.com/office/drawing/2014/main" id="{06C66D25-9DD2-CB67-2527-0E7C532E9B64}"/>
              </a:ext>
            </a:extLst>
          </p:cNvPr>
          <p:cNvPicPr>
            <a:picLocks noChangeAspect="1"/>
          </p:cNvPicPr>
          <p:nvPr/>
        </p:nvPicPr>
        <p:blipFill>
          <a:blip r:embed="rId3"/>
          <a:stretch>
            <a:fillRect/>
          </a:stretch>
        </p:blipFill>
        <p:spPr>
          <a:xfrm>
            <a:off x="3766821" y="640080"/>
            <a:ext cx="4577866" cy="3892292"/>
          </a:xfrm>
          <a:prstGeom prst="rect">
            <a:avLst/>
          </a:prstGeom>
        </p:spPr>
      </p:pic>
      <p:pic>
        <p:nvPicPr>
          <p:cNvPr id="7" name="Picture 6">
            <a:extLst>
              <a:ext uri="{FF2B5EF4-FFF2-40B4-BE49-F238E27FC236}">
                <a16:creationId xmlns:a16="http://schemas.microsoft.com/office/drawing/2014/main" id="{CD64AA9E-F0A4-876F-53AE-8D336BDFD5C4}"/>
              </a:ext>
            </a:extLst>
          </p:cNvPr>
          <p:cNvPicPr>
            <a:picLocks noChangeAspect="1"/>
          </p:cNvPicPr>
          <p:nvPr/>
        </p:nvPicPr>
        <p:blipFill>
          <a:blip r:embed="rId4"/>
          <a:stretch>
            <a:fillRect/>
          </a:stretch>
        </p:blipFill>
        <p:spPr>
          <a:xfrm>
            <a:off x="543300" y="910081"/>
            <a:ext cx="2925613" cy="3844799"/>
          </a:xfrm>
          <a:prstGeom prst="rect">
            <a:avLst/>
          </a:prstGeom>
        </p:spPr>
      </p:pic>
    </p:spTree>
    <p:extLst>
      <p:ext uri="{BB962C8B-B14F-4D97-AF65-F5344CB8AC3E}">
        <p14:creationId xmlns:p14="http://schemas.microsoft.com/office/powerpoint/2010/main" val="3199852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6">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p:cNvSpPr/>
          <p:nvPr/>
        </p:nvSpPr>
        <p:spPr>
          <a:xfrm>
            <a:off x="914400" y="1828800"/>
            <a:ext cx="7315200" cy="1097280"/>
          </a:xfrm>
          <a:prstGeom prst="rect">
            <a:avLst/>
          </a:prstGeom>
          <a:noFill/>
          <a:ln/>
        </p:spPr>
        <p:txBody>
          <a:bodyPr wrap="square" rtlCol="0" anchor="ctr"/>
          <a:lstStyle/>
          <a:p>
            <a:r>
              <a:rPr lang="en-NG" sz="3600" b="1" dirty="0"/>
              <a:t>Model Interpretability</a:t>
            </a:r>
            <a:r>
              <a:rPr lang="en-US" sz="3600" b="1" dirty="0">
                <a:latin typeface="Calibri" pitchFamily="34" charset="0"/>
                <a:ea typeface="Calibri" pitchFamily="34" charset="-122"/>
                <a:cs typeface="Calibri" pitchFamily="34" charset="-120"/>
              </a:rPr>
              <a:t> &amp; </a:t>
            </a:r>
            <a:r>
              <a:rPr lang="en-NG" sz="3600" b="1" dirty="0"/>
              <a:t>Responsible AI Evaluation</a:t>
            </a:r>
            <a:endParaRPr lang="en-US" sz="3600" b="1" dirty="0"/>
          </a:p>
        </p:txBody>
      </p:sp>
      <p:sp>
        <p:nvSpPr>
          <p:cNvPr id="5" name="Shape 3"/>
          <p:cNvSpPr/>
          <p:nvPr/>
        </p:nvSpPr>
        <p:spPr>
          <a:xfrm>
            <a:off x="822960" y="2057400"/>
            <a:ext cx="109728" cy="109728"/>
          </a:xfrm>
          <a:prstGeom prst="ellipse">
            <a:avLst/>
          </a:prstGeom>
          <a:solidFill>
            <a:srgbClr val="E8922A"/>
          </a:solidFill>
          <a:ln w="12700">
            <a:solidFill>
              <a:srgbClr val="E8922A"/>
            </a:solidFill>
            <a:prstDash val="solid"/>
          </a:ln>
        </p:spPr>
        <p:txBody>
          <a:bodyPr/>
          <a:lstStyle/>
          <a:p>
            <a:endParaRPr lang="en-NG"/>
          </a:p>
        </p:txBody>
      </p:sp>
      <p:sp>
        <p:nvSpPr>
          <p:cNvPr id="6" name="Shape 4"/>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36</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3390C-CF40-94BB-48AF-B8D44A7B82A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34BE5C-AC90-804E-A14B-37EF1D1D8F51}"/>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E01644FE-0F5C-72C2-0B0D-79BD2B3C4211}"/>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Model Interpretability (SHAP Analysis)</a:t>
            </a:r>
            <a:endParaRPr lang="en-NG" sz="1300" dirty="0">
              <a:solidFill>
                <a:schemeClr val="accent1"/>
              </a:solidFill>
            </a:endParaRPr>
          </a:p>
        </p:txBody>
      </p:sp>
      <p:sp>
        <p:nvSpPr>
          <p:cNvPr id="26" name="Shape 24">
            <a:extLst>
              <a:ext uri="{FF2B5EF4-FFF2-40B4-BE49-F238E27FC236}">
                <a16:creationId xmlns:a16="http://schemas.microsoft.com/office/drawing/2014/main" id="{36A0DA93-3C44-C0CD-D6B8-771A8A01F897}"/>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2168867E-99F0-83DD-9A77-876A1FCBDB83}"/>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37</a:t>
            </a:r>
            <a:endParaRPr lang="en-US" sz="1400" dirty="0"/>
          </a:p>
        </p:txBody>
      </p:sp>
      <p:pic>
        <p:nvPicPr>
          <p:cNvPr id="7" name="Picture 6">
            <a:extLst>
              <a:ext uri="{FF2B5EF4-FFF2-40B4-BE49-F238E27FC236}">
                <a16:creationId xmlns:a16="http://schemas.microsoft.com/office/drawing/2014/main" id="{A082C88C-A7D5-22F2-DEDF-65DC6D0343A5}"/>
              </a:ext>
            </a:extLst>
          </p:cNvPr>
          <p:cNvPicPr>
            <a:picLocks noChangeAspect="1"/>
          </p:cNvPicPr>
          <p:nvPr/>
        </p:nvPicPr>
        <p:blipFill>
          <a:blip r:embed="rId3"/>
          <a:stretch>
            <a:fillRect/>
          </a:stretch>
        </p:blipFill>
        <p:spPr>
          <a:xfrm>
            <a:off x="4434839" y="640080"/>
            <a:ext cx="3685539" cy="4363265"/>
          </a:xfrm>
          <a:prstGeom prst="rect">
            <a:avLst/>
          </a:prstGeom>
        </p:spPr>
      </p:pic>
      <p:pic>
        <p:nvPicPr>
          <p:cNvPr id="6" name="Picture 5">
            <a:extLst>
              <a:ext uri="{FF2B5EF4-FFF2-40B4-BE49-F238E27FC236}">
                <a16:creationId xmlns:a16="http://schemas.microsoft.com/office/drawing/2014/main" id="{93A5E2A8-A958-D937-77BF-F6D29C542994}"/>
              </a:ext>
            </a:extLst>
          </p:cNvPr>
          <p:cNvPicPr>
            <a:picLocks noChangeAspect="1"/>
          </p:cNvPicPr>
          <p:nvPr/>
        </p:nvPicPr>
        <p:blipFill>
          <a:blip r:embed="rId4"/>
          <a:stretch>
            <a:fillRect/>
          </a:stretch>
        </p:blipFill>
        <p:spPr>
          <a:xfrm>
            <a:off x="854986" y="965200"/>
            <a:ext cx="2410728" cy="4050484"/>
          </a:xfrm>
          <a:prstGeom prst="rect">
            <a:avLst/>
          </a:prstGeom>
        </p:spPr>
      </p:pic>
    </p:spTree>
    <p:extLst>
      <p:ext uri="{BB962C8B-B14F-4D97-AF65-F5344CB8AC3E}">
        <p14:creationId xmlns:p14="http://schemas.microsoft.com/office/powerpoint/2010/main" val="3322715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C14B7-0A3A-BA63-8156-4741B9805F2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7D0A243-1370-1A05-2551-44766FF24081}"/>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11AF69BD-1152-1E48-27FB-CE8D97E63914}"/>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Responsible AI Evaluation: Gender Fairness</a:t>
            </a:r>
            <a:endParaRPr lang="en-NG" sz="1300" dirty="0">
              <a:solidFill>
                <a:schemeClr val="accent1"/>
              </a:solidFill>
            </a:endParaRPr>
          </a:p>
        </p:txBody>
      </p:sp>
      <p:sp>
        <p:nvSpPr>
          <p:cNvPr id="26" name="Shape 24">
            <a:extLst>
              <a:ext uri="{FF2B5EF4-FFF2-40B4-BE49-F238E27FC236}">
                <a16:creationId xmlns:a16="http://schemas.microsoft.com/office/drawing/2014/main" id="{9DAE24DF-3FA5-9EB5-86AE-BDF34AFD5000}"/>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558C36B2-30DA-56B8-3BCF-924E6067E02B}"/>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38</a:t>
            </a:r>
            <a:endParaRPr lang="en-US" sz="1400" dirty="0"/>
          </a:p>
        </p:txBody>
      </p:sp>
      <p:pic>
        <p:nvPicPr>
          <p:cNvPr id="7" name="Picture 6">
            <a:extLst>
              <a:ext uri="{FF2B5EF4-FFF2-40B4-BE49-F238E27FC236}">
                <a16:creationId xmlns:a16="http://schemas.microsoft.com/office/drawing/2014/main" id="{71CA4DFD-C896-00CF-0B70-CB0F6F5D97B8}"/>
              </a:ext>
            </a:extLst>
          </p:cNvPr>
          <p:cNvPicPr>
            <a:picLocks noChangeAspect="1"/>
          </p:cNvPicPr>
          <p:nvPr/>
        </p:nvPicPr>
        <p:blipFill>
          <a:blip r:embed="rId3"/>
          <a:stretch>
            <a:fillRect/>
          </a:stretch>
        </p:blipFill>
        <p:spPr>
          <a:xfrm>
            <a:off x="4328169" y="1665272"/>
            <a:ext cx="4175751" cy="2064416"/>
          </a:xfrm>
          <a:prstGeom prst="rect">
            <a:avLst/>
          </a:prstGeom>
        </p:spPr>
      </p:pic>
      <p:pic>
        <p:nvPicPr>
          <p:cNvPr id="6" name="Picture 5">
            <a:extLst>
              <a:ext uri="{FF2B5EF4-FFF2-40B4-BE49-F238E27FC236}">
                <a16:creationId xmlns:a16="http://schemas.microsoft.com/office/drawing/2014/main" id="{1BE963CF-775E-FBD4-7482-70A72CD2C403}"/>
              </a:ext>
            </a:extLst>
          </p:cNvPr>
          <p:cNvPicPr>
            <a:picLocks noChangeAspect="1"/>
          </p:cNvPicPr>
          <p:nvPr/>
        </p:nvPicPr>
        <p:blipFill>
          <a:blip r:embed="rId4"/>
          <a:stretch>
            <a:fillRect/>
          </a:stretch>
        </p:blipFill>
        <p:spPr>
          <a:xfrm>
            <a:off x="1028214" y="958366"/>
            <a:ext cx="2019786" cy="4039572"/>
          </a:xfrm>
          <a:prstGeom prst="rect">
            <a:avLst/>
          </a:prstGeom>
        </p:spPr>
      </p:pic>
    </p:spTree>
    <p:extLst>
      <p:ext uri="{BB962C8B-B14F-4D97-AF65-F5344CB8AC3E}">
        <p14:creationId xmlns:p14="http://schemas.microsoft.com/office/powerpoint/2010/main" val="3581358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85DE9-237B-D517-F464-74AA916DDC7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396AAD7-8C3A-3212-6848-0CB17006DB3E}"/>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429AEA35-9E9F-F6FE-C895-667DE96EC55E}"/>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Responsible AI Evaluation: Race Fairness</a:t>
            </a:r>
            <a:endParaRPr lang="en-NG" sz="1300" dirty="0">
              <a:solidFill>
                <a:schemeClr val="accent1"/>
              </a:solidFill>
            </a:endParaRPr>
          </a:p>
        </p:txBody>
      </p:sp>
      <p:sp>
        <p:nvSpPr>
          <p:cNvPr id="26" name="Shape 24">
            <a:extLst>
              <a:ext uri="{FF2B5EF4-FFF2-40B4-BE49-F238E27FC236}">
                <a16:creationId xmlns:a16="http://schemas.microsoft.com/office/drawing/2014/main" id="{B5890065-4F21-CC19-483F-F20E79403E78}"/>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C1A575F6-00DA-5745-122E-6CA4B670E3C8}"/>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39</a:t>
            </a:r>
            <a:endParaRPr lang="en-US" sz="1400" dirty="0"/>
          </a:p>
        </p:txBody>
      </p:sp>
      <p:pic>
        <p:nvPicPr>
          <p:cNvPr id="6" name="Picture 5">
            <a:extLst>
              <a:ext uri="{FF2B5EF4-FFF2-40B4-BE49-F238E27FC236}">
                <a16:creationId xmlns:a16="http://schemas.microsoft.com/office/drawing/2014/main" id="{4FF16E56-C516-89E1-F305-F6DC45427CD1}"/>
              </a:ext>
            </a:extLst>
          </p:cNvPr>
          <p:cNvPicPr>
            <a:picLocks noChangeAspect="1"/>
          </p:cNvPicPr>
          <p:nvPr/>
        </p:nvPicPr>
        <p:blipFill>
          <a:blip r:embed="rId3"/>
          <a:stretch>
            <a:fillRect/>
          </a:stretch>
        </p:blipFill>
        <p:spPr>
          <a:xfrm>
            <a:off x="4025901" y="1523999"/>
            <a:ext cx="4979196" cy="2463453"/>
          </a:xfrm>
          <a:prstGeom prst="rect">
            <a:avLst/>
          </a:prstGeom>
        </p:spPr>
      </p:pic>
      <p:pic>
        <p:nvPicPr>
          <p:cNvPr id="7" name="Picture 6">
            <a:extLst>
              <a:ext uri="{FF2B5EF4-FFF2-40B4-BE49-F238E27FC236}">
                <a16:creationId xmlns:a16="http://schemas.microsoft.com/office/drawing/2014/main" id="{FA662964-941A-B37C-F232-A19ADA99051E}"/>
              </a:ext>
            </a:extLst>
          </p:cNvPr>
          <p:cNvPicPr>
            <a:picLocks noChangeAspect="1"/>
          </p:cNvPicPr>
          <p:nvPr/>
        </p:nvPicPr>
        <p:blipFill>
          <a:blip r:embed="rId4"/>
          <a:stretch>
            <a:fillRect/>
          </a:stretch>
        </p:blipFill>
        <p:spPr>
          <a:xfrm>
            <a:off x="1204687" y="968039"/>
            <a:ext cx="1562642" cy="3786841"/>
          </a:xfrm>
          <a:prstGeom prst="rect">
            <a:avLst/>
          </a:prstGeom>
        </p:spPr>
      </p:pic>
    </p:spTree>
    <p:extLst>
      <p:ext uri="{BB962C8B-B14F-4D97-AF65-F5344CB8AC3E}">
        <p14:creationId xmlns:p14="http://schemas.microsoft.com/office/powerpoint/2010/main" val="2488176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62034-5489-4195-F0CB-EE0799715B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4B7E859-90EB-D530-33B9-FCF4E0315938}"/>
              </a:ext>
            </a:extLst>
          </p:cNvPr>
          <p:cNvSpPr/>
          <p:nvPr/>
        </p:nvSpPr>
        <p:spPr>
          <a:xfrm>
            <a:off x="0" y="0"/>
            <a:ext cx="320040" cy="5143500"/>
          </a:xfrm>
          <a:prstGeom prst="rect">
            <a:avLst/>
          </a:prstGeom>
          <a:solidFill>
            <a:srgbClr val="4A90C4"/>
          </a:solidFill>
          <a:ln w="12700">
            <a:solidFill>
              <a:srgbClr val="4A90C4"/>
            </a:solidFill>
            <a:prstDash val="solid"/>
          </a:ln>
        </p:spPr>
        <p:txBody>
          <a:bodyPr/>
          <a:lstStyle/>
          <a:p>
            <a:endParaRPr lang="en-NG"/>
          </a:p>
        </p:txBody>
      </p:sp>
      <p:sp>
        <p:nvSpPr>
          <p:cNvPr id="3" name="Shape 1">
            <a:extLst>
              <a:ext uri="{FF2B5EF4-FFF2-40B4-BE49-F238E27FC236}">
                <a16:creationId xmlns:a16="http://schemas.microsoft.com/office/drawing/2014/main" id="{98392C5E-AF9B-BFCB-47C3-5EB39ED9E349}"/>
              </a:ext>
            </a:extLst>
          </p:cNvPr>
          <p:cNvSpPr/>
          <p:nvPr/>
        </p:nvSpPr>
        <p:spPr>
          <a:xfrm>
            <a:off x="320040" y="0"/>
            <a:ext cx="73152" cy="5143500"/>
          </a:xfrm>
          <a:prstGeom prst="rect">
            <a:avLst/>
          </a:prstGeom>
          <a:solidFill>
            <a:srgbClr val="E8922A"/>
          </a:solidFill>
          <a:ln w="12700">
            <a:solidFill>
              <a:srgbClr val="E8922A"/>
            </a:solidFill>
            <a:prstDash val="solid"/>
          </a:ln>
        </p:spPr>
        <p:txBody>
          <a:bodyPr/>
          <a:lstStyle/>
          <a:p>
            <a:endParaRPr lang="en-NG"/>
          </a:p>
        </p:txBody>
      </p:sp>
      <p:sp>
        <p:nvSpPr>
          <p:cNvPr id="4" name="Text 2">
            <a:extLst>
              <a:ext uri="{FF2B5EF4-FFF2-40B4-BE49-F238E27FC236}">
                <a16:creationId xmlns:a16="http://schemas.microsoft.com/office/drawing/2014/main" id="{D3C79877-8C70-28BD-8F9A-316C5E104F5A}"/>
              </a:ext>
            </a:extLst>
          </p:cNvPr>
          <p:cNvSpPr/>
          <p:nvPr/>
        </p:nvSpPr>
        <p:spPr>
          <a:xfrm>
            <a:off x="914400" y="1828800"/>
            <a:ext cx="7315200" cy="1097280"/>
          </a:xfrm>
          <a:prstGeom prst="rect">
            <a:avLst/>
          </a:prstGeom>
          <a:noFill/>
          <a:ln/>
        </p:spPr>
        <p:txBody>
          <a:bodyPr wrap="square" rtlCol="0" anchor="ctr"/>
          <a:lstStyle/>
          <a:p>
            <a:r>
              <a:rPr lang="en-NG" sz="3600" b="1" dirty="0"/>
              <a:t>Limitations and Future Improvements</a:t>
            </a:r>
          </a:p>
        </p:txBody>
      </p:sp>
      <p:sp>
        <p:nvSpPr>
          <p:cNvPr id="5" name="Shape 3">
            <a:extLst>
              <a:ext uri="{FF2B5EF4-FFF2-40B4-BE49-F238E27FC236}">
                <a16:creationId xmlns:a16="http://schemas.microsoft.com/office/drawing/2014/main" id="{83A10291-E528-65A4-8674-61BD0A986620}"/>
              </a:ext>
            </a:extLst>
          </p:cNvPr>
          <p:cNvSpPr/>
          <p:nvPr/>
        </p:nvSpPr>
        <p:spPr>
          <a:xfrm>
            <a:off x="822960" y="2057400"/>
            <a:ext cx="109728" cy="109728"/>
          </a:xfrm>
          <a:prstGeom prst="ellipse">
            <a:avLst/>
          </a:prstGeom>
          <a:solidFill>
            <a:srgbClr val="E8922A"/>
          </a:solidFill>
          <a:ln w="12700">
            <a:solidFill>
              <a:srgbClr val="E8922A"/>
            </a:solidFill>
            <a:prstDash val="solid"/>
          </a:ln>
        </p:spPr>
        <p:txBody>
          <a:bodyPr/>
          <a:lstStyle/>
          <a:p>
            <a:endParaRPr lang="en-NG"/>
          </a:p>
        </p:txBody>
      </p:sp>
      <p:sp>
        <p:nvSpPr>
          <p:cNvPr id="6" name="Shape 4">
            <a:extLst>
              <a:ext uri="{FF2B5EF4-FFF2-40B4-BE49-F238E27FC236}">
                <a16:creationId xmlns:a16="http://schemas.microsoft.com/office/drawing/2014/main" id="{50AC1140-3FF6-458D-CE17-F2BC588A8385}"/>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7" name="Text 5">
            <a:extLst>
              <a:ext uri="{FF2B5EF4-FFF2-40B4-BE49-F238E27FC236}">
                <a16:creationId xmlns:a16="http://schemas.microsoft.com/office/drawing/2014/main" id="{1D9A821B-6649-52B5-2C4F-9F7D24A60DB4}"/>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40</a:t>
            </a:r>
            <a:endParaRPr lang="en-US" sz="1400" dirty="0"/>
          </a:p>
        </p:txBody>
      </p:sp>
    </p:spTree>
    <p:extLst>
      <p:ext uri="{BB962C8B-B14F-4D97-AF65-F5344CB8AC3E}">
        <p14:creationId xmlns:p14="http://schemas.microsoft.com/office/powerpoint/2010/main" val="1350334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5789E-0E5A-E6FC-BA3D-EF7A85087AA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241898D-6F45-0E2B-2C74-7F2DDEFCA246}"/>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B336470A-FE78-5EA2-0692-B8258CA31EB9}"/>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Limitations and Future Improvements</a:t>
            </a:r>
            <a:endParaRPr lang="en-NG" sz="1300" dirty="0">
              <a:solidFill>
                <a:schemeClr val="accent1"/>
              </a:solidFill>
            </a:endParaRPr>
          </a:p>
        </p:txBody>
      </p:sp>
      <p:sp>
        <p:nvSpPr>
          <p:cNvPr id="4" name="Text 2">
            <a:extLst>
              <a:ext uri="{FF2B5EF4-FFF2-40B4-BE49-F238E27FC236}">
                <a16:creationId xmlns:a16="http://schemas.microsoft.com/office/drawing/2014/main" id="{F9B816AC-1AFE-B1B9-132A-5D9E1BBBD2E4}"/>
              </a:ext>
            </a:extLst>
          </p:cNvPr>
          <p:cNvSpPr/>
          <p:nvPr/>
        </p:nvSpPr>
        <p:spPr>
          <a:xfrm>
            <a:off x="365758" y="871994"/>
            <a:ext cx="8412480" cy="3882886"/>
          </a:xfrm>
          <a:prstGeom prst="rect">
            <a:avLst/>
          </a:prstGeom>
          <a:noFill/>
          <a:ln/>
        </p:spPr>
        <p:txBody>
          <a:bodyPr wrap="square" rtlCol="0" anchor="t"/>
          <a:lstStyle/>
          <a:p>
            <a:r>
              <a:rPr lang="en-NG" sz="1400" b="1" dirty="0"/>
              <a:t>Key Limitations</a:t>
            </a:r>
          </a:p>
          <a:p>
            <a:pPr marL="171450" indent="-171450">
              <a:buFont typeface="Arial" panose="020B0604020202020204" pitchFamily="34" charset="0"/>
              <a:buChar char="•"/>
            </a:pPr>
            <a:r>
              <a:rPr lang="en-NG" sz="1400" b="1" dirty="0"/>
              <a:t>Dataset age:</a:t>
            </a:r>
            <a:r>
              <a:rPr lang="en-NG" sz="1400" dirty="0"/>
              <a:t> The Adult Income dataset is based on the </a:t>
            </a:r>
            <a:r>
              <a:rPr lang="en-NG" sz="1400" b="1" dirty="0"/>
              <a:t>1994 U.S. Census</a:t>
            </a:r>
            <a:r>
              <a:rPr lang="en-NG" sz="1400" dirty="0"/>
              <a:t> and may not fully reflect current socioeconomic conditions. </a:t>
            </a:r>
          </a:p>
          <a:p>
            <a:pPr marL="171450" indent="-171450">
              <a:buFont typeface="Arial" panose="020B0604020202020204" pitchFamily="34" charset="0"/>
              <a:buChar char="•"/>
            </a:pPr>
            <a:endParaRPr lang="en-NG" sz="1400" dirty="0"/>
          </a:p>
          <a:p>
            <a:pPr marL="171450" indent="-171450">
              <a:buFont typeface="Arial" panose="020B0604020202020204" pitchFamily="34" charset="0"/>
              <a:buChar char="•"/>
            </a:pPr>
            <a:r>
              <a:rPr lang="en-NG" sz="1400" b="1" dirty="0"/>
              <a:t>Correlation ≠ Causation:</a:t>
            </a:r>
            <a:r>
              <a:rPr lang="en-NG" sz="1400" dirty="0"/>
              <a:t> The models identify predictive relationships but cannot determine causal factors influencing income. </a:t>
            </a:r>
          </a:p>
          <a:p>
            <a:pPr marL="171450" indent="-171450">
              <a:buFont typeface="Arial" panose="020B0604020202020204" pitchFamily="34" charset="0"/>
              <a:buChar char="•"/>
            </a:pPr>
            <a:endParaRPr lang="en-NG" sz="1400" dirty="0"/>
          </a:p>
          <a:p>
            <a:pPr marL="171450" indent="-171450">
              <a:buFont typeface="Arial" panose="020B0604020202020204" pitchFamily="34" charset="0"/>
              <a:buChar char="•"/>
            </a:pPr>
            <a:r>
              <a:rPr lang="en-NG" sz="1400" b="1" dirty="0"/>
              <a:t>Small demographic subgroups:</a:t>
            </a:r>
            <a:r>
              <a:rPr lang="en-NG" sz="1400" dirty="0"/>
              <a:t> Some racial groups contain relatively few observations, leading to less reliable fairness estimates.</a:t>
            </a:r>
          </a:p>
          <a:p>
            <a:pPr marL="171450" indent="-171450">
              <a:buFont typeface="Arial" panose="020B0604020202020204" pitchFamily="34" charset="0"/>
              <a:buChar char="•"/>
            </a:pPr>
            <a:endParaRPr lang="en-NG" sz="1400" dirty="0"/>
          </a:p>
          <a:p>
            <a:pPr marL="171450" indent="-171450">
              <a:buFont typeface="Arial" panose="020B0604020202020204" pitchFamily="34" charset="0"/>
              <a:buChar char="•"/>
            </a:pPr>
            <a:r>
              <a:rPr lang="en-NG" sz="1400" b="1" dirty="0"/>
              <a:t>Limited hyperparameter search space:</a:t>
            </a:r>
            <a:r>
              <a:rPr lang="en-NG" sz="1400" dirty="0"/>
              <a:t> More extensive optimization techniques could potentially improve model performance further. </a:t>
            </a:r>
          </a:p>
          <a:p>
            <a:pPr marL="171450" indent="-171450">
              <a:buFont typeface="Arial" panose="020B0604020202020204" pitchFamily="34" charset="0"/>
              <a:buChar char="•"/>
            </a:pPr>
            <a:endParaRPr lang="en-NG" sz="1400" dirty="0"/>
          </a:p>
          <a:p>
            <a:pPr marL="171450" indent="-171450">
              <a:buFont typeface="Arial" panose="020B0604020202020204" pitchFamily="34" charset="0"/>
              <a:buChar char="•"/>
            </a:pPr>
            <a:r>
              <a:rPr lang="en-NG" sz="1400" b="1" dirty="0"/>
              <a:t>Fairness evaluation scope:</a:t>
            </a:r>
            <a:r>
              <a:rPr lang="en-NG" sz="1400" dirty="0"/>
              <a:t> The analysis focused on demographic group performance and did not include advanced fairness metrics such as demographic parity or equal opportunity.</a:t>
            </a:r>
          </a:p>
        </p:txBody>
      </p:sp>
      <p:sp>
        <p:nvSpPr>
          <p:cNvPr id="26" name="Shape 24">
            <a:extLst>
              <a:ext uri="{FF2B5EF4-FFF2-40B4-BE49-F238E27FC236}">
                <a16:creationId xmlns:a16="http://schemas.microsoft.com/office/drawing/2014/main" id="{7750C04A-A72F-D805-3D08-E389528C094B}"/>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2D1EEA36-E6C6-1418-B741-57A1542BEB14}"/>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41</a:t>
            </a:r>
            <a:endParaRPr lang="en-US" sz="1400" dirty="0"/>
          </a:p>
        </p:txBody>
      </p:sp>
    </p:spTree>
    <p:extLst>
      <p:ext uri="{BB962C8B-B14F-4D97-AF65-F5344CB8AC3E}">
        <p14:creationId xmlns:p14="http://schemas.microsoft.com/office/powerpoint/2010/main" val="27217906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C15D7-D45C-4BF4-D1C8-CEEC33C26D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061FFA-D9DA-E2AB-0F85-A6F624893C7E}"/>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CDED50D4-B26F-7FFF-1B11-249FF8F3CB34}"/>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Limitations and Future Improvements</a:t>
            </a:r>
            <a:endParaRPr lang="en-NG" sz="1300" dirty="0">
              <a:solidFill>
                <a:schemeClr val="accent1"/>
              </a:solidFill>
            </a:endParaRPr>
          </a:p>
        </p:txBody>
      </p:sp>
      <p:sp>
        <p:nvSpPr>
          <p:cNvPr id="4" name="Text 2">
            <a:extLst>
              <a:ext uri="{FF2B5EF4-FFF2-40B4-BE49-F238E27FC236}">
                <a16:creationId xmlns:a16="http://schemas.microsoft.com/office/drawing/2014/main" id="{12C27101-0A5E-FCFC-F8B6-04D5B9DEE279}"/>
              </a:ext>
            </a:extLst>
          </p:cNvPr>
          <p:cNvSpPr/>
          <p:nvPr/>
        </p:nvSpPr>
        <p:spPr>
          <a:xfrm>
            <a:off x="365758" y="969792"/>
            <a:ext cx="8412480" cy="3882886"/>
          </a:xfrm>
          <a:prstGeom prst="rect">
            <a:avLst/>
          </a:prstGeom>
          <a:noFill/>
          <a:ln/>
        </p:spPr>
        <p:txBody>
          <a:bodyPr wrap="square" rtlCol="0" anchor="t"/>
          <a:lstStyle/>
          <a:p>
            <a:r>
              <a:rPr lang="en-NG" sz="1400" b="1" dirty="0"/>
              <a:t>Potential Future Improvements</a:t>
            </a:r>
          </a:p>
          <a:p>
            <a:endParaRPr lang="en-NG" sz="1400" b="1" dirty="0"/>
          </a:p>
          <a:p>
            <a:pPr marL="285750" indent="-285750">
              <a:buFont typeface="Arial" panose="020B0604020202020204" pitchFamily="34" charset="0"/>
              <a:buChar char="•"/>
            </a:pPr>
            <a:r>
              <a:rPr lang="en-NG" sz="1400" dirty="0"/>
              <a:t>Evaluate on more recent socioeconomic datasets.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Explore additional feature engineering techniques.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Apply advanced hyperparameter optimization methods.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Investigate fairness-aware machine learning approaches. </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Compare with additional algorithms such as XGBoost or LightGBM.</a:t>
            </a:r>
          </a:p>
          <a:p>
            <a:r>
              <a:rPr lang="en-NG" sz="1400" dirty="0"/>
              <a:t> </a:t>
            </a:r>
          </a:p>
          <a:p>
            <a:pPr marL="285750" indent="-285750">
              <a:buFont typeface="Arial" panose="020B0604020202020204" pitchFamily="34" charset="0"/>
              <a:buChar char="•"/>
            </a:pPr>
            <a:r>
              <a:rPr lang="en-NG" sz="1400" dirty="0"/>
              <a:t>Expand interpretability analysis using local SHAP explanations.</a:t>
            </a:r>
          </a:p>
        </p:txBody>
      </p:sp>
      <p:sp>
        <p:nvSpPr>
          <p:cNvPr id="26" name="Shape 24">
            <a:extLst>
              <a:ext uri="{FF2B5EF4-FFF2-40B4-BE49-F238E27FC236}">
                <a16:creationId xmlns:a16="http://schemas.microsoft.com/office/drawing/2014/main" id="{3F4B7619-DA22-1193-A4C3-2845F96A1EF9}"/>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72A38713-B947-40E3-7A24-13E0F8CD61EE}"/>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42</a:t>
            </a:r>
            <a:endParaRPr lang="en-US" sz="1400" dirty="0"/>
          </a:p>
        </p:txBody>
      </p:sp>
    </p:spTree>
    <p:extLst>
      <p:ext uri="{BB962C8B-B14F-4D97-AF65-F5344CB8AC3E}">
        <p14:creationId xmlns:p14="http://schemas.microsoft.com/office/powerpoint/2010/main" val="41971463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147E0-803A-E1B1-2EAB-43E9EBEFB80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90F59DF-4AA7-4F72-90DC-F7C39E0D94C2}"/>
              </a:ext>
            </a:extLst>
          </p:cNvPr>
          <p:cNvSpPr/>
          <p:nvPr/>
        </p:nvSpPr>
        <p:spPr>
          <a:xfrm>
            <a:off x="365760" y="137160"/>
            <a:ext cx="8412480" cy="502920"/>
          </a:xfrm>
          <a:prstGeom prst="rect">
            <a:avLst/>
          </a:prstGeom>
          <a:noFill/>
          <a:ln/>
        </p:spPr>
        <p:txBody>
          <a:bodyPr wrap="square" rtlCol="0" anchor="ctr"/>
          <a:lstStyle/>
          <a:p>
            <a:pPr marL="0" indent="0">
              <a:buNone/>
            </a:pPr>
            <a:r>
              <a:rPr lang="en-US" sz="2600" dirty="0">
                <a:solidFill>
                  <a:srgbClr val="2D2D2D"/>
                </a:solidFill>
                <a:latin typeface="Calibri" pitchFamily="34" charset="0"/>
                <a:ea typeface="Calibri" pitchFamily="34" charset="-122"/>
                <a:cs typeface="Calibri" pitchFamily="34" charset="-120"/>
              </a:rPr>
              <a:t>Income Classification Using Machine Learning</a:t>
            </a:r>
            <a:endParaRPr lang="en-US" sz="2600" dirty="0"/>
          </a:p>
        </p:txBody>
      </p:sp>
      <p:sp>
        <p:nvSpPr>
          <p:cNvPr id="3" name="Text 1">
            <a:extLst>
              <a:ext uri="{FF2B5EF4-FFF2-40B4-BE49-F238E27FC236}">
                <a16:creationId xmlns:a16="http://schemas.microsoft.com/office/drawing/2014/main" id="{8A623D62-D990-49B0-A809-7A01F1120788}"/>
              </a:ext>
            </a:extLst>
          </p:cNvPr>
          <p:cNvSpPr/>
          <p:nvPr/>
        </p:nvSpPr>
        <p:spPr>
          <a:xfrm>
            <a:off x="365758" y="571514"/>
            <a:ext cx="4803141" cy="364232"/>
          </a:xfrm>
          <a:prstGeom prst="rect">
            <a:avLst/>
          </a:prstGeom>
          <a:noFill/>
          <a:ln/>
        </p:spPr>
        <p:txBody>
          <a:bodyPr wrap="square" rtlCol="0" anchor="ctr"/>
          <a:lstStyle/>
          <a:p>
            <a:r>
              <a:rPr lang="en-NG" sz="1400" dirty="0">
                <a:solidFill>
                  <a:schemeClr val="accent1"/>
                </a:solidFill>
              </a:rPr>
              <a:t>Conclusion</a:t>
            </a:r>
            <a:endParaRPr lang="en-NG" sz="1300" dirty="0">
              <a:solidFill>
                <a:schemeClr val="accent1"/>
              </a:solidFill>
            </a:endParaRPr>
          </a:p>
        </p:txBody>
      </p:sp>
      <p:sp>
        <p:nvSpPr>
          <p:cNvPr id="4" name="Text 2">
            <a:extLst>
              <a:ext uri="{FF2B5EF4-FFF2-40B4-BE49-F238E27FC236}">
                <a16:creationId xmlns:a16="http://schemas.microsoft.com/office/drawing/2014/main" id="{98723095-72BC-49E0-EB57-793C6385FA02}"/>
              </a:ext>
            </a:extLst>
          </p:cNvPr>
          <p:cNvSpPr/>
          <p:nvPr/>
        </p:nvSpPr>
        <p:spPr>
          <a:xfrm>
            <a:off x="365758" y="969792"/>
            <a:ext cx="8412480" cy="3882886"/>
          </a:xfrm>
          <a:prstGeom prst="rect">
            <a:avLst/>
          </a:prstGeom>
          <a:noFill/>
          <a:ln/>
        </p:spPr>
        <p:txBody>
          <a:bodyPr wrap="square" rtlCol="0" anchor="t"/>
          <a:lstStyle/>
          <a:p>
            <a:r>
              <a:rPr lang="en-NG" sz="1400" b="1" dirty="0"/>
              <a:t>Main Findings</a:t>
            </a:r>
          </a:p>
          <a:p>
            <a:pPr marL="285750" indent="-285750">
              <a:buFont typeface="Arial" panose="020B0604020202020204" pitchFamily="34" charset="0"/>
              <a:buChar char="•"/>
            </a:pPr>
            <a:r>
              <a:rPr lang="en-NG" sz="1400" dirty="0"/>
              <a:t>Developed a complete end-to-end machine learning pipeline for income classification</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Performed comprehensive data cleaning, preprocessing, and feature engineering</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Evaluated and compared four machine learning algorithms</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Hyperparameter tuning improved model performance across all models</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Gradient Boosting achieved the strongest overall predictive performance</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SHAP analysis improved model interpretability and transparency</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Fairness evaluation revealed performance disparities across demographic groups</a:t>
            </a:r>
          </a:p>
          <a:p>
            <a:pPr marL="285750" indent="-285750">
              <a:buFont typeface="Arial" panose="020B0604020202020204" pitchFamily="34" charset="0"/>
              <a:buChar char="•"/>
            </a:pPr>
            <a:endParaRPr lang="en-NG" sz="1400" dirty="0"/>
          </a:p>
          <a:p>
            <a:pPr marL="285750" indent="-285750">
              <a:buFont typeface="Arial" panose="020B0604020202020204" pitchFamily="34" charset="0"/>
              <a:buChar char="•"/>
            </a:pPr>
            <a:r>
              <a:rPr lang="en-NG" sz="1400" dirty="0"/>
              <a:t>Feature engineering contributed significantly to model effectiveness</a:t>
            </a:r>
          </a:p>
        </p:txBody>
      </p:sp>
      <p:sp>
        <p:nvSpPr>
          <p:cNvPr id="26" name="Shape 24">
            <a:extLst>
              <a:ext uri="{FF2B5EF4-FFF2-40B4-BE49-F238E27FC236}">
                <a16:creationId xmlns:a16="http://schemas.microsoft.com/office/drawing/2014/main" id="{B7E8A118-7CDC-ADA4-DD1E-1C99FD0BD44B}"/>
              </a:ext>
            </a:extLst>
          </p:cNvPr>
          <p:cNvSpPr/>
          <p:nvPr/>
        </p:nvSpPr>
        <p:spPr>
          <a:xfrm>
            <a:off x="8503920" y="4754880"/>
            <a:ext cx="640080" cy="393192"/>
          </a:xfrm>
          <a:prstGeom prst="rect">
            <a:avLst/>
          </a:prstGeom>
          <a:solidFill>
            <a:srgbClr val="E8922A"/>
          </a:solidFill>
          <a:ln w="12700">
            <a:solidFill>
              <a:srgbClr val="E8922A"/>
            </a:solidFill>
            <a:prstDash val="solid"/>
          </a:ln>
        </p:spPr>
        <p:txBody>
          <a:bodyPr/>
          <a:lstStyle/>
          <a:p>
            <a:endParaRPr lang="en-NG"/>
          </a:p>
        </p:txBody>
      </p:sp>
      <p:sp>
        <p:nvSpPr>
          <p:cNvPr id="27" name="Text 25">
            <a:extLst>
              <a:ext uri="{FF2B5EF4-FFF2-40B4-BE49-F238E27FC236}">
                <a16:creationId xmlns:a16="http://schemas.microsoft.com/office/drawing/2014/main" id="{4175FAB7-1AB8-1F85-FC0E-E76B9DF3B58C}"/>
              </a:ext>
            </a:extLst>
          </p:cNvPr>
          <p:cNvSpPr/>
          <p:nvPr/>
        </p:nvSpPr>
        <p:spPr>
          <a:xfrm>
            <a:off x="8503920" y="4754880"/>
            <a:ext cx="640080" cy="39319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43</a:t>
            </a:r>
            <a:endParaRPr lang="en-US" sz="1400" dirty="0"/>
          </a:p>
        </p:txBody>
      </p:sp>
    </p:spTree>
    <p:extLst>
      <p:ext uri="{BB962C8B-B14F-4D97-AF65-F5344CB8AC3E}">
        <p14:creationId xmlns:p14="http://schemas.microsoft.com/office/powerpoint/2010/main" val="22123337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8">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914400" y="1463040"/>
            <a:ext cx="7315200" cy="914400"/>
          </a:xfrm>
          <a:prstGeom prst="rect">
            <a:avLst/>
          </a:prstGeom>
          <a:noFill/>
          <a:ln/>
        </p:spPr>
        <p:txBody>
          <a:bodyPr wrap="square" rtlCol="0" anchor="ctr"/>
          <a:lstStyle/>
          <a:p>
            <a:pPr marL="0" indent="0" algn="ctr">
              <a:buNone/>
            </a:pPr>
            <a:r>
              <a:rPr lang="en-US" sz="4800" b="1" dirty="0">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2743200" y="2514600"/>
            <a:ext cx="3657600" cy="0"/>
          </a:xfrm>
          <a:prstGeom prst="line">
            <a:avLst/>
          </a:prstGeom>
          <a:noFill/>
          <a:ln w="38100">
            <a:solidFill>
              <a:srgbClr val="E8922A"/>
            </a:solidFill>
            <a:prstDash val="solid"/>
          </a:ln>
        </p:spPr>
        <p:txBody>
          <a:bodyPr/>
          <a:lstStyle/>
          <a:p>
            <a:endParaRPr lang="en-NG"/>
          </a:p>
        </p:txBody>
      </p:sp>
      <p:sp>
        <p:nvSpPr>
          <p:cNvPr id="4" name="Text 2"/>
          <p:cNvSpPr/>
          <p:nvPr/>
        </p:nvSpPr>
        <p:spPr>
          <a:xfrm>
            <a:off x="914400" y="2743200"/>
            <a:ext cx="7315200" cy="685800"/>
          </a:xfrm>
          <a:prstGeom prst="rect">
            <a:avLst/>
          </a:prstGeom>
          <a:noFill/>
          <a:ln/>
        </p:spPr>
        <p:txBody>
          <a:bodyPr wrap="square" rtlCol="0" anchor="ctr"/>
          <a:lstStyle/>
          <a:p>
            <a:pPr marL="0" indent="0" algn="ctr">
              <a:buNone/>
            </a:pPr>
            <a:r>
              <a:rPr lang="en-US" sz="1600" dirty="0">
                <a:solidFill>
                  <a:schemeClr val="accent1"/>
                </a:solidFill>
                <a:latin typeface="Calibri" pitchFamily="34" charset="0"/>
                <a:ea typeface="Calibri" pitchFamily="34" charset="-122"/>
                <a:cs typeface="Calibri" pitchFamily="34" charset="-120"/>
              </a:rPr>
              <a:t>Income Classification Using Machine Learning</a:t>
            </a:r>
            <a:endParaRPr lang="en-US" sz="1600" dirty="0">
              <a:solidFill>
                <a:schemeClr val="accent1"/>
              </a:solidFill>
            </a:endParaRPr>
          </a:p>
          <a:p>
            <a:pPr marL="0" indent="0" algn="ctr">
              <a:buNone/>
            </a:pPr>
            <a:r>
              <a:rPr lang="en-US" sz="1600" dirty="0">
                <a:solidFill>
                  <a:schemeClr val="accent1"/>
                </a:solidFill>
                <a:latin typeface="Calibri" pitchFamily="34" charset="0"/>
                <a:ea typeface="Calibri" pitchFamily="34" charset="-122"/>
                <a:cs typeface="Calibri" pitchFamily="34" charset="-120"/>
              </a:rPr>
              <a:t>Adult Census Dataset</a:t>
            </a:r>
            <a:endParaRPr lang="en-US" sz="1600" dirty="0">
              <a:solidFill>
                <a:schemeClr val="accent1"/>
              </a:solidFill>
            </a:endParaRPr>
          </a:p>
        </p:txBody>
      </p:sp>
      <p:sp>
        <p:nvSpPr>
          <p:cNvPr id="5" name="Text 3"/>
          <p:cNvSpPr/>
          <p:nvPr/>
        </p:nvSpPr>
        <p:spPr>
          <a:xfrm>
            <a:off x="914400" y="3520440"/>
            <a:ext cx="7315200" cy="365760"/>
          </a:xfrm>
          <a:prstGeom prst="rect">
            <a:avLst/>
          </a:prstGeom>
          <a:noFill/>
          <a:ln/>
        </p:spPr>
        <p:txBody>
          <a:bodyPr wrap="square" rtlCol="0" anchor="ctr"/>
          <a:lstStyle/>
          <a:p>
            <a:pPr marL="0" indent="0" algn="ctr">
              <a:buNone/>
            </a:pPr>
            <a:r>
              <a:rPr lang="en-US" sz="1300" dirty="0">
                <a:solidFill>
                  <a:schemeClr val="accent1"/>
                </a:solidFill>
                <a:latin typeface="Calibri" pitchFamily="34" charset="0"/>
                <a:ea typeface="Calibri" pitchFamily="34" charset="-122"/>
                <a:cs typeface="Calibri" pitchFamily="34" charset="-120"/>
              </a:rPr>
              <a:t>Buhari Nasir Ahmad  ·  Applied Programming for Data Science Project</a:t>
            </a:r>
            <a:endParaRPr lang="en-US" sz="1300" dirty="0">
              <a:solidFill>
                <a:schemeClr val="accent1"/>
              </a:solidFill>
            </a:endParaRPr>
          </a:p>
        </p:txBody>
      </p:sp>
      <p:sp>
        <p:nvSpPr>
          <p:cNvPr id="6" name="Text 4"/>
          <p:cNvSpPr/>
          <p:nvPr/>
        </p:nvSpPr>
        <p:spPr>
          <a:xfrm>
            <a:off x="2743200" y="4114800"/>
            <a:ext cx="3657600" cy="457200"/>
          </a:xfrm>
          <a:prstGeom prst="rect">
            <a:avLst/>
          </a:prstGeom>
          <a:noFill/>
          <a:ln/>
        </p:spPr>
        <p:txBody>
          <a:bodyPr wrap="square" rtlCol="0" anchor="ctr"/>
          <a:lstStyle/>
          <a:p>
            <a:pPr marL="0" indent="0" algn="ctr">
              <a:buNone/>
            </a:pPr>
            <a:r>
              <a:rPr lang="en-US" sz="1600" b="1" dirty="0">
                <a:solidFill>
                  <a:srgbClr val="E8922A"/>
                </a:solidFill>
                <a:latin typeface="Calibri" pitchFamily="34" charset="0"/>
                <a:ea typeface="Calibri" pitchFamily="34" charset="-122"/>
                <a:cs typeface="Calibri" pitchFamily="34" charset="-120"/>
              </a:rPr>
              <a:t>Questions &amp; Discussion</a:t>
            </a:r>
            <a:endParaRPr lang="en-US" sz="1600" dirty="0"/>
          </a:p>
        </p:txBody>
      </p:sp>
      <p:sp>
        <p:nvSpPr>
          <p:cNvPr id="7" name="Shape 5"/>
          <p:cNvSpPr/>
          <p:nvPr/>
        </p:nvSpPr>
        <p:spPr>
          <a:xfrm>
            <a:off x="914400" y="4389120"/>
            <a:ext cx="137160" cy="137160"/>
          </a:xfrm>
          <a:prstGeom prst="ellipse">
            <a:avLst/>
          </a:prstGeom>
          <a:solidFill>
            <a:srgbClr val="E8922A"/>
          </a:solidFill>
          <a:ln w="12700">
            <a:solidFill>
              <a:srgbClr val="E8922A"/>
            </a:solidFill>
            <a:prstDash val="solid"/>
          </a:ln>
        </p:spPr>
        <p:txBody>
          <a:bodyPr/>
          <a:lstStyle/>
          <a:p>
            <a:endParaRPr lang="en-NG"/>
          </a:p>
        </p:txBody>
      </p:sp>
      <p:sp>
        <p:nvSpPr>
          <p:cNvPr id="8" name="Shape 6"/>
          <p:cNvSpPr/>
          <p:nvPr/>
        </p:nvSpPr>
        <p:spPr>
          <a:xfrm>
            <a:off x="1828800" y="4206240"/>
            <a:ext cx="137160" cy="137160"/>
          </a:xfrm>
          <a:prstGeom prst="ellipse">
            <a:avLst/>
          </a:prstGeom>
          <a:solidFill>
            <a:srgbClr val="E8922A"/>
          </a:solidFill>
          <a:ln w="12700">
            <a:solidFill>
              <a:srgbClr val="E8922A"/>
            </a:solidFill>
            <a:prstDash val="solid"/>
          </a:ln>
        </p:spPr>
        <p:txBody>
          <a:bodyPr/>
          <a:lstStyle/>
          <a:p>
            <a:endParaRPr lang="en-NG"/>
          </a:p>
        </p:txBody>
      </p:sp>
      <p:sp>
        <p:nvSpPr>
          <p:cNvPr id="9" name="Shape 7"/>
          <p:cNvSpPr/>
          <p:nvPr/>
        </p:nvSpPr>
        <p:spPr>
          <a:xfrm>
            <a:off x="7772400" y="4389120"/>
            <a:ext cx="137160" cy="137160"/>
          </a:xfrm>
          <a:prstGeom prst="ellipse">
            <a:avLst/>
          </a:prstGeom>
          <a:solidFill>
            <a:srgbClr val="E8922A"/>
          </a:solidFill>
          <a:ln w="12700">
            <a:solidFill>
              <a:srgbClr val="E8922A"/>
            </a:solidFill>
            <a:prstDash val="solid"/>
          </a:ln>
        </p:spPr>
        <p:txBody>
          <a:bodyPr/>
          <a:lstStyle/>
          <a:p>
            <a:endParaRPr lang="en-NG"/>
          </a:p>
        </p:txBody>
      </p:sp>
      <p:sp>
        <p:nvSpPr>
          <p:cNvPr id="10" name="Shape 8"/>
          <p:cNvSpPr/>
          <p:nvPr/>
        </p:nvSpPr>
        <p:spPr>
          <a:xfrm>
            <a:off x="7132320" y="4206240"/>
            <a:ext cx="137160" cy="137160"/>
          </a:xfrm>
          <a:prstGeom prst="ellipse">
            <a:avLst/>
          </a:prstGeom>
          <a:solidFill>
            <a:srgbClr val="E8922A"/>
          </a:solidFill>
          <a:ln w="12700">
            <a:solidFill>
              <a:srgbClr val="E8922A"/>
            </a:solidFill>
            <a:prstDash val="solid"/>
          </a:ln>
        </p:spPr>
        <p:txBody>
          <a:bodyPr/>
          <a:lstStyle/>
          <a:p>
            <a:endParaRPr lang="en-NG"/>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4265</TotalTime>
  <Words>3985</Words>
  <Application>Microsoft Macintosh PowerPoint</Application>
  <PresentationFormat>On-screen Show (16:9)</PresentationFormat>
  <Paragraphs>560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Income Classification – Data Science Project</dc:title>
  <dc:subject>PptxGenJS Presentation</dc:subject>
  <dc:creator>PptxGenJS</dc:creator>
  <cp:lastModifiedBy>Buhari Ahmad</cp:lastModifiedBy>
  <cp:revision>15</cp:revision>
  <dcterms:created xsi:type="dcterms:W3CDTF">2026-05-24T11:33:15Z</dcterms:created>
  <dcterms:modified xsi:type="dcterms:W3CDTF">2026-06-02T20:56:35Z</dcterms:modified>
</cp:coreProperties>
</file>